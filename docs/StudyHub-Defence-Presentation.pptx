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1.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abb568a-83ef-9f15-7515-29012fe850a9}">
          <p14:sldIdLst>
            <p14:sldId id="256"/>
            <p14:sldId id="257"/>
            <p14:sldId id="258"/>
            <p14:sldId id="259"/>
            <p14:sldId id="260"/>
          </p14:sldIdLst>
        </p14:section>
        <p14:section name="Literature &amp; Gap" id="{c15581f9-58fe-3831-7fd0-9025a08e38ea}">
          <p14:sldIdLst>
            <p14:sldId id="261"/>
          </p14:sldIdLst>
        </p14:section>
        <p14:section name="Methodology" id="{7e241c1d-1992-3e82-b46d-85f3374a8252}">
          <p14:sldIdLst>
            <p14:sldId id="262"/>
            <p14:sldId id="263"/>
            <p14:sldId id="264"/>
          </p14:sldIdLst>
        </p14:section>
        <p14:section name="Design" id="{fb8c6273-6350-86f0-70c2-8c88f1fabe04}">
          <p14:sldIdLst>
            <p14:sldId id="265"/>
            <p14:sldId id="266"/>
          </p14:sldIdLst>
        </p14:section>
        <p14:section name="Implementation" id="{7ea64609-1be9-c5d9-f2fb-d1fb5c66faf6}">
          <p14:sldIdLst>
            <p14:sldId id="267"/>
            <p14:sldId id="268"/>
            <p14:sldId id="269"/>
            <p14:sldId id="270"/>
          </p14:sldIdLst>
        </p14:section>
        <p14:section name="Testing" id="{4f265e68-6b3e-51ee-759f-a972bdb55c4c}">
          <p14:sldIdLst>
            <p14:sldId id="271"/>
            <p14:sldId id="272"/>
            <p14:sldId id="273"/>
          </p14:sldIdLst>
        </p14:section>
        <p14:section name="Results" id="{2889ee51-d976-bcc9-999f-ff90f7304a47}">
          <p14:sldIdLst>
            <p14:sldId id="274"/>
            <p14:sldId id="275"/>
          </p14:sldIdLst>
        </p14:section>
        <p14:section name="Conclusion" id="{ecaf4b5c-53e4-fd71-75b7-f42713e97d5f}">
          <p14:sldIdLst>
            <p14:sldId id="276"/>
            <p14:sldId id="277"/>
            <p14:sldId id="278"/>
          </p14:sldIdLst>
        </p14:section>
        <p14:section name="Backup" id="{69e7e2d1-aa15-7d1e-3ff7-82b5dd3fc124}">
          <p14:sldIdLst>
            <p14:sldId id="279"/>
            <p14:sldId id="280"/>
            <p14:sldId id="281"/>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F3057"/>
                </a:solidFill>
                <a:latin typeface="+mn-lt"/>
              </a:defRPr>
            </a:pPr>
            <a:r>
              <a:rPr sz="1200" b="0" i="0" u="none" strike="noStrike">
                <a:solidFill>
                  <a:srgbClr val="0F3057"/>
                </a:solidFill>
                <a:latin typeface="+mn-lt"/>
              </a:rPr>
              <a:t>Download of one 3.19 MB PDF (seconds, lower is better)</a:t>
            </a:r>
          </a:p>
        </c:rich>
      </c:tx>
      <c:layout/>
      <c:overlay val="0"/>
    </c:title>
    <c:autoTitleDeleted val="0"/>
    <c:plotArea>
      <c:layout/>
      <c:barChart>
        <c:barDir val="bar"/>
        <c:grouping val="clustered"/>
        <c:varyColors val="0"/>
        <c:ser>
          <c:idx val="0"/>
          <c:order val="0"/>
          <c:tx>
            <c:strRef>
              <c:f>Sheet1!$B$1</c:f>
              <c:strCache>
                <c:ptCount val="1"/>
                <c:pt idx="0">
                  <c:v>Delivery time</c:v>
                </c:pt>
              </c:strCache>
            </c:strRef>
          </c:tx>
          <c:spPr>
            <a:solidFill>
              <a:srgbClr val="A63A3A"/>
            </a:solidFill>
            <a:effectLst/>
          </c:spPr>
          <c:invertIfNegative val="0"/>
          <c:dLbls>
            <c:numFmt formatCode="0&quot; s&quot;" sourceLinked="0"/>
            <c:txPr>
              <a:bodyPr/>
              <a:lstStyle/>
              <a:p>
                <a:pPr>
                  <a:defRPr b="0" i="0" strike="noStrike" sz="1300" u="none">
                    <a:solidFill>
                      <a:srgbClr val="0F3057"/>
                    </a:solidFill>
                    <a:latin typeface="+mn-lt"/>
                  </a:defRPr>
                </a:pPr>
              </a:p>
            </c:txPr>
            <c:showLegendKey val="0"/>
            <c:showVal val="1"/>
            <c:showCatName val="0"/>
            <c:showSerName val="0"/>
            <c:showPercent val="0"/>
            <c:showBubbleSize val="0"/>
            <c:showLeaderLines val="0"/>
          </c:dLbls>
          <c:dPt>
            <c:idx val="0"/>
            <c:invertIfNegative val="0"/>
            <c:bubble3D val="0"/>
            <c:spPr>
              <a:solidFill>
                <a:srgbClr val="A63A3A"/>
              </a:solidFill>
              <a:effectLst/>
            </c:spPr>
          </c:dPt>
          <c:dPt>
            <c:idx val="1"/>
            <c:invertIfNegative val="0"/>
            <c:bubble3D val="0"/>
            <c:spPr>
              <a:solidFill>
                <a:srgbClr val="2E7D62"/>
              </a:solidFill>
              <a:effectLst/>
            </c:spPr>
          </c:dPt>
          <c:cat>
            <c:multiLvlStrRef>
              <c:f>Sheet1!$A$2:$A$3</c:f>
              <c:multiLvlStrCache>
                <c:ptCount val="2"/>
                <c:lvl>
                  <c:pt idx="0">
                    <c:v>Proxied through the API</c:v>
                  </c:pt>
                  <c:pt idx="1">
                    <c:v>Redirected to the CDN</c:v>
                  </c:pt>
                </c:lvl>
              </c:multiLvlStrCache>
            </c:multiLvlStrRef>
          </c:cat>
          <c:val>
            <c:numRef>
              <c:f>Sheet1!$B$2:$B$3</c:f>
              <c:numCache>
                <c:formatCode>General</c:formatCode>
                <c:ptCount val="2"/>
                <c:pt idx="0">
                  <c:v>300</c:v>
                </c:pt>
                <c:pt idx="1">
                  <c:v>31</c:v>
                </c:pt>
              </c:numCache>
            </c:numRef>
          </c:val>
        </c:ser>
        <c:dLbls>
          <c:numFmt formatCode="0&quot; s&quot;" sourceLinked="0"/>
          <c:txPr>
            <a:bodyPr/>
            <a:lstStyle/>
            <a:p>
              <a:pPr>
                <a:defRPr b="0" i="0" strike="noStrike" sz="1300" u="none">
                  <a:solidFill>
                    <a:srgbClr val="0F3057"/>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0172A"/>
                </a:solidFill>
                <a:latin typeface="+mn-lt"/>
              </a:defRPr>
            </a:pPr>
            <a:endParaRPr lang="en-US"/>
          </a:p>
        </c:txPr>
        <c:crossAx val="2094734552"/>
        <c:crosses val="autoZero"/>
        <c:auto val="1"/>
        <c:lblAlgn val="ctr"/>
        <c:noMultiLvlLbl val="1"/>
      </c:catAx>
      <c:valAx>
        <c:axId val="2094734552"/>
        <c:scaling>
          <c:orientation val="minMax"/>
          <c:max val="360"/>
          <c:min val="0"/>
        </c:scaling>
        <c:delete val="0"/>
        <c:axPos val="b"/>
        <c:majorGridlines>
          <c:spPr>
            <a:ln w="12700" cap="flat">
              <a:solidFill>
                <a:srgbClr val="E2E9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64748B"/>
                </a:solidFill>
                <a:latin typeface="+mn-lt"/>
              </a:defRPr>
            </a:pPr>
            <a:endParaRPr lang="en-US"/>
          </a:p>
        </c:txPr>
        <c:crossAx val="2094734554"/>
        <c:crosses val="autoZero"/>
        <c:crossBetween val="between"/>
        <c:majorUnit val="6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name is Tazanu Stanley and this is the defence of my final year project, StudyHub.
In one sentence: StudyHub is a web platform that lets university students share notes, answer each others questions, and book and pay peer tutors using mobile money.
It is built, deployed and publicly accessible. I will show you what problem it solves, how it is engineered, how I verified it, and where it falls short.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parts, about twenty minutes, then I will take questions.
I want to spend most of the time on implementation and on testing, because that is where the engineering judgement is, and on limitations, because I would rather raise those myself than have you find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pedagogical premise is not controversial. Vygotsky, and the constructivist tradition after him, hold that a learner progresses furthest with help from someone only slightly ahead of them, and that explaining a concept benefits the explainer as much as the recipient.
That argues for a symmetric system: everyone is simultaneously a consumer and a producer of help. That principle shaped the design directly — there is no separate class of content provider. Any student can upload, answer, or apply to tutor.
The two context constraints on the right are not decoration. They eliminated entire categories of solution before I started.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statement at the top is the formal one. The four cards below are how it actually manifests.
The fourth is the one examiners usually probe: why not just use an existing platform. The short answer is payment. Course Hero and Preply settle by card in foreign currency. That excludes the target population on payment grounds before you even reach questions of curriculum or bandwidth.
If asked which of the four is most important: the second. Persistence and a quality signal are what distinguish this from a chat group.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Nine specific objectives decomposed from the aim.
I will return to this list at the end and tell you honestly which were met. Eight were achieved in full. O9 I claim only partially, and I will explain why when we get there — it is the absence of a formal user evaluation, not a deficiency in the deployment.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classes of system, six capabilities the context requires.
Read down the mobile money column: every row is No except mine. That single column is the clearest statement of why an existing platform could not simply be adopted.
The important point about the gap is that I am not claiming novelty in the mechanisms. Reputation systems and tutoring marketplaces are well understood and I reused both deliberately. The contribution is the integration under these particular constraints.
Likely question: is WhatsApp really a competitor? Yes — it is the incumbent, and it is free, universally installed and zero-friction. That is the baseline adoption has to beat, and it set three design decisions: installability, offline tolerance, and real-time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from the problem to how I approached building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straight about one thing here, because it is a fair criticism and I would rather state it than be caught by it.
Requirements were reasoned — from observation of how students exchange material, from the comparative analysis, and from the context constraints. They were NOT elicited through a formal instrument. I did not distribute a questionnaire or run a structured interview programme. That is a genuine methodological weakness and it is stated as such in section 3.2 of the report.
What I can show instead is this migration sequence. Each one marks a point where building revealed something the specification had not anticipated. 0004 is the clearest: I built an automated quality gate, then realised no heuristic distinguishes a correct derivation from a confidently wrong one, and added human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Twenty-two functional, fourteen non-functional.
The six shown are the ones with teeth — each has a criterion you can actually test against, which matters because a non-functional requirement without a measurable criterion is just an aspiration.
NFR-05 and NFR-06 are the two I would defend hardest. They are what separate a payment integration that demos well from one that behaves correctly when the network does not cooperate.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layers, each on a different managed service, all free tier.
The question I expect: why split frontend and backend across two hosts rather than deploying one application? Because their runtime profiles are incompatible. Static assets benefit from CDN distribution. The API must hold long-lived WebSocket connections and run a background scheduler. Those want different things from a host.
The cost is real and I will own it: two origins means CORS is load-bearing. I added two diagnostics for it specifically — a rejected origin is logged by name, and a production server booting with only localhost configured prints a loud startup error. Both because a CORS misconfiguration presents as a frontend bug and is miserable to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Twenty-five tables, grouped by subsystem. The schema is the single source of truth and the database is never altered by hand.
The two decisions at the bottom are the ones I would raise if you did not. Both follow the same principle: put the guarantee where it cannot be bypassed.
Votes as rows with a unique constraint means double voting is impossible at the storage layer. A counter would push that into application code, where any path that forgets the check defeats it.
Likely question: why PostgreSQL over MongoDB? The domain is strongly relational — memberships, votes, bookings and entitlements are all join-table relationships needing referential integrity. A document store would have meant enforcing those invariants in application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am going to skip the parts that are ordinary CRUD and spend the time on three problems that were genuinely hard.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I would most like questions on.
The core decision: the browser has no authority over payment outcomes. It observes. A simpler design where the poll is the only settlement path works perfectly in a demo and fails when a student loses signal, closes the tab, or enters their PIN after a delay — which, on the networks these users have, is common rather than exceptional.
The reconciler is what makes NFR-06 true. Test T-10 in the report exercises exactly this: approve the payment, close the browser before settlement, and confirm access is granted afterwards.
On the em-dash defect — I include it deliberately. My first diagnosis was wrong. I told the user the deployed keys were wrong. They were not. I had to write a diagnostics endpoint to establish they were byte-identical to the working local ones before I looked at the payload. The lesson is that an error message naming one subsystem is evidence, not proof.
If asked how it is fixed: a sanitising helper folds typographic punctuation to ASCII, strips anything remaining above U+007F, collapses whitespace, truncates to 120 characters. Every provider-bound field passes through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delivery paths, decided by whether the content is protected.
I want to be precise about the measurement, because it is the only performance number I quote and it would be easy to overstate. The 300 seconds is a client timeout, not a completion. The file did not arrive. After the change the same file on the same connection took 31 seconds. So the honest claim is undeliverable to 31 seconds, not a 10x speedup of something that previously worked.
This also satisfies NFR-11, which exists precisely because a free-tier Node process is a poor place to stream megabytes.
Likely question: does the signed URL leak? It expires, and it is issued per request after the entitlement check. A user could share a live URL within its window — that is a known property of signed URLs, and the mitigation is the short expiry.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things that look like polish and are not.
On the left: the rule that persisted values stay English. This is the single most consequential i18n decision and its failure mode is silent. No error, no crash — just a francophone student searching for Mathematiques and finding nothing an anglophone student uploaded. I would not have caught it by testing in one language.
On the right: the retry is deliberately narrow. Retrying anything the server actually answered risks duplicating a POST it already processed. On a payment endpoint that is not a theoretical concern.
The checker at the bottom earned its place immediately — it found that the login submit button and the 404 suggestion cards were still hardcoded English on pages I had already marked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section contains the weakest part of the project and I am going to lead with it rather than bury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am raising the missing test suite myself because it is the first thing I would ask about.
What I had instead: four mechanisms, three of them automated but none of them testing behaviour. The linter catches undefined variables. The build catches type errors. The locale checker catches translation drift. None of them tells me the reconciler grants an entitlement exactly once.
The defect record is the evidence for why that matters. Eleven defects are tabulated in the report. Split them by how they were found and the pattern is unambiguous: every fault with a mechanical check was caught before deployment; every fault that reached a visible state was in an area with no check.
That is why an automated suite is my first recommendation, and why I would order it by risk: entitlement granting first, then authorisation, then interface regression.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of eleven. I include the ones where my first diagnosis was wrong deliberately.
Row two is the most instructive. A missing import produces a runtime error, so node --check passes. I wrote a verification script and it reported a pass — because it asserted on a follow-up call rather than on the status code of the failing one. A test that asserts the wrong thing is worse than no test, because it buys false confidence.
Row four taught me something about automated checks: the assertion said the element was inside the viewport. That was true. It was also 106 pixels wide with one word per line. The check measured the wrong property. I started inspecting rendered output after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achieved, one partial.
I could have claimed nine. The deployment is real, it is public, and it passes the twenty test cases. But the objective says validate, and a defensible validation of a platform intended for students includes evidence from students. I do not have that, so I do not claim it.
On the numbers: every one is counted from the repository, not estimated. I want to be explicit that none of these are user metrics. I have no adoption figures, no retention, no satisfaction score, because the platform has not been through a user study.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would rather present this slide than have it extracted from me.
The functional column is the one that stings. Tutor messaging appears in the interface and does nothing — it writes to browser storage and the tutor never receives it. That is worse than not having the feature, because it advertises a capability that does not exist. It is my fourth recommendation for exactly that reason.
On Orange Money: the adapter, normalisation and settlement logic are shared with MTN, and only the operator identifier differs. So I have a sound argument that it works. I do not have an observation that it works, and those are different claims.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recommendations in the report; the top six here.
The ordering is not arbitrary. One and two are first because they are about evidence rather than features — they change what can be claimed about the system. Three and four are about honesty in the product: one group of users is getting a worse experience than advertised, and one feature does not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The platform exists and works. Eight of nine objectives are met in full. The ninth is short of evidence, not of function.
The thing I would most want you to take from the engineering is the payment design — treating the browser as an observer rather than an authority is what makes the system behave correctly on the networks these students actually have.
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slides follow this one. They cover the questions I think are most likely:
- Why not just use WhatsApp or an existing platform
- How do you know the payment cannot be gamed
- Why no tests
- How would this scale
- What stops someone sharing a paid note
Jump to them by slide number if a question lands on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presented. Jump here by slide number if a question lands on one of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payment. It is the clearest, least arguable differentiator and it closes the question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answer matters: do not overclaim. Distinguish preventing unauthorised access, which the system does, from preventing redistribution by a legitimate buyer, which no system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first question: do not get defensive. Conceding it cleanly and showing the evidence that supports the concession reads far better than a justification.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66928" y="1874520"/>
            <a:ext cx="11027664" cy="365760"/>
          </a:xfrm>
          <a:prstGeom prst="rect">
            <a:avLst/>
          </a:prstGeom>
          <a:noFill/>
          <a:ln/>
        </p:spPr>
        <p:txBody>
          <a:bodyPr wrap="square" rtlCol="0"/>
          <a:lstStyle>
            <a:lvl1pPr indent="0" marL="0">
              <a:buNone/>
              <a:defRPr lang="en-US" sz="1300" b="1" spc="300" kern="0" dirty="0">
                <a:solidFill>
                  <a:srgbClr val="C77C1E"/>
                </a:solidFill>
              </a:defRPr>
            </a:lvl1pPr>
          </a:lstStyle>
          <a:p>
            <a:pPr indent="0" marL="0">
              <a:buNone/>
            </a:pPr>
            <a:endParaRPr lang="en-US" sz="1300" dirty="0"/>
          </a:p>
        </p:txBody>
      </p:sp>
      <p:sp>
        <p:nvSpPr>
          <p:cNvPr id="3" name="Text 0"/>
          <p:cNvSpPr/>
          <p:nvPr>
            <p:ph idx="101" type="body" hasCustomPrompt="1"/>
          </p:nvPr>
        </p:nvSpPr>
        <p:spPr>
          <a:xfrm>
            <a:off x="566928" y="2286000"/>
            <a:ext cx="11027664" cy="1188720"/>
          </a:xfrm>
          <a:prstGeom prst="rect">
            <a:avLst/>
          </a:prstGeom>
          <a:noFill/>
          <a:ln/>
        </p:spPr>
        <p:txBody>
          <a:bodyPr wrap="square" rtlCol="0"/>
          <a:lstStyle>
            <a:lvl1pPr indent="0" marL="0">
              <a:buNone/>
              <a:defRPr lang="en-US" sz="4800" b="1" dirty="0">
                <a:solidFill>
                  <a:srgbClr val="FFFFFF"/>
                </a:solidFill>
              </a:defRPr>
            </a:lvl1pPr>
          </a:lstStyle>
          <a:p>
            <a:pPr indent="0" marL="0">
              <a:buNone/>
            </a:pPr>
            <a:endParaRPr lang="en-US" sz="4800" dirty="0"/>
          </a:p>
        </p:txBody>
      </p:sp>
      <p:sp>
        <p:nvSpPr>
          <p:cNvPr id="4" name="Text 0"/>
          <p:cNvSpPr/>
          <p:nvPr>
            <p:ph idx="102" type="body" hasCustomPrompt="1"/>
          </p:nvPr>
        </p:nvSpPr>
        <p:spPr>
          <a:xfrm>
            <a:off x="566928" y="3520440"/>
            <a:ext cx="9509760" cy="914400"/>
          </a:xfrm>
          <a:prstGeom prst="rect">
            <a:avLst/>
          </a:prstGeom>
          <a:noFill/>
          <a:ln/>
        </p:spPr>
        <p:txBody>
          <a:bodyPr wrap="square" rtlCol="0"/>
          <a:lstStyle>
            <a:lvl1pPr indent="0" marL="0">
              <a:buNone/>
              <a:defRPr lang="en-US" sz="1900" i="1" dirty="0">
                <a:solidFill>
                  <a:srgbClr val="C2D4E8"/>
                </a:solidFill>
              </a:defRPr>
            </a:lvl1pPr>
          </a:lstStyle>
          <a:p>
            <a:pPr indent="0" marL="0">
              <a:buNone/>
            </a:pPr>
            <a:endParaRPr lang="en-US" sz="1900" dirty="0"/>
          </a:p>
        </p:txBody>
      </p:sp>
      <p:sp>
        <p:nvSpPr>
          <p:cNvPr id="5" name="Text 0"/>
          <p:cNvSpPr/>
          <p:nvPr>
            <p:ph idx="103" type="body" hasCustomPrompt="1"/>
          </p:nvPr>
        </p:nvSpPr>
        <p:spPr>
          <a:xfrm>
            <a:off x="566928" y="5029200"/>
            <a:ext cx="11027664" cy="1097280"/>
          </a:xfrm>
          <a:prstGeom prst="rect">
            <a:avLst/>
          </a:prstGeom>
          <a:noFill/>
          <a:ln/>
        </p:spPr>
        <p:txBody>
          <a:bodyPr wrap="square" rtlCol="0"/>
          <a:lstStyle>
            <a:lvl1pPr indent="0" marL="0">
              <a:buNone/>
              <a:defRPr lang="en-US" sz="1300" dirty="0">
                <a:solidFill>
                  <a:srgbClr val="A8BDD6"/>
                </a:solidFill>
              </a:defRPr>
            </a:lvl1pPr>
          </a:lstStyle>
          <a:p>
            <a:pPr indent="0" marL="0">
              <a:buNone/>
            </a:pPr>
            <a:endParaRPr lang="en-US" sz="13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66928" y="384048"/>
            <a:ext cx="11027664" cy="713232"/>
          </a:xfrm>
          <a:prstGeom prst="rect">
            <a:avLst/>
          </a:prstGeom>
          <a:noFill/>
          <a:ln/>
        </p:spPr>
        <p:txBody>
          <a:bodyPr wrap="square" rtlCol="0"/>
          <a:lstStyle>
            <a:lvl1pPr indent="0" marL="0">
              <a:buNone/>
              <a:defRPr lang="en-US" sz="3200" b="1" dirty="0">
                <a:solidFill>
                  <a:srgbClr val="0F3057"/>
                </a:solidFill>
              </a:defRPr>
            </a:lvl1pPr>
          </a:lstStyle>
          <a:p>
            <a:pPr indent="0" marL="0">
              <a:buNone/>
            </a:pPr>
            <a:endParaRPr lang="en-US" sz="3200" dirty="0"/>
          </a:p>
        </p:txBody>
      </p:sp>
      <p:sp>
        <p:nvSpPr>
          <p:cNvPr id="3" name="Text 0"/>
          <p:cNvSpPr txBox="1"/>
          <p:nvPr/>
        </p:nvSpPr>
        <p:spPr>
          <a:xfrm>
            <a:off x="566928" y="6327648"/>
            <a:ext cx="6400800" cy="274320"/>
          </a:xfrm>
          <a:prstGeom prst="rect">
            <a:avLst/>
          </a:prstGeom>
          <a:noFill/>
          <a:ln/>
        </p:spPr>
        <p:txBody>
          <a:bodyPr wrap="square" rtlCol="0" anchor="ctr"/>
          <a:lstStyle/>
          <a:p>
            <a:pPr indent="0" marL="0">
              <a:buNone/>
            </a:pPr>
            <a:r>
              <a:rPr lang="en-US" sz="950" dirty="0">
                <a:solidFill>
                  <a:srgbClr val="64748B"/>
                </a:solidFill>
              </a:rPr>
              <a:t>StudyHub  ·  Final Year Project Defence</a:t>
            </a:r>
            <a:endParaRPr lang="en-US" sz="950" dirty="0"/>
          </a:p>
        </p:txBody>
      </p:sp>
      <p:sp>
        <p:nvSpPr>
          <p:cNvPr id="25" name="Slide Number Placeholder 0"/>
          <p:cNvSpPr>
            <a:spLocks noGrp="1"/>
          </p:cNvSpPr>
          <p:nvPr>
            <p:ph type="sldNum" sz="quarter" idx="4294967295"/>
          </p:nvPr>
        </p:nvSpPr>
        <p:spPr>
          <a:xfrm>
            <a:off x="11430000" y="6327648"/>
            <a:ext cx="45720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64748B"/>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TEAL">
    <p:bg>
      <p:bgPr>
        <a:solidFill>
          <a:srgbClr val="F2F6FA"/>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66928" y="384048"/>
            <a:ext cx="11027664" cy="713232"/>
          </a:xfrm>
          <a:prstGeom prst="rect">
            <a:avLst/>
          </a:prstGeom>
          <a:noFill/>
          <a:ln/>
        </p:spPr>
        <p:txBody>
          <a:bodyPr wrap="square" rtlCol="0"/>
          <a:lstStyle>
            <a:lvl1pPr indent="0" marL="0">
              <a:buNone/>
              <a:defRPr lang="en-US" sz="3200" b="1" dirty="0">
                <a:solidFill>
                  <a:srgbClr val="0F3057"/>
                </a:solidFill>
              </a:defRPr>
            </a:lvl1pPr>
          </a:lstStyle>
          <a:p>
            <a:pPr indent="0" marL="0">
              <a:buNone/>
            </a:pPr>
            <a:endParaRPr lang="en-US" sz="3200" dirty="0"/>
          </a:p>
        </p:txBody>
      </p:sp>
      <p:sp>
        <p:nvSpPr>
          <p:cNvPr id="3" name="Text 0"/>
          <p:cNvSpPr txBox="1"/>
          <p:nvPr/>
        </p:nvSpPr>
        <p:spPr>
          <a:xfrm>
            <a:off x="566928" y="6327648"/>
            <a:ext cx="6400800" cy="274320"/>
          </a:xfrm>
          <a:prstGeom prst="rect">
            <a:avLst/>
          </a:prstGeom>
          <a:noFill/>
          <a:ln/>
        </p:spPr>
        <p:txBody>
          <a:bodyPr wrap="square" rtlCol="0" anchor="ctr"/>
          <a:lstStyle/>
          <a:p>
            <a:pPr indent="0" marL="0">
              <a:buNone/>
            </a:pPr>
            <a:r>
              <a:rPr lang="en-US" sz="950" dirty="0">
                <a:solidFill>
                  <a:srgbClr val="64748B"/>
                </a:solidFill>
              </a:rPr>
              <a:t>StudyHub  ·  Final Year Project Defence</a:t>
            </a:r>
            <a:endParaRPr lang="en-US" sz="950" dirty="0"/>
          </a:p>
        </p:txBody>
      </p:sp>
      <p:sp>
        <p:nvSpPr>
          <p:cNvPr id="25" name="Slide Number Placeholder 0"/>
          <p:cNvSpPr>
            <a:spLocks noGrp="1"/>
          </p:cNvSpPr>
          <p:nvPr>
            <p:ph type="sldNum" sz="quarter" idx="4294967295"/>
          </p:nvPr>
        </p:nvSpPr>
        <p:spPr>
          <a:xfrm>
            <a:off x="11430000" y="6327648"/>
            <a:ext cx="45720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64748B"/>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IVIDER">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66928" y="2377440"/>
            <a:ext cx="1828800" cy="822960"/>
          </a:xfrm>
          <a:prstGeom prst="rect">
            <a:avLst/>
          </a:prstGeom>
          <a:noFill/>
          <a:ln/>
        </p:spPr>
        <p:txBody>
          <a:bodyPr wrap="square" rtlCol="0"/>
          <a:lstStyle>
            <a:lvl1pPr indent="0" marL="0">
              <a:buNone/>
              <a:defRPr lang="en-US" sz="5800" b="1" dirty="0">
                <a:solidFill>
                  <a:srgbClr val="C77C1E"/>
                </a:solidFill>
              </a:defRPr>
            </a:lvl1pPr>
          </a:lstStyle>
          <a:p>
            <a:pPr indent="0" marL="0">
              <a:buNone/>
            </a:pPr>
            <a:endParaRPr lang="en-US" sz="5800" dirty="0"/>
          </a:p>
        </p:txBody>
      </p:sp>
      <p:sp>
        <p:nvSpPr>
          <p:cNvPr id="3" name="Text 0"/>
          <p:cNvSpPr/>
          <p:nvPr>
            <p:ph idx="101" type="body" hasCustomPrompt="1"/>
          </p:nvPr>
        </p:nvSpPr>
        <p:spPr>
          <a:xfrm>
            <a:off x="566928" y="3200400"/>
            <a:ext cx="11027664" cy="868680"/>
          </a:xfrm>
          <a:prstGeom prst="rect">
            <a:avLst/>
          </a:prstGeom>
          <a:noFill/>
          <a:ln/>
        </p:spPr>
        <p:txBody>
          <a:bodyPr wrap="square" rtlCol="0"/>
          <a:lstStyle>
            <a:lvl1pPr indent="0" marL="0">
              <a:buNone/>
              <a:defRPr lang="en-US" sz="3800" b="1" dirty="0">
                <a:solidFill>
                  <a:srgbClr val="FFFFFF"/>
                </a:solidFill>
              </a:defRPr>
            </a:lvl1pPr>
          </a:lstStyle>
          <a:p>
            <a:pPr indent="0" marL="0">
              <a:buNone/>
            </a:pPr>
            <a:endParaRPr lang="en-US" sz="3800" dirty="0"/>
          </a:p>
        </p:txBody>
      </p:sp>
      <p:sp>
        <p:nvSpPr>
          <p:cNvPr id="4" name="Text 0"/>
          <p:cNvSpPr/>
          <p:nvPr>
            <p:ph idx="102" type="body" hasCustomPrompt="1"/>
          </p:nvPr>
        </p:nvSpPr>
        <p:spPr>
          <a:xfrm>
            <a:off x="566928" y="4069080"/>
            <a:ext cx="8686800" cy="731520"/>
          </a:xfrm>
          <a:prstGeom prst="rect">
            <a:avLst/>
          </a:prstGeom>
          <a:noFill/>
          <a:ln/>
        </p:spPr>
        <p:txBody>
          <a:bodyPr wrap="square" rtlCol="0"/>
          <a:lstStyle>
            <a:lvl1pPr indent="0" marL="0">
              <a:buNone/>
              <a:defRPr lang="en-US" sz="1500" dirty="0">
                <a:solidFill>
                  <a:srgbClr val="B9CCE4"/>
                </a:solidFill>
              </a:defRPr>
            </a:lvl1pPr>
          </a:lstStyle>
          <a:p>
            <a:pPr indent="0" marL="0">
              <a:buNone/>
            </a:pPr>
            <a:endParaRPr lang="en-US" sz="15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327648"/>
            <a:ext cx="45720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64748B"/>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66928" y="1874520"/>
            <a:ext cx="11027664" cy="365760"/>
          </a:xfrm>
          <a:prstGeom prst="rect">
            <a:avLst/>
          </a:prstGeom>
          <a:noFill/>
          <a:ln/>
        </p:spPr>
        <p:txBody>
          <a:bodyPr wrap="square" rtlCol="0"/>
          <a:lstStyle/>
          <a:p>
            <a:pPr indent="0" marL="0">
              <a:buNone/>
            </a:pPr>
            <a:r>
              <a:rPr lang="en-US" sz="1300" b="1" spc="300" kern="0" dirty="0">
                <a:solidFill>
                  <a:srgbClr val="C77C1E"/>
                </a:solidFill>
              </a:rPr>
              <a:t>Final Year Project Defence</a:t>
            </a:r>
            <a:endParaRPr lang="en-US" sz="1300" dirty="0"/>
          </a:p>
        </p:txBody>
      </p:sp>
      <p:sp>
        <p:nvSpPr>
          <p:cNvPr id="3" name="Text 0"/>
          <p:cNvSpPr/>
          <p:nvPr>
            <p:ph idx="101" type="body" hasCustomPrompt="1"/>
          </p:nvPr>
        </p:nvSpPr>
        <p:spPr>
          <a:xfrm>
            <a:off x="566928" y="2286000"/>
            <a:ext cx="11027664" cy="1188720"/>
          </a:xfrm>
          <a:prstGeom prst="rect">
            <a:avLst/>
          </a:prstGeom>
          <a:noFill/>
          <a:ln/>
        </p:spPr>
        <p:txBody>
          <a:bodyPr wrap="square" rtlCol="0"/>
          <a:lstStyle/>
          <a:p>
            <a:pPr indent="0" marL="0">
              <a:buNone/>
            </a:pPr>
            <a:r>
              <a:rPr lang="en-US" sz="4800" b="1" dirty="0">
                <a:solidFill>
                  <a:srgbClr val="FFFFFF"/>
                </a:solidFill>
              </a:rPr>
              <a:t>StudyHub</a:t>
            </a:r>
            <a:endParaRPr lang="en-US" sz="4800" dirty="0"/>
          </a:p>
        </p:txBody>
      </p:sp>
      <p:sp>
        <p:nvSpPr>
          <p:cNvPr id="4" name="Text 0"/>
          <p:cNvSpPr/>
          <p:nvPr>
            <p:ph idx="102" type="body" hasCustomPrompt="1"/>
          </p:nvPr>
        </p:nvSpPr>
        <p:spPr>
          <a:xfrm>
            <a:off x="566928" y="3520440"/>
            <a:ext cx="9509760" cy="914400"/>
          </a:xfrm>
          <a:prstGeom prst="rect">
            <a:avLst/>
          </a:prstGeom>
          <a:noFill/>
          <a:ln/>
        </p:spPr>
        <p:txBody>
          <a:bodyPr wrap="square" rtlCol="0"/>
          <a:lstStyle/>
          <a:p>
            <a:pPr indent="0" marL="0">
              <a:buNone/>
            </a:pPr>
            <a:r>
              <a:rPr lang="en-US" sz="1900" i="1" dirty="0">
                <a:solidFill>
                  <a:srgbClr val="C2D4E8"/>
                </a:solidFill>
              </a:rPr>
              <a:t>A Web-Based Peer-to-Peer Collaborative Learning Platform with Integrated Mobile Money Payments for University Students</a:t>
            </a:r>
            <a:endParaRPr lang="en-US" sz="1900" dirty="0"/>
          </a:p>
        </p:txBody>
      </p:sp>
      <p:sp>
        <p:nvSpPr>
          <p:cNvPr id="5" name="Text 0"/>
          <p:cNvSpPr/>
          <p:nvPr>
            <p:ph idx="103" type="body" hasCustomPrompt="1"/>
          </p:nvPr>
        </p:nvSpPr>
        <p:spPr>
          <a:xfrm>
            <a:off x="566928" y="5029200"/>
            <a:ext cx="11027664" cy="1097280"/>
          </a:xfrm>
          <a:prstGeom prst="rect">
            <a:avLst/>
          </a:prstGeom>
          <a:noFill/>
          <a:ln/>
        </p:spPr>
        <p:txBody>
          <a:bodyPr wrap="square" rtlCol="0"/>
          <a:lstStyle/>
          <a:p>
            <a:pPr indent="0" marL="0">
              <a:buNone/>
            </a:pPr>
            <a:r>
              <a:rPr lang="en-US" sz="1300" b="1" dirty="0">
                <a:solidFill>
                  <a:srgbClr val="FFFFFF"/>
                </a:solidFill>
              </a:rPr>
              <a:t>Tazanu Stanley</a:t>
            </a:r>
            <a:endParaRPr lang="en-US" sz="1300" dirty="0"/>
          </a:p>
          <a:p>
            <a:pPr indent="0" marL="0">
              <a:buNone/>
            </a:pPr>
            <a:r>
              <a:rPr lang="en-US" sz="1300" dirty="0">
                <a:solidFill>
                  <a:srgbClr val="A8BDD6"/>
                </a:solidFill>
              </a:rPr>
              <a:t>Department of Computer Engineering  ·  Faculty of Engineering and Technology</a:t>
            </a:r>
            <a:endParaRPr lang="en-US" sz="1300" dirty="0"/>
          </a:p>
          <a:p>
            <a:pPr indent="0" marL="0">
              <a:buNone/>
            </a:pPr>
            <a:r>
              <a:rPr lang="en-US" sz="1300" dirty="0">
                <a:solidFill>
                  <a:srgbClr val="A8BDD6"/>
                </a:solidFill>
              </a:rPr>
              <a:t>University of Buea  ·  2025 / 2026</a:t>
            </a:r>
            <a:endParaRPr lang="en-US" sz="1300" dirty="0"/>
          </a:p>
        </p:txBody>
      </p:sp>
      <p:sp>
        <p:nvSpPr>
          <p:cNvPr id="6" name="title-mark"/>
          <p:cNvSpPr/>
          <p:nvPr/>
        </p:nvSpPr>
        <p:spPr>
          <a:xfrm>
            <a:off x="566928" y="1600200"/>
            <a:ext cx="1371600" cy="41148"/>
          </a:xfrm>
          <a:prstGeom prst="rect">
            <a:avLst/>
          </a:prstGeom>
          <a:solidFill>
            <a:srgbClr val="C77C1E"/>
          </a:solidFill>
          <a:ln w="12700">
            <a:solidFill>
              <a:srgbClr val="333333"/>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566928" y="384048"/>
            <a:ext cx="11027664" cy="713232"/>
          </a:xfrm>
          <a:prstGeom prst="rect">
            <a:avLst/>
          </a:prstGeom>
          <a:noFill/>
          <a:ln/>
        </p:spPr>
        <p:txBody>
          <a:bodyPr wrap="square" rtlCol="0"/>
          <a:lstStyle/>
          <a:p>
            <a:pPr indent="0" marL="0">
              <a:buNone/>
            </a:pPr>
            <a:r>
              <a:rPr lang="en-US" sz="3200" b="1" dirty="0">
                <a:solidFill>
                  <a:srgbClr val="0F3057"/>
                </a:solidFill>
              </a:rPr>
              <a:t>What I will cover</a:t>
            </a:r>
            <a:endParaRPr lang="en-US" sz="3200" dirty="0"/>
          </a:p>
        </p:txBody>
      </p:sp>
      <p:sp>
        <p:nvSpPr>
          <p:cNvPr id="3" name="road-0"/>
          <p:cNvSpPr/>
          <p:nvPr/>
        </p:nvSpPr>
        <p:spPr>
          <a:xfrm>
            <a:off x="566928" y="1325880"/>
            <a:ext cx="5404104" cy="1298448"/>
          </a:xfrm>
          <a:prstGeom prst="roundRect">
            <a:avLst>
              <a:gd name="adj" fmla="val 4930"/>
            </a:avLst>
          </a:prstGeom>
          <a:solidFill>
            <a:schemeClr val="bg2"/>
          </a:solidFill>
          <a:ln w="12700">
            <a:solidFill>
              <a:srgbClr val="DCE5EF"/>
            </a:solidFill>
            <a:prstDash val="solid"/>
          </a:ln>
        </p:spPr>
      </p:sp>
      <p:sp>
        <p:nvSpPr>
          <p:cNvPr id="4" name="disc-01"/>
          <p:cNvSpPr/>
          <p:nvPr/>
        </p:nvSpPr>
        <p:spPr>
          <a:xfrm>
            <a:off x="841248" y="1618488"/>
            <a:ext cx="475488" cy="475488"/>
          </a:xfrm>
          <a:prstGeom prst="ellipse">
            <a:avLst/>
          </a:prstGeom>
          <a:solidFill>
            <a:schemeClr val="accent1"/>
          </a:solidFill>
          <a:ln w="12700">
            <a:solidFill>
              <a:schemeClr val="accent1"/>
            </a:solidFill>
            <a:prstDash val="solid"/>
          </a:ln>
        </p:spPr>
      </p:sp>
      <p:sp>
        <p:nvSpPr>
          <p:cNvPr id="5" name="Text 3"/>
          <p:cNvSpPr txBox="1"/>
          <p:nvPr/>
        </p:nvSpPr>
        <p:spPr>
          <a:xfrm>
            <a:off x="841248" y="161848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rPr>
              <a:t>01</a:t>
            </a:r>
            <a:endParaRPr lang="en-US" sz="1600" dirty="0"/>
          </a:p>
        </p:txBody>
      </p:sp>
      <p:sp>
        <p:nvSpPr>
          <p:cNvPr id="6" name="Text 4"/>
          <p:cNvSpPr txBox="1"/>
          <p:nvPr/>
        </p:nvSpPr>
        <p:spPr>
          <a:xfrm>
            <a:off x="1481328" y="1563624"/>
            <a:ext cx="4325112" cy="329184"/>
          </a:xfrm>
          <a:prstGeom prst="rect">
            <a:avLst/>
          </a:prstGeom>
          <a:noFill/>
          <a:ln/>
        </p:spPr>
        <p:txBody>
          <a:bodyPr wrap="square" lIns="0" tIns="0" rIns="0" bIns="0" rtlCol="0" anchor="ctr"/>
          <a:lstStyle/>
          <a:p>
            <a:pPr indent="0" marL="0">
              <a:buNone/>
            </a:pPr>
            <a:r>
              <a:rPr lang="en-US" sz="1700" b="1" dirty="0">
                <a:solidFill>
                  <a:schemeClr val="tx2"/>
                </a:solidFill>
              </a:rPr>
              <a:t>The problem</a:t>
            </a:r>
            <a:endParaRPr lang="en-US" sz="1700" dirty="0"/>
          </a:p>
        </p:txBody>
      </p:sp>
      <p:sp>
        <p:nvSpPr>
          <p:cNvPr id="7" name="Text 5"/>
          <p:cNvSpPr txBox="1"/>
          <p:nvPr/>
        </p:nvSpPr>
        <p:spPr>
          <a:xfrm>
            <a:off x="1481328" y="1929384"/>
            <a:ext cx="4325112" cy="502920"/>
          </a:xfrm>
          <a:prstGeom prst="rect">
            <a:avLst/>
          </a:prstGeom>
          <a:noFill/>
          <a:ln/>
        </p:spPr>
        <p:txBody>
          <a:bodyPr wrap="square" lIns="0" tIns="0" rIns="0" bIns="0" rtlCol="0" anchor="ctr"/>
          <a:lstStyle/>
          <a:p>
            <a:pPr indent="0" marL="0">
              <a:buNone/>
            </a:pPr>
            <a:r>
              <a:rPr lang="en-US" sz="1250" dirty="0">
                <a:solidFill>
                  <a:schemeClr val="accent6"/>
                </a:solidFill>
              </a:rPr>
              <a:t>Why students cannot reliably help each other today</a:t>
            </a:r>
            <a:endParaRPr lang="en-US" sz="1250" dirty="0"/>
          </a:p>
        </p:txBody>
      </p:sp>
      <p:sp>
        <p:nvSpPr>
          <p:cNvPr id="8" name="road-1"/>
          <p:cNvSpPr/>
          <p:nvPr/>
        </p:nvSpPr>
        <p:spPr>
          <a:xfrm>
            <a:off x="6190488" y="1325880"/>
            <a:ext cx="5404104" cy="1298448"/>
          </a:xfrm>
          <a:prstGeom prst="roundRect">
            <a:avLst>
              <a:gd name="adj" fmla="val 4930"/>
            </a:avLst>
          </a:prstGeom>
          <a:solidFill>
            <a:schemeClr val="bg2"/>
          </a:solidFill>
          <a:ln w="12700">
            <a:solidFill>
              <a:srgbClr val="DCE5EF"/>
            </a:solidFill>
            <a:prstDash val="solid"/>
          </a:ln>
        </p:spPr>
      </p:sp>
      <p:sp>
        <p:nvSpPr>
          <p:cNvPr id="9" name="disc-02"/>
          <p:cNvSpPr/>
          <p:nvPr/>
        </p:nvSpPr>
        <p:spPr>
          <a:xfrm>
            <a:off x="6464808" y="1618488"/>
            <a:ext cx="475488" cy="475488"/>
          </a:xfrm>
          <a:prstGeom prst="ellipse">
            <a:avLst/>
          </a:prstGeom>
          <a:solidFill>
            <a:schemeClr val="accent1"/>
          </a:solidFill>
          <a:ln w="12700">
            <a:solidFill>
              <a:schemeClr val="accent1"/>
            </a:solidFill>
            <a:prstDash val="solid"/>
          </a:ln>
        </p:spPr>
      </p:sp>
      <p:sp>
        <p:nvSpPr>
          <p:cNvPr id="10" name="Text 8"/>
          <p:cNvSpPr txBox="1"/>
          <p:nvPr/>
        </p:nvSpPr>
        <p:spPr>
          <a:xfrm>
            <a:off x="6464808" y="1618488"/>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rPr>
              <a:t>02</a:t>
            </a:r>
            <a:endParaRPr lang="en-US" sz="1600" dirty="0"/>
          </a:p>
        </p:txBody>
      </p:sp>
      <p:sp>
        <p:nvSpPr>
          <p:cNvPr id="11" name="Text 9"/>
          <p:cNvSpPr txBox="1"/>
          <p:nvPr/>
        </p:nvSpPr>
        <p:spPr>
          <a:xfrm>
            <a:off x="7104888" y="1563624"/>
            <a:ext cx="4325112" cy="329184"/>
          </a:xfrm>
          <a:prstGeom prst="rect">
            <a:avLst/>
          </a:prstGeom>
          <a:noFill/>
          <a:ln/>
        </p:spPr>
        <p:txBody>
          <a:bodyPr wrap="square" lIns="0" tIns="0" rIns="0" bIns="0" rtlCol="0" anchor="ctr"/>
          <a:lstStyle/>
          <a:p>
            <a:pPr indent="0" marL="0">
              <a:buNone/>
            </a:pPr>
            <a:r>
              <a:rPr lang="en-US" sz="1700" b="1" dirty="0">
                <a:solidFill>
                  <a:schemeClr val="tx2"/>
                </a:solidFill>
              </a:rPr>
              <a:t>Existing systems</a:t>
            </a:r>
            <a:endParaRPr lang="en-US" sz="1700" dirty="0"/>
          </a:p>
        </p:txBody>
      </p:sp>
      <p:sp>
        <p:nvSpPr>
          <p:cNvPr id="12" name="Text 10"/>
          <p:cNvSpPr txBox="1"/>
          <p:nvPr/>
        </p:nvSpPr>
        <p:spPr>
          <a:xfrm>
            <a:off x="7104888" y="1929384"/>
            <a:ext cx="4325112" cy="502920"/>
          </a:xfrm>
          <a:prstGeom prst="rect">
            <a:avLst/>
          </a:prstGeom>
          <a:noFill/>
          <a:ln/>
        </p:spPr>
        <p:txBody>
          <a:bodyPr wrap="square" lIns="0" tIns="0" rIns="0" bIns="0" rtlCol="0" anchor="ctr"/>
          <a:lstStyle/>
          <a:p>
            <a:pPr indent="0" marL="0">
              <a:buNone/>
            </a:pPr>
            <a:r>
              <a:rPr lang="en-US" sz="1250" dirty="0">
                <a:solidFill>
                  <a:schemeClr val="accent6"/>
                </a:solidFill>
              </a:rPr>
              <a:t>What is available, and the gap none of them fill</a:t>
            </a:r>
            <a:endParaRPr lang="en-US" sz="1250" dirty="0"/>
          </a:p>
        </p:txBody>
      </p:sp>
      <p:sp>
        <p:nvSpPr>
          <p:cNvPr id="13" name="road-2"/>
          <p:cNvSpPr/>
          <p:nvPr/>
        </p:nvSpPr>
        <p:spPr>
          <a:xfrm>
            <a:off x="566928" y="2862072"/>
            <a:ext cx="5404104" cy="1298448"/>
          </a:xfrm>
          <a:prstGeom prst="roundRect">
            <a:avLst>
              <a:gd name="adj" fmla="val 4930"/>
            </a:avLst>
          </a:prstGeom>
          <a:solidFill>
            <a:schemeClr val="bg2"/>
          </a:solidFill>
          <a:ln w="12700">
            <a:solidFill>
              <a:srgbClr val="DCE5EF"/>
            </a:solidFill>
            <a:prstDash val="solid"/>
          </a:ln>
        </p:spPr>
      </p:sp>
      <p:sp>
        <p:nvSpPr>
          <p:cNvPr id="14" name="disc-03"/>
          <p:cNvSpPr/>
          <p:nvPr/>
        </p:nvSpPr>
        <p:spPr>
          <a:xfrm>
            <a:off x="841248" y="3154680"/>
            <a:ext cx="475488" cy="475488"/>
          </a:xfrm>
          <a:prstGeom prst="ellipse">
            <a:avLst/>
          </a:prstGeom>
          <a:solidFill>
            <a:schemeClr val="accent1"/>
          </a:solidFill>
          <a:ln w="12700">
            <a:solidFill>
              <a:schemeClr val="accent1"/>
            </a:solidFill>
            <a:prstDash val="solid"/>
          </a:ln>
        </p:spPr>
      </p:sp>
      <p:sp>
        <p:nvSpPr>
          <p:cNvPr id="15" name="Text 13"/>
          <p:cNvSpPr txBox="1"/>
          <p:nvPr/>
        </p:nvSpPr>
        <p:spPr>
          <a:xfrm>
            <a:off x="841248" y="315468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rPr>
              <a:t>03</a:t>
            </a:r>
            <a:endParaRPr lang="en-US" sz="1600" dirty="0"/>
          </a:p>
        </p:txBody>
      </p:sp>
      <p:sp>
        <p:nvSpPr>
          <p:cNvPr id="16" name="Text 14"/>
          <p:cNvSpPr txBox="1"/>
          <p:nvPr/>
        </p:nvSpPr>
        <p:spPr>
          <a:xfrm>
            <a:off x="1481328" y="3099816"/>
            <a:ext cx="4325112" cy="329184"/>
          </a:xfrm>
          <a:prstGeom prst="rect">
            <a:avLst/>
          </a:prstGeom>
          <a:noFill/>
          <a:ln/>
        </p:spPr>
        <p:txBody>
          <a:bodyPr wrap="square" lIns="0" tIns="0" rIns="0" bIns="0" rtlCol="0" anchor="ctr"/>
          <a:lstStyle/>
          <a:p>
            <a:pPr indent="0" marL="0">
              <a:buNone/>
            </a:pPr>
            <a:r>
              <a:rPr lang="en-US" sz="1700" b="1" dirty="0">
                <a:solidFill>
                  <a:schemeClr val="tx2"/>
                </a:solidFill>
              </a:rPr>
              <a:t>Method &amp; design</a:t>
            </a:r>
            <a:endParaRPr lang="en-US" sz="1700" dirty="0"/>
          </a:p>
        </p:txBody>
      </p:sp>
      <p:sp>
        <p:nvSpPr>
          <p:cNvPr id="17" name="Text 15"/>
          <p:cNvSpPr txBox="1"/>
          <p:nvPr/>
        </p:nvSpPr>
        <p:spPr>
          <a:xfrm>
            <a:off x="1481328" y="3465576"/>
            <a:ext cx="4325112" cy="502920"/>
          </a:xfrm>
          <a:prstGeom prst="rect">
            <a:avLst/>
          </a:prstGeom>
          <a:noFill/>
          <a:ln/>
        </p:spPr>
        <p:txBody>
          <a:bodyPr wrap="square" lIns="0" tIns="0" rIns="0" bIns="0" rtlCol="0" anchor="ctr"/>
          <a:lstStyle/>
          <a:p>
            <a:pPr indent="0" marL="0">
              <a:buNone/>
            </a:pPr>
            <a:r>
              <a:rPr lang="en-US" sz="1250" dirty="0">
                <a:solidFill>
                  <a:schemeClr val="accent6"/>
                </a:solidFill>
              </a:rPr>
              <a:t>How the system was specified and architected</a:t>
            </a:r>
            <a:endParaRPr lang="en-US" sz="1250" dirty="0"/>
          </a:p>
        </p:txBody>
      </p:sp>
      <p:sp>
        <p:nvSpPr>
          <p:cNvPr id="18" name="road-3"/>
          <p:cNvSpPr/>
          <p:nvPr/>
        </p:nvSpPr>
        <p:spPr>
          <a:xfrm>
            <a:off x="6190488" y="2862072"/>
            <a:ext cx="5404104" cy="1298448"/>
          </a:xfrm>
          <a:prstGeom prst="roundRect">
            <a:avLst>
              <a:gd name="adj" fmla="val 4930"/>
            </a:avLst>
          </a:prstGeom>
          <a:solidFill>
            <a:schemeClr val="bg2"/>
          </a:solidFill>
          <a:ln w="12700">
            <a:solidFill>
              <a:srgbClr val="DCE5EF"/>
            </a:solidFill>
            <a:prstDash val="solid"/>
          </a:ln>
        </p:spPr>
      </p:sp>
      <p:sp>
        <p:nvSpPr>
          <p:cNvPr id="19" name="disc-04"/>
          <p:cNvSpPr/>
          <p:nvPr/>
        </p:nvSpPr>
        <p:spPr>
          <a:xfrm>
            <a:off x="6464808" y="3154680"/>
            <a:ext cx="475488" cy="475488"/>
          </a:xfrm>
          <a:prstGeom prst="ellipse">
            <a:avLst/>
          </a:prstGeom>
          <a:solidFill>
            <a:schemeClr val="accent1"/>
          </a:solidFill>
          <a:ln w="12700">
            <a:solidFill>
              <a:schemeClr val="accent1"/>
            </a:solidFill>
            <a:prstDash val="solid"/>
          </a:ln>
        </p:spPr>
      </p:sp>
      <p:sp>
        <p:nvSpPr>
          <p:cNvPr id="20" name="Text 18"/>
          <p:cNvSpPr txBox="1"/>
          <p:nvPr/>
        </p:nvSpPr>
        <p:spPr>
          <a:xfrm>
            <a:off x="6464808" y="3154680"/>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rPr>
              <a:t>04</a:t>
            </a:r>
            <a:endParaRPr lang="en-US" sz="1600" dirty="0"/>
          </a:p>
        </p:txBody>
      </p:sp>
      <p:sp>
        <p:nvSpPr>
          <p:cNvPr id="21" name="Text 19"/>
          <p:cNvSpPr txBox="1"/>
          <p:nvPr/>
        </p:nvSpPr>
        <p:spPr>
          <a:xfrm>
            <a:off x="7104888" y="3099816"/>
            <a:ext cx="4325112" cy="329184"/>
          </a:xfrm>
          <a:prstGeom prst="rect">
            <a:avLst/>
          </a:prstGeom>
          <a:noFill/>
          <a:ln/>
        </p:spPr>
        <p:txBody>
          <a:bodyPr wrap="square" lIns="0" tIns="0" rIns="0" bIns="0" rtlCol="0" anchor="ctr"/>
          <a:lstStyle/>
          <a:p>
            <a:pPr indent="0" marL="0">
              <a:buNone/>
            </a:pPr>
            <a:r>
              <a:rPr lang="en-US" sz="1700" b="1" dirty="0">
                <a:solidFill>
                  <a:schemeClr val="tx2"/>
                </a:solidFill>
              </a:rPr>
              <a:t>Implementation</a:t>
            </a:r>
            <a:endParaRPr lang="en-US" sz="1700" dirty="0"/>
          </a:p>
        </p:txBody>
      </p:sp>
      <p:sp>
        <p:nvSpPr>
          <p:cNvPr id="22" name="Text 20"/>
          <p:cNvSpPr txBox="1"/>
          <p:nvPr/>
        </p:nvSpPr>
        <p:spPr>
          <a:xfrm>
            <a:off x="7104888" y="3465576"/>
            <a:ext cx="4325112" cy="502920"/>
          </a:xfrm>
          <a:prstGeom prst="rect">
            <a:avLst/>
          </a:prstGeom>
          <a:noFill/>
          <a:ln/>
        </p:spPr>
        <p:txBody>
          <a:bodyPr wrap="square" lIns="0" tIns="0" rIns="0" bIns="0" rtlCol="0" anchor="ctr"/>
          <a:lstStyle/>
          <a:p>
            <a:pPr indent="0" marL="0">
              <a:buNone/>
            </a:pPr>
            <a:r>
              <a:rPr lang="en-US" sz="1250" dirty="0">
                <a:solidFill>
                  <a:schemeClr val="accent6"/>
                </a:solidFill>
              </a:rPr>
              <a:t>Three engineering problems worth your attention</a:t>
            </a:r>
            <a:endParaRPr lang="en-US" sz="1250" dirty="0"/>
          </a:p>
        </p:txBody>
      </p:sp>
      <p:sp>
        <p:nvSpPr>
          <p:cNvPr id="23" name="road-4"/>
          <p:cNvSpPr/>
          <p:nvPr/>
        </p:nvSpPr>
        <p:spPr>
          <a:xfrm>
            <a:off x="566928" y="4398264"/>
            <a:ext cx="5404104" cy="1298448"/>
          </a:xfrm>
          <a:prstGeom prst="roundRect">
            <a:avLst>
              <a:gd name="adj" fmla="val 4930"/>
            </a:avLst>
          </a:prstGeom>
          <a:solidFill>
            <a:schemeClr val="bg2"/>
          </a:solidFill>
          <a:ln w="12700">
            <a:solidFill>
              <a:srgbClr val="DCE5EF"/>
            </a:solidFill>
            <a:prstDash val="solid"/>
          </a:ln>
        </p:spPr>
      </p:sp>
      <p:sp>
        <p:nvSpPr>
          <p:cNvPr id="24" name="disc-05"/>
          <p:cNvSpPr/>
          <p:nvPr/>
        </p:nvSpPr>
        <p:spPr>
          <a:xfrm>
            <a:off x="841248" y="4690872"/>
            <a:ext cx="475488" cy="475488"/>
          </a:xfrm>
          <a:prstGeom prst="ellipse">
            <a:avLst/>
          </a:prstGeom>
          <a:solidFill>
            <a:schemeClr val="accent1"/>
          </a:solidFill>
          <a:ln w="12700">
            <a:solidFill>
              <a:schemeClr val="accent1"/>
            </a:solidFill>
            <a:prstDash val="solid"/>
          </a:ln>
        </p:spPr>
      </p:sp>
      <p:sp>
        <p:nvSpPr>
          <p:cNvPr id="25" name="Text 23"/>
          <p:cNvSpPr txBox="1"/>
          <p:nvPr/>
        </p:nvSpPr>
        <p:spPr>
          <a:xfrm>
            <a:off x="841248" y="4690872"/>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rPr>
              <a:t>05</a:t>
            </a:r>
            <a:endParaRPr lang="en-US" sz="1600" dirty="0"/>
          </a:p>
        </p:txBody>
      </p:sp>
      <p:sp>
        <p:nvSpPr>
          <p:cNvPr id="26" name="Text 24"/>
          <p:cNvSpPr txBox="1"/>
          <p:nvPr/>
        </p:nvSpPr>
        <p:spPr>
          <a:xfrm>
            <a:off x="1481328" y="4636008"/>
            <a:ext cx="4325112" cy="329184"/>
          </a:xfrm>
          <a:prstGeom prst="rect">
            <a:avLst/>
          </a:prstGeom>
          <a:noFill/>
          <a:ln/>
        </p:spPr>
        <p:txBody>
          <a:bodyPr wrap="square" lIns="0" tIns="0" rIns="0" bIns="0" rtlCol="0" anchor="ctr"/>
          <a:lstStyle/>
          <a:p>
            <a:pPr indent="0" marL="0">
              <a:buNone/>
            </a:pPr>
            <a:r>
              <a:rPr lang="en-US" sz="1700" b="1" dirty="0">
                <a:solidFill>
                  <a:schemeClr val="tx2"/>
                </a:solidFill>
              </a:rPr>
              <a:t>Testing</a:t>
            </a:r>
            <a:endParaRPr lang="en-US" sz="1700" dirty="0"/>
          </a:p>
        </p:txBody>
      </p:sp>
      <p:sp>
        <p:nvSpPr>
          <p:cNvPr id="27" name="Text 25"/>
          <p:cNvSpPr txBox="1"/>
          <p:nvPr/>
        </p:nvSpPr>
        <p:spPr>
          <a:xfrm>
            <a:off x="1481328" y="5001768"/>
            <a:ext cx="4325112" cy="502920"/>
          </a:xfrm>
          <a:prstGeom prst="rect">
            <a:avLst/>
          </a:prstGeom>
          <a:noFill/>
          <a:ln/>
        </p:spPr>
        <p:txBody>
          <a:bodyPr wrap="square" lIns="0" tIns="0" rIns="0" bIns="0" rtlCol="0" anchor="ctr"/>
          <a:lstStyle/>
          <a:p>
            <a:pPr indent="0" marL="0">
              <a:buNone/>
            </a:pPr>
            <a:r>
              <a:rPr lang="en-US" sz="1250" dirty="0">
                <a:solidFill>
                  <a:schemeClr val="accent6"/>
                </a:solidFill>
              </a:rPr>
              <a:t>What I verified, how, and what I found</a:t>
            </a:r>
            <a:endParaRPr lang="en-US" sz="1250" dirty="0"/>
          </a:p>
        </p:txBody>
      </p:sp>
      <p:sp>
        <p:nvSpPr>
          <p:cNvPr id="28" name="road-5"/>
          <p:cNvSpPr/>
          <p:nvPr/>
        </p:nvSpPr>
        <p:spPr>
          <a:xfrm>
            <a:off x="6190488" y="4398264"/>
            <a:ext cx="5404104" cy="1298448"/>
          </a:xfrm>
          <a:prstGeom prst="roundRect">
            <a:avLst>
              <a:gd name="adj" fmla="val 4930"/>
            </a:avLst>
          </a:prstGeom>
          <a:solidFill>
            <a:schemeClr val="bg2"/>
          </a:solidFill>
          <a:ln w="12700">
            <a:solidFill>
              <a:srgbClr val="DCE5EF"/>
            </a:solidFill>
            <a:prstDash val="solid"/>
          </a:ln>
        </p:spPr>
      </p:sp>
      <p:sp>
        <p:nvSpPr>
          <p:cNvPr id="29" name="disc-06"/>
          <p:cNvSpPr/>
          <p:nvPr/>
        </p:nvSpPr>
        <p:spPr>
          <a:xfrm>
            <a:off x="6464808" y="4690872"/>
            <a:ext cx="475488" cy="475488"/>
          </a:xfrm>
          <a:prstGeom prst="ellipse">
            <a:avLst/>
          </a:prstGeom>
          <a:solidFill>
            <a:schemeClr val="accent1"/>
          </a:solidFill>
          <a:ln w="12700">
            <a:solidFill>
              <a:schemeClr val="accent1"/>
            </a:solidFill>
            <a:prstDash val="solid"/>
          </a:ln>
        </p:spPr>
      </p:sp>
      <p:sp>
        <p:nvSpPr>
          <p:cNvPr id="30" name="Text 28"/>
          <p:cNvSpPr txBox="1"/>
          <p:nvPr/>
        </p:nvSpPr>
        <p:spPr>
          <a:xfrm>
            <a:off x="6464808" y="4690872"/>
            <a:ext cx="475488" cy="475488"/>
          </a:xfrm>
          <a:prstGeom prst="rect">
            <a:avLst/>
          </a:prstGeom>
          <a:noFill/>
          <a:ln/>
        </p:spPr>
        <p:txBody>
          <a:bodyPr wrap="square" lIns="0" tIns="0" rIns="0" bIns="0" rtlCol="0" anchor="ctr"/>
          <a:lstStyle/>
          <a:p>
            <a:pPr algn="ctr" indent="0" marL="0">
              <a:buNone/>
            </a:pPr>
            <a:r>
              <a:rPr lang="en-US" sz="1600" b="1" dirty="0">
                <a:solidFill>
                  <a:srgbClr val="FFFFFF"/>
                </a:solidFill>
              </a:rPr>
              <a:t>06</a:t>
            </a:r>
            <a:endParaRPr lang="en-US" sz="1600" dirty="0"/>
          </a:p>
        </p:txBody>
      </p:sp>
      <p:sp>
        <p:nvSpPr>
          <p:cNvPr id="31" name="Text 29"/>
          <p:cNvSpPr txBox="1"/>
          <p:nvPr/>
        </p:nvSpPr>
        <p:spPr>
          <a:xfrm>
            <a:off x="7104888" y="4636008"/>
            <a:ext cx="4325112" cy="329184"/>
          </a:xfrm>
          <a:prstGeom prst="rect">
            <a:avLst/>
          </a:prstGeom>
          <a:noFill/>
          <a:ln/>
        </p:spPr>
        <p:txBody>
          <a:bodyPr wrap="square" lIns="0" tIns="0" rIns="0" bIns="0" rtlCol="0" anchor="ctr"/>
          <a:lstStyle/>
          <a:p>
            <a:pPr indent="0" marL="0">
              <a:buNone/>
            </a:pPr>
            <a:r>
              <a:rPr lang="en-US" sz="1700" b="1" dirty="0">
                <a:solidFill>
                  <a:schemeClr val="tx2"/>
                </a:solidFill>
              </a:rPr>
              <a:t>Results &amp; limits</a:t>
            </a:r>
            <a:endParaRPr lang="en-US" sz="1700" dirty="0"/>
          </a:p>
        </p:txBody>
      </p:sp>
      <p:sp>
        <p:nvSpPr>
          <p:cNvPr id="32" name="Text 30"/>
          <p:cNvSpPr txBox="1"/>
          <p:nvPr/>
        </p:nvSpPr>
        <p:spPr>
          <a:xfrm>
            <a:off x="7104888" y="5001768"/>
            <a:ext cx="4325112" cy="502920"/>
          </a:xfrm>
          <a:prstGeom prst="rect">
            <a:avLst/>
          </a:prstGeom>
          <a:noFill/>
          <a:ln/>
        </p:spPr>
        <p:txBody>
          <a:bodyPr wrap="square" lIns="0" tIns="0" rIns="0" bIns="0" rtlCol="0" anchor="ctr"/>
          <a:lstStyle/>
          <a:p>
            <a:pPr indent="0" marL="0">
              <a:buNone/>
            </a:pPr>
            <a:r>
              <a:rPr lang="en-US" sz="1250" dirty="0">
                <a:solidFill>
                  <a:schemeClr val="accent6"/>
                </a:solidFill>
              </a:rPr>
              <a:t>Objectives met, and what remains undone</a:t>
            </a:r>
            <a:endParaRPr lang="en-US" sz="1250" dirty="0"/>
          </a:p>
        </p:txBody>
      </p:sp>
      <p:sp>
        <p:nvSpPr>
          <p:cNvPr id="25" name="Slide Number Placeholder 0"/>
          <p:cNvSpPr>
            <a:spLocks noGrp="1"/>
          </p:cNvSpPr>
          <p:nvPr>
            <p:ph type="sldNum" sz="quarter" idx="4294967295"/>
          </p:nvPr>
        </p:nvSpPr>
        <p:spPr>
          <a:xfrm>
            <a:off x="11430000" y="6327648"/>
            <a:ext cx="45720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64748B"/>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566928" y="384048"/>
            <a:ext cx="11027664" cy="713232"/>
          </a:xfrm>
          <a:prstGeom prst="rect">
            <a:avLst/>
          </a:prstGeom>
          <a:noFill/>
          <a:ln/>
        </p:spPr>
        <p:txBody>
          <a:bodyPr wrap="square" rtlCol="0"/>
          <a:lstStyle/>
          <a:p>
            <a:pPr indent="0" marL="0">
              <a:buNone/>
            </a:pPr>
            <a:r>
              <a:rPr lang="en-US" sz="3200" b="1" dirty="0">
                <a:solidFill>
                  <a:srgbClr val="0F3057"/>
                </a:solidFill>
              </a:rPr>
              <a:t>Students already hold the knowledge their peers need</a:t>
            </a:r>
            <a:endParaRPr lang="en-US" sz="3200" dirty="0"/>
          </a:p>
        </p:txBody>
      </p:sp>
      <p:sp>
        <p:nvSpPr>
          <p:cNvPr id="3" name="Text 1"/>
          <p:cNvSpPr txBox="1"/>
          <p:nvPr/>
        </p:nvSpPr>
        <p:spPr>
          <a:xfrm>
            <a:off x="566928" y="1097280"/>
            <a:ext cx="11027664" cy="365760"/>
          </a:xfrm>
          <a:prstGeom prst="rect">
            <a:avLst/>
          </a:prstGeom>
          <a:noFill/>
          <a:ln/>
        </p:spPr>
        <p:txBody>
          <a:bodyPr wrap="square" rtlCol="0" anchor="ctr"/>
          <a:lstStyle/>
          <a:p>
            <a:pPr indent="0" marL="0">
              <a:buNone/>
            </a:pPr>
            <a:r>
              <a:rPr lang="en-US" sz="1500" i="1" dirty="0">
                <a:solidFill>
                  <a:schemeClr val="accent6"/>
                </a:solidFill>
              </a:rPr>
              <a:t>The lateral channel exists. It is simply informal, and that informality is the problem.</a:t>
            </a:r>
            <a:endParaRPr lang="en-US" sz="1500" dirty="0"/>
          </a:p>
        </p:txBody>
      </p:sp>
      <p:sp>
        <p:nvSpPr>
          <p:cNvPr id="4" name="bg-0"/>
          <p:cNvSpPr/>
          <p:nvPr/>
        </p:nvSpPr>
        <p:spPr>
          <a:xfrm>
            <a:off x="566928" y="1691640"/>
            <a:ext cx="3584448" cy="3200400"/>
          </a:xfrm>
          <a:prstGeom prst="roundRect">
            <a:avLst>
              <a:gd name="adj" fmla="val 2000"/>
            </a:avLst>
          </a:prstGeom>
          <a:solidFill>
            <a:schemeClr val="bg2"/>
          </a:solidFill>
          <a:ln w="12700">
            <a:solidFill>
              <a:srgbClr val="DCE5EF"/>
            </a:solidFill>
            <a:prstDash val="solid"/>
          </a:ln>
          <a:effectLst>
            <a:outerShdw sx="100000" sy="100000" kx="0" ky="0" algn="bl" rotWithShape="0" blurRad="127000" dist="25400" dir="5400000">
              <a:srgbClr val="0F3057">
                <a:alpha val="10000"/>
              </a:srgbClr>
            </a:outerShdw>
          </a:effectLst>
        </p:spPr>
      </p:sp>
      <p:sp>
        <p:nvSpPr>
          <p:cNvPr id="5" name="bgdot-0"/>
          <p:cNvSpPr/>
          <p:nvPr/>
        </p:nvSpPr>
        <p:spPr>
          <a:xfrm>
            <a:off x="886968" y="2011680"/>
            <a:ext cx="457200" cy="457200"/>
          </a:xfrm>
          <a:prstGeom prst="ellipse">
            <a:avLst/>
          </a:prstGeom>
          <a:solidFill>
            <a:schemeClr val="accent5"/>
          </a:solidFill>
          <a:ln w="12700">
            <a:solidFill>
              <a:srgbClr val="333333"/>
            </a:solidFill>
            <a:prstDash val="solid"/>
          </a:ln>
        </p:spPr>
      </p:sp>
      <p:sp>
        <p:nvSpPr>
          <p:cNvPr id="6" name="Text 4"/>
          <p:cNvSpPr txBox="1"/>
          <p:nvPr/>
        </p:nvSpPr>
        <p:spPr>
          <a:xfrm>
            <a:off x="886968" y="2697480"/>
            <a:ext cx="2944368" cy="548640"/>
          </a:xfrm>
          <a:prstGeom prst="rect">
            <a:avLst/>
          </a:prstGeom>
          <a:noFill/>
          <a:ln/>
        </p:spPr>
        <p:txBody>
          <a:bodyPr wrap="square" lIns="0" tIns="0" rIns="0" bIns="0" rtlCol="0" anchor="ctr"/>
          <a:lstStyle/>
          <a:p>
            <a:pPr indent="0" marL="0">
              <a:buNone/>
            </a:pPr>
            <a:r>
              <a:rPr lang="en-US" sz="1700" b="1" dirty="0">
                <a:solidFill>
                  <a:schemeClr val="tx2"/>
                </a:solidFill>
              </a:rPr>
              <a:t>Where it lives today</a:t>
            </a:r>
            <a:endParaRPr lang="en-US" sz="1700" dirty="0"/>
          </a:p>
        </p:txBody>
      </p:sp>
      <p:sp>
        <p:nvSpPr>
          <p:cNvPr id="7" name="Text 5"/>
          <p:cNvSpPr txBox="1"/>
          <p:nvPr/>
        </p:nvSpPr>
        <p:spPr>
          <a:xfrm>
            <a:off x="886968" y="3291840"/>
            <a:ext cx="2944368" cy="1371600"/>
          </a:xfrm>
          <a:prstGeom prst="rect">
            <a:avLst/>
          </a:prstGeom>
          <a:noFill/>
          <a:ln/>
        </p:spPr>
        <p:txBody>
          <a:bodyPr wrap="square" lIns="0" tIns="0" rIns="0" bIns="0" rtlCol="0" anchor="ctr"/>
          <a:lstStyle/>
          <a:p>
            <a:pPr indent="0" marL="0">
              <a:lnSpc>
                <a:spcPts val="1800"/>
              </a:lnSpc>
              <a:buNone/>
            </a:pPr>
            <a:r>
              <a:rPr lang="en-US" sz="1300" dirty="0">
                <a:solidFill>
                  <a:schemeClr val="tx1"/>
                </a:solidFill>
              </a:rPr>
              <a:t>Private WhatsApp groups, personal laptops, paper notebooks. Material circulates inside closed circles and is undiscoverable outside them.</a:t>
            </a:r>
            <a:endParaRPr lang="en-US" sz="1300" dirty="0"/>
          </a:p>
        </p:txBody>
      </p:sp>
      <p:sp>
        <p:nvSpPr>
          <p:cNvPr id="8" name="bg-1"/>
          <p:cNvSpPr/>
          <p:nvPr/>
        </p:nvSpPr>
        <p:spPr>
          <a:xfrm>
            <a:off x="4334256" y="1691640"/>
            <a:ext cx="3584448" cy="3200400"/>
          </a:xfrm>
          <a:prstGeom prst="roundRect">
            <a:avLst>
              <a:gd name="adj" fmla="val 2000"/>
            </a:avLst>
          </a:prstGeom>
          <a:solidFill>
            <a:schemeClr val="bg2"/>
          </a:solidFill>
          <a:ln w="12700">
            <a:solidFill>
              <a:srgbClr val="DCE5EF"/>
            </a:solidFill>
            <a:prstDash val="solid"/>
          </a:ln>
          <a:effectLst>
            <a:outerShdw sx="100000" sy="100000" kx="0" ky="0" algn="bl" rotWithShape="0" blurRad="127000" dist="25400" dir="5400000">
              <a:srgbClr val="0F3057">
                <a:alpha val="10000"/>
              </a:srgbClr>
            </a:outerShdw>
          </a:effectLst>
        </p:spPr>
      </p:sp>
      <p:sp>
        <p:nvSpPr>
          <p:cNvPr id="9" name="bgdot-1"/>
          <p:cNvSpPr/>
          <p:nvPr/>
        </p:nvSpPr>
        <p:spPr>
          <a:xfrm>
            <a:off x="4654296" y="2011680"/>
            <a:ext cx="457200" cy="457200"/>
          </a:xfrm>
          <a:prstGeom prst="ellipse">
            <a:avLst/>
          </a:prstGeom>
          <a:solidFill>
            <a:schemeClr val="accent5"/>
          </a:solidFill>
          <a:ln w="12700">
            <a:solidFill>
              <a:srgbClr val="333333"/>
            </a:solidFill>
            <a:prstDash val="solid"/>
          </a:ln>
        </p:spPr>
      </p:sp>
      <p:sp>
        <p:nvSpPr>
          <p:cNvPr id="10" name="Text 8"/>
          <p:cNvSpPr txBox="1"/>
          <p:nvPr/>
        </p:nvSpPr>
        <p:spPr>
          <a:xfrm>
            <a:off x="4654296" y="2697480"/>
            <a:ext cx="2944368" cy="548640"/>
          </a:xfrm>
          <a:prstGeom prst="rect">
            <a:avLst/>
          </a:prstGeom>
          <a:noFill/>
          <a:ln/>
        </p:spPr>
        <p:txBody>
          <a:bodyPr wrap="square" lIns="0" tIns="0" rIns="0" bIns="0" rtlCol="0" anchor="ctr"/>
          <a:lstStyle/>
          <a:p>
            <a:pPr indent="0" marL="0">
              <a:buNone/>
            </a:pPr>
            <a:r>
              <a:rPr lang="en-US" sz="1700" b="1" dirty="0">
                <a:solidFill>
                  <a:schemeClr val="tx2"/>
                </a:solidFill>
              </a:rPr>
              <a:t>Why it disappears</a:t>
            </a:r>
            <a:endParaRPr lang="en-US" sz="1700" dirty="0"/>
          </a:p>
        </p:txBody>
      </p:sp>
      <p:sp>
        <p:nvSpPr>
          <p:cNvPr id="11" name="Text 9"/>
          <p:cNvSpPr txBox="1"/>
          <p:nvPr/>
        </p:nvSpPr>
        <p:spPr>
          <a:xfrm>
            <a:off x="4654296" y="3291840"/>
            <a:ext cx="2944368" cy="1371600"/>
          </a:xfrm>
          <a:prstGeom prst="rect">
            <a:avLst/>
          </a:prstGeom>
          <a:noFill/>
          <a:ln/>
        </p:spPr>
        <p:txBody>
          <a:bodyPr wrap="square" lIns="0" tIns="0" rIns="0" bIns="0" rtlCol="0" anchor="ctr"/>
          <a:lstStyle/>
          <a:p>
            <a:pPr indent="0" marL="0">
              <a:lnSpc>
                <a:spcPts val="1800"/>
              </a:lnSpc>
              <a:buNone/>
            </a:pPr>
            <a:r>
              <a:rPr lang="en-US" sz="1300" dirty="0">
                <a:solidFill>
                  <a:schemeClr val="tx1"/>
                </a:solidFill>
              </a:rPr>
              <a:t>A question scrolls out of view within hours. An archived group takes its files with it. A replaced phone loses everything.</a:t>
            </a:r>
            <a:endParaRPr lang="en-US" sz="1300" dirty="0"/>
          </a:p>
        </p:txBody>
      </p:sp>
      <p:sp>
        <p:nvSpPr>
          <p:cNvPr id="12" name="bg-2"/>
          <p:cNvSpPr/>
          <p:nvPr/>
        </p:nvSpPr>
        <p:spPr>
          <a:xfrm>
            <a:off x="8101584" y="1691640"/>
            <a:ext cx="3584448" cy="3200400"/>
          </a:xfrm>
          <a:prstGeom prst="roundRect">
            <a:avLst>
              <a:gd name="adj" fmla="val 2000"/>
            </a:avLst>
          </a:prstGeom>
          <a:solidFill>
            <a:schemeClr val="bg2"/>
          </a:solidFill>
          <a:ln w="12700">
            <a:solidFill>
              <a:srgbClr val="DCE5EF"/>
            </a:solidFill>
            <a:prstDash val="solid"/>
          </a:ln>
          <a:effectLst>
            <a:outerShdw sx="100000" sy="100000" kx="0" ky="0" algn="bl" rotWithShape="0" blurRad="127000" dist="25400" dir="5400000">
              <a:srgbClr val="0F3057">
                <a:alpha val="10000"/>
              </a:srgbClr>
            </a:outerShdw>
          </a:effectLst>
        </p:spPr>
      </p:sp>
      <p:sp>
        <p:nvSpPr>
          <p:cNvPr id="13" name="bgdot-2"/>
          <p:cNvSpPr/>
          <p:nvPr/>
        </p:nvSpPr>
        <p:spPr>
          <a:xfrm>
            <a:off x="8421624" y="2011680"/>
            <a:ext cx="457200" cy="457200"/>
          </a:xfrm>
          <a:prstGeom prst="ellipse">
            <a:avLst/>
          </a:prstGeom>
          <a:solidFill>
            <a:schemeClr val="accent3"/>
          </a:solidFill>
          <a:ln w="12700">
            <a:solidFill>
              <a:srgbClr val="333333"/>
            </a:solidFill>
            <a:prstDash val="solid"/>
          </a:ln>
        </p:spPr>
      </p:sp>
      <p:sp>
        <p:nvSpPr>
          <p:cNvPr id="14" name="Text 12"/>
          <p:cNvSpPr txBox="1"/>
          <p:nvPr/>
        </p:nvSpPr>
        <p:spPr>
          <a:xfrm>
            <a:off x="8421624" y="2697480"/>
            <a:ext cx="2944368" cy="548640"/>
          </a:xfrm>
          <a:prstGeom prst="rect">
            <a:avLst/>
          </a:prstGeom>
          <a:noFill/>
          <a:ln/>
        </p:spPr>
        <p:txBody>
          <a:bodyPr wrap="square" lIns="0" tIns="0" rIns="0" bIns="0" rtlCol="0" anchor="ctr"/>
          <a:lstStyle/>
          <a:p>
            <a:pPr indent="0" marL="0">
              <a:buNone/>
            </a:pPr>
            <a:r>
              <a:rPr lang="en-US" sz="1700" b="1" dirty="0">
                <a:solidFill>
                  <a:schemeClr val="tx2"/>
                </a:solidFill>
              </a:rPr>
              <a:t>What the context adds</a:t>
            </a:r>
            <a:endParaRPr lang="en-US" sz="1700" dirty="0"/>
          </a:p>
        </p:txBody>
      </p:sp>
      <p:sp>
        <p:nvSpPr>
          <p:cNvPr id="15" name="Text 13"/>
          <p:cNvSpPr txBox="1"/>
          <p:nvPr/>
        </p:nvSpPr>
        <p:spPr>
          <a:xfrm>
            <a:off x="8421624" y="3291840"/>
            <a:ext cx="2944368" cy="1371600"/>
          </a:xfrm>
          <a:prstGeom prst="rect">
            <a:avLst/>
          </a:prstGeom>
          <a:noFill/>
          <a:ln/>
        </p:spPr>
        <p:txBody>
          <a:bodyPr wrap="square" lIns="0" tIns="0" rIns="0" bIns="0" rtlCol="0" anchor="ctr"/>
          <a:lstStyle/>
          <a:p>
            <a:pPr indent="0" marL="0">
              <a:lnSpc>
                <a:spcPts val="1800"/>
              </a:lnSpc>
              <a:buNone/>
            </a:pPr>
            <a:r>
              <a:rPr lang="en-US" sz="1300" dirty="0">
                <a:solidFill>
                  <a:schemeClr val="tx1"/>
                </a:solidFill>
              </a:rPr>
              <a:t>Bandwidth is expensive and intermittent. Payment is by mobile money, not card. Any design ignoring either excludes the intended users.</a:t>
            </a:r>
            <a:endParaRPr lang="en-US" sz="1300" dirty="0"/>
          </a:p>
        </p:txBody>
      </p:sp>
      <p:sp>
        <p:nvSpPr>
          <p:cNvPr id="16" name="Text 14"/>
          <p:cNvSpPr txBox="1"/>
          <p:nvPr/>
        </p:nvSpPr>
        <p:spPr>
          <a:xfrm>
            <a:off x="566928" y="5120640"/>
            <a:ext cx="11027664" cy="822960"/>
          </a:xfrm>
          <a:prstGeom prst="rect">
            <a:avLst/>
          </a:prstGeom>
          <a:noFill/>
          <a:ln/>
        </p:spPr>
        <p:txBody>
          <a:bodyPr wrap="square" rtlCol="0" anchor="ctr"/>
          <a:lstStyle/>
          <a:p>
            <a:pPr indent="0" marL="0">
              <a:buNone/>
            </a:pPr>
            <a:r>
              <a:rPr lang="en-US" sz="1300" i="1" dirty="0">
                <a:solidFill>
                  <a:schemeClr val="accent6"/>
                </a:solidFill>
              </a:rPr>
              <a:t>Peer-assisted learning is well established pedagogically — Vygotsky’s zone of proximal development holds that a learner progresses furthest when helped by someone only modestly ahead of them. That describes a classmate, not a lecturer.</a:t>
            </a:r>
            <a:endParaRPr lang="en-US" sz="1300" dirty="0"/>
          </a:p>
        </p:txBody>
      </p:sp>
      <p:sp>
        <p:nvSpPr>
          <p:cNvPr id="25" name="Slide Number Placeholder 0"/>
          <p:cNvSpPr>
            <a:spLocks noGrp="1"/>
          </p:cNvSpPr>
          <p:nvPr>
            <p:ph type="sldNum" sz="quarter" idx="4294967295"/>
          </p:nvPr>
        </p:nvSpPr>
        <p:spPr>
          <a:xfrm>
            <a:off x="11430000" y="6327648"/>
            <a:ext cx="45720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64748B"/>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66928" y="384048"/>
            <a:ext cx="11027664" cy="713232"/>
          </a:xfrm>
          <a:prstGeom prst="rect">
            <a:avLst/>
          </a:prstGeom>
          <a:noFill/>
          <a:ln/>
        </p:spPr>
        <p:txBody>
          <a:bodyPr wrap="square" rtlCol="0"/>
          <a:lstStyle/>
          <a:p>
            <a:pPr indent="0" marL="0">
              <a:buNone/>
            </a:pPr>
            <a:r>
              <a:rPr lang="en-US" sz="3200" b="1" dirty="0">
                <a:solidFill>
                  <a:srgbClr val="0F3057"/>
                </a:solidFill>
              </a:rPr>
              <a:t>Problem statement</a:t>
            </a:r>
            <a:endParaRPr lang="en-US" sz="3200" dirty="0"/>
          </a:p>
        </p:txBody>
      </p:sp>
      <p:sp>
        <p:nvSpPr>
          <p:cNvPr id="3" name="Text 1"/>
          <p:cNvSpPr txBox="1"/>
          <p:nvPr/>
        </p:nvSpPr>
        <p:spPr>
          <a:xfrm>
            <a:off x="566928" y="1115568"/>
            <a:ext cx="11027664" cy="777240"/>
          </a:xfrm>
          <a:prstGeom prst="rect">
            <a:avLst/>
          </a:prstGeom>
          <a:noFill/>
          <a:ln/>
        </p:spPr>
        <p:txBody>
          <a:bodyPr wrap="square" rtlCol="0" anchor="ctr"/>
          <a:lstStyle/>
          <a:p>
            <a:pPr indent="0" marL="0">
              <a:lnSpc>
                <a:spcPts val="2600"/>
              </a:lnSpc>
              <a:buNone/>
            </a:pPr>
            <a:r>
              <a:rPr lang="en-US" sz="1700" b="1" dirty="0">
                <a:solidFill>
                  <a:schemeClr val="tx2"/>
                </a:solidFill>
              </a:rPr>
              <a:t>There is no single, accessible, locally appropriate platform on which university students can share academic resources, resolve specific difficulties, and obtain paid one-to-one help from their peers.</a:t>
            </a:r>
            <a:endParaRPr lang="en-US" sz="1700" dirty="0"/>
          </a:p>
        </p:txBody>
      </p:sp>
      <p:sp>
        <p:nvSpPr>
          <p:cNvPr id="4" name="prob-0"/>
          <p:cNvSpPr/>
          <p:nvPr/>
        </p:nvSpPr>
        <p:spPr>
          <a:xfrm>
            <a:off x="566928" y="2148840"/>
            <a:ext cx="2683764" cy="2834640"/>
          </a:xfrm>
          <a:prstGeom prst="roundRect">
            <a:avLst>
              <a:gd name="adj" fmla="val 2385"/>
            </a:avLst>
          </a:prstGeom>
          <a:solidFill>
            <a:srgbClr val="FFFFFF"/>
          </a:solidFill>
          <a:ln w="12700">
            <a:solidFill>
              <a:srgbClr val="DCE5EF"/>
            </a:solidFill>
            <a:prstDash val="solid"/>
          </a:ln>
          <a:effectLst>
            <a:outerShdw sx="100000" sy="100000" kx="0" ky="0" algn="bl" rotWithShape="0" blurRad="127000" dist="25400" dir="5400000">
              <a:srgbClr val="0F3057">
                <a:alpha val="10000"/>
              </a:srgbClr>
            </a:outerShdw>
          </a:effectLst>
        </p:spPr>
      </p:sp>
      <p:sp>
        <p:nvSpPr>
          <p:cNvPr id="5" name="disc-1"/>
          <p:cNvSpPr/>
          <p:nvPr/>
        </p:nvSpPr>
        <p:spPr>
          <a:xfrm>
            <a:off x="822960" y="2395728"/>
            <a:ext cx="420624" cy="420624"/>
          </a:xfrm>
          <a:prstGeom prst="ellipse">
            <a:avLst/>
          </a:prstGeom>
          <a:solidFill>
            <a:schemeClr val="accent5"/>
          </a:solidFill>
          <a:ln w="12700">
            <a:solidFill>
              <a:schemeClr val="accent5"/>
            </a:solidFill>
            <a:prstDash val="solid"/>
          </a:ln>
        </p:spPr>
      </p:sp>
      <p:sp>
        <p:nvSpPr>
          <p:cNvPr id="6" name="Text 4"/>
          <p:cNvSpPr txBox="1"/>
          <p:nvPr/>
        </p:nvSpPr>
        <p:spPr>
          <a:xfrm>
            <a:off x="822960" y="239572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7" name="Text 5"/>
          <p:cNvSpPr txBox="1"/>
          <p:nvPr/>
        </p:nvSpPr>
        <p:spPr>
          <a:xfrm>
            <a:off x="822960" y="2971800"/>
            <a:ext cx="2208276" cy="548640"/>
          </a:xfrm>
          <a:prstGeom prst="rect">
            <a:avLst/>
          </a:prstGeom>
          <a:noFill/>
          <a:ln/>
        </p:spPr>
        <p:txBody>
          <a:bodyPr wrap="square" lIns="0" tIns="0" rIns="0" bIns="0" rtlCol="0" anchor="ctr"/>
          <a:lstStyle/>
          <a:p>
            <a:pPr indent="0" marL="0">
              <a:buNone/>
            </a:pPr>
            <a:r>
              <a:rPr lang="en-US" sz="1550" b="1" dirty="0">
                <a:solidFill>
                  <a:schemeClr val="accent5"/>
                </a:solidFill>
              </a:rPr>
              <a:t>Knowledge is siloed</a:t>
            </a:r>
            <a:endParaRPr lang="en-US" sz="1550" dirty="0"/>
          </a:p>
        </p:txBody>
      </p:sp>
      <p:sp>
        <p:nvSpPr>
          <p:cNvPr id="8" name="Text 6"/>
          <p:cNvSpPr txBox="1"/>
          <p:nvPr/>
        </p:nvSpPr>
        <p:spPr>
          <a:xfrm>
            <a:off x="822960" y="3566160"/>
            <a:ext cx="2208276" cy="1280160"/>
          </a:xfrm>
          <a:prstGeom prst="rect">
            <a:avLst/>
          </a:prstGeom>
          <a:noFill/>
          <a:ln/>
        </p:spPr>
        <p:txBody>
          <a:bodyPr wrap="square" lIns="0" tIns="0" rIns="0" bIns="0" rtlCol="0" anchor="ctr"/>
          <a:lstStyle/>
          <a:p>
            <a:pPr indent="0" marL="0">
              <a:lnSpc>
                <a:spcPts val="1700"/>
              </a:lnSpc>
              <a:buNone/>
            </a:pPr>
            <a:r>
              <a:rPr lang="en-US" sz="1250" dirty="0">
                <a:solidFill>
                  <a:schemeClr val="tx1"/>
                </a:solidFill>
              </a:rPr>
              <a:t>Notes and explanations exist, but reach a handful of people rather than a cohort.</a:t>
            </a:r>
            <a:endParaRPr lang="en-US" sz="1250" dirty="0"/>
          </a:p>
        </p:txBody>
      </p:sp>
      <p:sp>
        <p:nvSpPr>
          <p:cNvPr id="9" name="prob-1"/>
          <p:cNvSpPr/>
          <p:nvPr/>
        </p:nvSpPr>
        <p:spPr>
          <a:xfrm>
            <a:off x="3396996" y="2148840"/>
            <a:ext cx="2683764" cy="2834640"/>
          </a:xfrm>
          <a:prstGeom prst="roundRect">
            <a:avLst>
              <a:gd name="adj" fmla="val 2385"/>
            </a:avLst>
          </a:prstGeom>
          <a:solidFill>
            <a:srgbClr val="FFFFFF"/>
          </a:solidFill>
          <a:ln w="12700">
            <a:solidFill>
              <a:srgbClr val="DCE5EF"/>
            </a:solidFill>
            <a:prstDash val="solid"/>
          </a:ln>
          <a:effectLst>
            <a:outerShdw sx="100000" sy="100000" kx="0" ky="0" algn="bl" rotWithShape="0" blurRad="127000" dist="25400" dir="5400000">
              <a:srgbClr val="0F3057">
                <a:alpha val="10000"/>
              </a:srgbClr>
            </a:outerShdw>
          </a:effectLst>
        </p:spPr>
      </p:sp>
      <p:sp>
        <p:nvSpPr>
          <p:cNvPr id="10" name="disc-2"/>
          <p:cNvSpPr/>
          <p:nvPr/>
        </p:nvSpPr>
        <p:spPr>
          <a:xfrm>
            <a:off x="3653028" y="2395728"/>
            <a:ext cx="420624" cy="420624"/>
          </a:xfrm>
          <a:prstGeom prst="ellipse">
            <a:avLst/>
          </a:prstGeom>
          <a:solidFill>
            <a:schemeClr val="accent5"/>
          </a:solidFill>
          <a:ln w="12700">
            <a:solidFill>
              <a:schemeClr val="accent5"/>
            </a:solidFill>
            <a:prstDash val="solid"/>
          </a:ln>
        </p:spPr>
      </p:sp>
      <p:sp>
        <p:nvSpPr>
          <p:cNvPr id="11" name="Text 9"/>
          <p:cNvSpPr txBox="1"/>
          <p:nvPr/>
        </p:nvSpPr>
        <p:spPr>
          <a:xfrm>
            <a:off x="3653028" y="239572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2" name="Text 10"/>
          <p:cNvSpPr txBox="1"/>
          <p:nvPr/>
        </p:nvSpPr>
        <p:spPr>
          <a:xfrm>
            <a:off x="3653028" y="2971800"/>
            <a:ext cx="2208276" cy="548640"/>
          </a:xfrm>
          <a:prstGeom prst="rect">
            <a:avLst/>
          </a:prstGeom>
          <a:noFill/>
          <a:ln/>
        </p:spPr>
        <p:txBody>
          <a:bodyPr wrap="square" lIns="0" tIns="0" rIns="0" bIns="0" rtlCol="0" anchor="ctr"/>
          <a:lstStyle/>
          <a:p>
            <a:pPr indent="0" marL="0">
              <a:buNone/>
            </a:pPr>
            <a:r>
              <a:rPr lang="en-US" sz="1550" b="1" dirty="0">
                <a:solidFill>
                  <a:schemeClr val="accent5"/>
                </a:solidFill>
              </a:rPr>
              <a:t>Help is untracked</a:t>
            </a:r>
            <a:endParaRPr lang="en-US" sz="1550" dirty="0"/>
          </a:p>
        </p:txBody>
      </p:sp>
      <p:sp>
        <p:nvSpPr>
          <p:cNvPr id="13" name="Text 11"/>
          <p:cNvSpPr txBox="1"/>
          <p:nvPr/>
        </p:nvSpPr>
        <p:spPr>
          <a:xfrm>
            <a:off x="3653028" y="3566160"/>
            <a:ext cx="2208276" cy="1280160"/>
          </a:xfrm>
          <a:prstGeom prst="rect">
            <a:avLst/>
          </a:prstGeom>
          <a:noFill/>
          <a:ln/>
        </p:spPr>
        <p:txBody>
          <a:bodyPr wrap="square" lIns="0" tIns="0" rIns="0" bIns="0" rtlCol="0" anchor="ctr"/>
          <a:lstStyle/>
          <a:p>
            <a:pPr indent="0" marL="0">
              <a:lnSpc>
                <a:spcPts val="1700"/>
              </a:lnSpc>
              <a:buNone/>
            </a:pPr>
            <a:r>
              <a:rPr lang="en-US" sz="1250" dirty="0">
                <a:solidFill>
                  <a:schemeClr val="tx1"/>
                </a:solidFill>
              </a:rPr>
              <a:t>No record of which answer was correct. No accumulating body of resolved problems. No incentive to answer.</a:t>
            </a:r>
            <a:endParaRPr lang="en-US" sz="1250" dirty="0"/>
          </a:p>
        </p:txBody>
      </p:sp>
      <p:sp>
        <p:nvSpPr>
          <p:cNvPr id="14" name="prob-2"/>
          <p:cNvSpPr/>
          <p:nvPr/>
        </p:nvSpPr>
        <p:spPr>
          <a:xfrm>
            <a:off x="6227064" y="2148840"/>
            <a:ext cx="2683764" cy="2834640"/>
          </a:xfrm>
          <a:prstGeom prst="roundRect">
            <a:avLst>
              <a:gd name="adj" fmla="val 2385"/>
            </a:avLst>
          </a:prstGeom>
          <a:solidFill>
            <a:srgbClr val="FFFFFF"/>
          </a:solidFill>
          <a:ln w="12700">
            <a:solidFill>
              <a:srgbClr val="DCE5EF"/>
            </a:solidFill>
            <a:prstDash val="solid"/>
          </a:ln>
          <a:effectLst>
            <a:outerShdw sx="100000" sy="100000" kx="0" ky="0" algn="bl" rotWithShape="0" blurRad="127000" dist="25400" dir="5400000">
              <a:srgbClr val="0F3057">
                <a:alpha val="10000"/>
              </a:srgbClr>
            </a:outerShdw>
          </a:effectLst>
        </p:spPr>
      </p:sp>
      <p:sp>
        <p:nvSpPr>
          <p:cNvPr id="15" name="disc-3"/>
          <p:cNvSpPr/>
          <p:nvPr/>
        </p:nvSpPr>
        <p:spPr>
          <a:xfrm>
            <a:off x="6483096" y="2395728"/>
            <a:ext cx="420624" cy="420624"/>
          </a:xfrm>
          <a:prstGeom prst="ellipse">
            <a:avLst/>
          </a:prstGeom>
          <a:solidFill>
            <a:schemeClr val="accent5"/>
          </a:solidFill>
          <a:ln w="12700">
            <a:solidFill>
              <a:schemeClr val="accent5"/>
            </a:solidFill>
            <a:prstDash val="solid"/>
          </a:ln>
        </p:spPr>
      </p:sp>
      <p:sp>
        <p:nvSpPr>
          <p:cNvPr id="16" name="Text 14"/>
          <p:cNvSpPr txBox="1"/>
          <p:nvPr/>
        </p:nvSpPr>
        <p:spPr>
          <a:xfrm>
            <a:off x="6483096" y="239572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7" name="Text 15"/>
          <p:cNvSpPr txBox="1"/>
          <p:nvPr/>
        </p:nvSpPr>
        <p:spPr>
          <a:xfrm>
            <a:off x="6483096" y="2971800"/>
            <a:ext cx="2208276" cy="548640"/>
          </a:xfrm>
          <a:prstGeom prst="rect">
            <a:avLst/>
          </a:prstGeom>
          <a:noFill/>
          <a:ln/>
        </p:spPr>
        <p:txBody>
          <a:bodyPr wrap="square" lIns="0" tIns="0" rIns="0" bIns="0" rtlCol="0" anchor="ctr"/>
          <a:lstStyle/>
          <a:p>
            <a:pPr indent="0" marL="0">
              <a:buNone/>
            </a:pPr>
            <a:r>
              <a:rPr lang="en-US" sz="1550" b="1" dirty="0">
                <a:solidFill>
                  <a:schemeClr val="accent5"/>
                </a:solidFill>
              </a:rPr>
              <a:t>Tutoring is unsafe</a:t>
            </a:r>
            <a:endParaRPr lang="en-US" sz="1550" dirty="0"/>
          </a:p>
        </p:txBody>
      </p:sp>
      <p:sp>
        <p:nvSpPr>
          <p:cNvPr id="18" name="Text 16"/>
          <p:cNvSpPr txBox="1"/>
          <p:nvPr/>
        </p:nvSpPr>
        <p:spPr>
          <a:xfrm>
            <a:off x="6483096" y="3566160"/>
            <a:ext cx="2208276" cy="1280160"/>
          </a:xfrm>
          <a:prstGeom prst="rect">
            <a:avLst/>
          </a:prstGeom>
          <a:noFill/>
          <a:ln/>
        </p:spPr>
        <p:txBody>
          <a:bodyPr wrap="square" lIns="0" tIns="0" rIns="0" bIns="0" rtlCol="0" anchor="ctr"/>
          <a:lstStyle/>
          <a:p>
            <a:pPr indent="0" marL="0">
              <a:lnSpc>
                <a:spcPts val="1700"/>
              </a:lnSpc>
              <a:buNone/>
            </a:pPr>
            <a:r>
              <a:rPr lang="en-US" sz="1250" dirty="0">
                <a:solidFill>
                  <a:schemeClr val="tx1"/>
                </a:solidFill>
              </a:rPr>
              <a:t>Arranged by word of mouth. No verification, no agreed rate, no schedule, no payment record.</a:t>
            </a:r>
            <a:endParaRPr lang="en-US" sz="1250" dirty="0"/>
          </a:p>
        </p:txBody>
      </p:sp>
      <p:sp>
        <p:nvSpPr>
          <p:cNvPr id="19" name="prob-3"/>
          <p:cNvSpPr/>
          <p:nvPr/>
        </p:nvSpPr>
        <p:spPr>
          <a:xfrm>
            <a:off x="9057132" y="2148840"/>
            <a:ext cx="2683764" cy="2834640"/>
          </a:xfrm>
          <a:prstGeom prst="roundRect">
            <a:avLst>
              <a:gd name="adj" fmla="val 2385"/>
            </a:avLst>
          </a:prstGeom>
          <a:solidFill>
            <a:srgbClr val="FFFFFF"/>
          </a:solidFill>
          <a:ln w="12700">
            <a:solidFill>
              <a:srgbClr val="DCE5EF"/>
            </a:solidFill>
            <a:prstDash val="solid"/>
          </a:ln>
          <a:effectLst>
            <a:outerShdw sx="100000" sy="100000" kx="0" ky="0" algn="bl" rotWithShape="0" blurRad="127000" dist="25400" dir="5400000">
              <a:srgbClr val="0F3057">
                <a:alpha val="10000"/>
              </a:srgbClr>
            </a:outerShdw>
          </a:effectLst>
        </p:spPr>
      </p:sp>
      <p:sp>
        <p:nvSpPr>
          <p:cNvPr id="20" name="disc-4"/>
          <p:cNvSpPr/>
          <p:nvPr/>
        </p:nvSpPr>
        <p:spPr>
          <a:xfrm>
            <a:off x="9313164" y="2395728"/>
            <a:ext cx="420624" cy="420624"/>
          </a:xfrm>
          <a:prstGeom prst="ellipse">
            <a:avLst/>
          </a:prstGeom>
          <a:solidFill>
            <a:schemeClr val="accent5"/>
          </a:solidFill>
          <a:ln w="12700">
            <a:solidFill>
              <a:schemeClr val="accent5"/>
            </a:solidFill>
            <a:prstDash val="solid"/>
          </a:ln>
        </p:spPr>
      </p:sp>
      <p:sp>
        <p:nvSpPr>
          <p:cNvPr id="21" name="Text 19"/>
          <p:cNvSpPr txBox="1"/>
          <p:nvPr/>
        </p:nvSpPr>
        <p:spPr>
          <a:xfrm>
            <a:off x="9313164" y="239572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2" name="Text 20"/>
          <p:cNvSpPr txBox="1"/>
          <p:nvPr/>
        </p:nvSpPr>
        <p:spPr>
          <a:xfrm>
            <a:off x="9313164" y="2971800"/>
            <a:ext cx="2208276" cy="548640"/>
          </a:xfrm>
          <a:prstGeom prst="rect">
            <a:avLst/>
          </a:prstGeom>
          <a:noFill/>
          <a:ln/>
        </p:spPr>
        <p:txBody>
          <a:bodyPr wrap="square" lIns="0" tIns="0" rIns="0" bIns="0" rtlCol="0" anchor="ctr"/>
          <a:lstStyle/>
          <a:p>
            <a:pPr indent="0" marL="0">
              <a:buNone/>
            </a:pPr>
            <a:r>
              <a:rPr lang="en-US" sz="1550" b="1" dirty="0">
                <a:solidFill>
                  <a:schemeClr val="accent5"/>
                </a:solidFill>
              </a:rPr>
              <a:t>Platforms do not fit</a:t>
            </a:r>
            <a:endParaRPr lang="en-US" sz="1550" dirty="0"/>
          </a:p>
        </p:txBody>
      </p:sp>
      <p:sp>
        <p:nvSpPr>
          <p:cNvPr id="23" name="Text 21"/>
          <p:cNvSpPr txBox="1"/>
          <p:nvPr/>
        </p:nvSpPr>
        <p:spPr>
          <a:xfrm>
            <a:off x="9313164" y="3566160"/>
            <a:ext cx="2208276" cy="1280160"/>
          </a:xfrm>
          <a:prstGeom prst="rect">
            <a:avLst/>
          </a:prstGeom>
          <a:noFill/>
          <a:ln/>
        </p:spPr>
        <p:txBody>
          <a:bodyPr wrap="square" lIns="0" tIns="0" rIns="0" bIns="0" rtlCol="0" anchor="ctr"/>
          <a:lstStyle/>
          <a:p>
            <a:pPr indent="0" marL="0">
              <a:lnSpc>
                <a:spcPts val="1700"/>
              </a:lnSpc>
              <a:buNone/>
            </a:pPr>
            <a:r>
              <a:rPr lang="en-US" sz="1250" dirty="0">
                <a:solidFill>
                  <a:schemeClr val="tx1"/>
                </a:solidFill>
              </a:rPr>
              <a:t>International alternatives assume card payment, foreign currency, generous bandwidth, a different curriculum.</a:t>
            </a:r>
            <a:endParaRPr lang="en-US" sz="1250" dirty="0"/>
          </a:p>
        </p:txBody>
      </p:sp>
      <p:sp>
        <p:nvSpPr>
          <p:cNvPr id="24" name="Text 22"/>
          <p:cNvSpPr txBox="1"/>
          <p:nvPr/>
        </p:nvSpPr>
        <p:spPr>
          <a:xfrm>
            <a:off x="566928" y="5212080"/>
            <a:ext cx="11027664" cy="365760"/>
          </a:xfrm>
          <a:prstGeom prst="rect">
            <a:avLst/>
          </a:prstGeom>
          <a:noFill/>
          <a:ln/>
        </p:spPr>
        <p:txBody>
          <a:bodyPr wrap="square" rtlCol="0" anchor="ctr"/>
          <a:lstStyle/>
          <a:p>
            <a:pPr indent="0" marL="0">
              <a:buNone/>
            </a:pPr>
            <a:r>
              <a:rPr lang="en-US" sz="1350" i="1" dirty="0">
                <a:solidFill>
                  <a:schemeClr val="accent6"/>
                </a:solidFill>
              </a:rPr>
              <a:t>Each of these four is a separate failure. A solution has to address all four, or students fall back to WhatsApp.</a:t>
            </a:r>
            <a:endParaRPr lang="en-US" sz="1350" dirty="0"/>
          </a:p>
        </p:txBody>
      </p:sp>
      <p:sp>
        <p:nvSpPr>
          <p:cNvPr id="25" name="Slide Number Placeholder 0"/>
          <p:cNvSpPr>
            <a:spLocks noGrp="1"/>
          </p:cNvSpPr>
          <p:nvPr>
            <p:ph type="sldNum" sz="quarter" idx="4294967295"/>
          </p:nvPr>
        </p:nvSpPr>
        <p:spPr>
          <a:xfrm>
            <a:off x="11430000" y="6327648"/>
            <a:ext cx="45720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64748B"/>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566928" y="384048"/>
            <a:ext cx="11027664" cy="713232"/>
          </a:xfrm>
          <a:prstGeom prst="rect">
            <a:avLst/>
          </a:prstGeom>
          <a:noFill/>
          <a:ln/>
        </p:spPr>
        <p:txBody>
          <a:bodyPr wrap="square" rtlCol="0"/>
          <a:lstStyle/>
          <a:p>
            <a:pPr indent="0" marL="0">
              <a:buNone/>
            </a:pPr>
            <a:r>
              <a:rPr lang="en-US" sz="3200" b="1" dirty="0">
                <a:solidFill>
                  <a:srgbClr val="0F3057"/>
                </a:solidFill>
              </a:rPr>
              <a:t>Aim and objectives</a:t>
            </a:r>
            <a:endParaRPr lang="en-US" sz="3200" dirty="0"/>
          </a:p>
        </p:txBody>
      </p:sp>
      <p:sp>
        <p:nvSpPr>
          <p:cNvPr id="3" name="aim"/>
          <p:cNvSpPr/>
          <p:nvPr/>
        </p:nvSpPr>
        <p:spPr>
          <a:xfrm>
            <a:off x="566928" y="1115568"/>
            <a:ext cx="11027664" cy="868680"/>
          </a:xfrm>
          <a:prstGeom prst="roundRect">
            <a:avLst>
              <a:gd name="adj" fmla="val 7368"/>
            </a:avLst>
          </a:prstGeom>
          <a:solidFill>
            <a:srgbClr val="0F3057"/>
          </a:solidFill>
          <a:ln w="12700">
            <a:solidFill>
              <a:srgbClr val="0F3057"/>
            </a:solidFill>
            <a:prstDash val="solid"/>
          </a:ln>
        </p:spPr>
      </p:sp>
      <p:sp>
        <p:nvSpPr>
          <p:cNvPr id="4" name="Text 2"/>
          <p:cNvSpPr txBox="1"/>
          <p:nvPr/>
        </p:nvSpPr>
        <p:spPr>
          <a:xfrm>
            <a:off x="841248" y="1234440"/>
            <a:ext cx="10479024" cy="640080"/>
          </a:xfrm>
          <a:prstGeom prst="rect">
            <a:avLst/>
          </a:prstGeom>
          <a:noFill/>
          <a:ln/>
        </p:spPr>
        <p:txBody>
          <a:bodyPr wrap="square" rtlCol="0" anchor="ctr"/>
          <a:lstStyle/>
          <a:p>
            <a:pPr indent="0" marL="0">
              <a:lnSpc>
                <a:spcPts val="2100"/>
              </a:lnSpc>
              <a:buNone/>
            </a:pPr>
            <a:r>
              <a:rPr lang="en-US" sz="1100" b="1" spc="200" kern="0" dirty="0">
                <a:solidFill>
                  <a:srgbClr val="C77C1E"/>
                </a:solidFill>
              </a:rPr>
              <a:t>AIM   </a:t>
            </a:r>
            <a:pPr indent="0" marL="0">
              <a:lnSpc>
                <a:spcPts val="2100"/>
              </a:lnSpc>
              <a:buNone/>
            </a:pPr>
            <a:r>
              <a:rPr lang="en-US" sz="1450" dirty="0">
                <a:solidFill>
                  <a:srgbClr val="FFFFFF"/>
                </a:solidFill>
              </a:rPr>
              <a:t>To design, implement and deploy a secure, accessible web platform consolidating peer-to-peer academic collaboration and paid peer tutoring, using payment instruments appropriate to the local context.</a:t>
            </a:r>
            <a:endParaRPr lang="en-US" sz="1100" dirty="0"/>
          </a:p>
        </p:txBody>
      </p:sp>
      <p:sp>
        <p:nvSpPr>
          <p:cNvPr id="5" name="obj-0"/>
          <p:cNvSpPr/>
          <p:nvPr/>
        </p:nvSpPr>
        <p:spPr>
          <a:xfrm>
            <a:off x="566928" y="2286000"/>
            <a:ext cx="3602736" cy="1042416"/>
          </a:xfrm>
          <a:prstGeom prst="roundRect">
            <a:avLst>
              <a:gd name="adj" fmla="val 6140"/>
            </a:avLst>
          </a:prstGeom>
          <a:solidFill>
            <a:schemeClr val="bg2"/>
          </a:solidFill>
          <a:ln w="12700">
            <a:solidFill>
              <a:srgbClr val="DCE5EF"/>
            </a:solidFill>
            <a:prstDash val="solid"/>
          </a:ln>
        </p:spPr>
      </p:sp>
      <p:sp>
        <p:nvSpPr>
          <p:cNvPr id="6" name="Text 4"/>
          <p:cNvSpPr txBox="1"/>
          <p:nvPr/>
        </p:nvSpPr>
        <p:spPr>
          <a:xfrm>
            <a:off x="804672" y="2441448"/>
            <a:ext cx="731520" cy="320040"/>
          </a:xfrm>
          <a:prstGeom prst="rect">
            <a:avLst/>
          </a:prstGeom>
          <a:noFill/>
          <a:ln/>
        </p:spPr>
        <p:txBody>
          <a:bodyPr wrap="square" lIns="0" tIns="0" rIns="0" bIns="0" rtlCol="0" anchor="ctr"/>
          <a:lstStyle/>
          <a:p>
            <a:pPr indent="0" marL="0">
              <a:buNone/>
            </a:pPr>
            <a:r>
              <a:rPr lang="en-US" sz="1500" b="1" dirty="0">
                <a:solidFill>
                  <a:schemeClr val="accent3"/>
                </a:solidFill>
              </a:rPr>
              <a:t>O1</a:t>
            </a:r>
            <a:endParaRPr lang="en-US" sz="1500" dirty="0"/>
          </a:p>
        </p:txBody>
      </p:sp>
      <p:sp>
        <p:nvSpPr>
          <p:cNvPr id="7" name="Text 5"/>
          <p:cNvSpPr txBox="1"/>
          <p:nvPr/>
        </p:nvSpPr>
        <p:spPr>
          <a:xfrm>
            <a:off x="804672" y="2761488"/>
            <a:ext cx="3127248" cy="502920"/>
          </a:xfrm>
          <a:prstGeom prst="rect">
            <a:avLst/>
          </a:prstGeom>
          <a:noFill/>
          <a:ln/>
        </p:spPr>
        <p:txBody>
          <a:bodyPr wrap="square" lIns="0" tIns="0" rIns="0" bIns="0" rtlCol="0" anchor="ctr"/>
          <a:lstStyle/>
          <a:p>
            <a:pPr indent="0" marL="0">
              <a:lnSpc>
                <a:spcPts val="1600"/>
              </a:lnSpc>
              <a:buNone/>
            </a:pPr>
            <a:r>
              <a:rPr lang="en-US" sz="1250" dirty="0">
                <a:solidFill>
                  <a:schemeClr val="tx1"/>
                </a:solidFill>
              </a:rPr>
              <a:t>Analyse requirements and the shortcomings of existing systems</a:t>
            </a:r>
            <a:endParaRPr lang="en-US" sz="1250" dirty="0"/>
          </a:p>
        </p:txBody>
      </p:sp>
      <p:sp>
        <p:nvSpPr>
          <p:cNvPr id="8" name="obj-1"/>
          <p:cNvSpPr/>
          <p:nvPr/>
        </p:nvSpPr>
        <p:spPr>
          <a:xfrm>
            <a:off x="4315968" y="2286000"/>
            <a:ext cx="3602736" cy="1042416"/>
          </a:xfrm>
          <a:prstGeom prst="roundRect">
            <a:avLst>
              <a:gd name="adj" fmla="val 6140"/>
            </a:avLst>
          </a:prstGeom>
          <a:solidFill>
            <a:schemeClr val="bg2"/>
          </a:solidFill>
          <a:ln w="12700">
            <a:solidFill>
              <a:srgbClr val="DCE5EF"/>
            </a:solidFill>
            <a:prstDash val="solid"/>
          </a:ln>
        </p:spPr>
      </p:sp>
      <p:sp>
        <p:nvSpPr>
          <p:cNvPr id="9" name="Text 7"/>
          <p:cNvSpPr txBox="1"/>
          <p:nvPr/>
        </p:nvSpPr>
        <p:spPr>
          <a:xfrm>
            <a:off x="4553712" y="2441448"/>
            <a:ext cx="731520" cy="320040"/>
          </a:xfrm>
          <a:prstGeom prst="rect">
            <a:avLst/>
          </a:prstGeom>
          <a:noFill/>
          <a:ln/>
        </p:spPr>
        <p:txBody>
          <a:bodyPr wrap="square" lIns="0" tIns="0" rIns="0" bIns="0" rtlCol="0" anchor="ctr"/>
          <a:lstStyle/>
          <a:p>
            <a:pPr indent="0" marL="0">
              <a:buNone/>
            </a:pPr>
            <a:r>
              <a:rPr lang="en-US" sz="1500" b="1" dirty="0">
                <a:solidFill>
                  <a:schemeClr val="accent3"/>
                </a:solidFill>
              </a:rPr>
              <a:t>O2</a:t>
            </a:r>
            <a:endParaRPr lang="en-US" sz="1500" dirty="0"/>
          </a:p>
        </p:txBody>
      </p:sp>
      <p:sp>
        <p:nvSpPr>
          <p:cNvPr id="10" name="Text 8"/>
          <p:cNvSpPr txBox="1"/>
          <p:nvPr/>
        </p:nvSpPr>
        <p:spPr>
          <a:xfrm>
            <a:off x="4553712" y="2761488"/>
            <a:ext cx="3127248" cy="502920"/>
          </a:xfrm>
          <a:prstGeom prst="rect">
            <a:avLst/>
          </a:prstGeom>
          <a:noFill/>
          <a:ln/>
        </p:spPr>
        <p:txBody>
          <a:bodyPr wrap="square" lIns="0" tIns="0" rIns="0" bIns="0" rtlCol="0" anchor="ctr"/>
          <a:lstStyle/>
          <a:p>
            <a:pPr indent="0" marL="0">
              <a:lnSpc>
                <a:spcPts val="1600"/>
              </a:lnSpc>
              <a:buNone/>
            </a:pPr>
            <a:r>
              <a:rPr lang="en-US" sz="1250" dirty="0">
                <a:solidFill>
                  <a:schemeClr val="tx1"/>
                </a:solidFill>
              </a:rPr>
              <a:t>Design a scalable architecture and normalised data model</a:t>
            </a:r>
            <a:endParaRPr lang="en-US" sz="1250" dirty="0"/>
          </a:p>
        </p:txBody>
      </p:sp>
      <p:sp>
        <p:nvSpPr>
          <p:cNvPr id="11" name="obj-2"/>
          <p:cNvSpPr/>
          <p:nvPr/>
        </p:nvSpPr>
        <p:spPr>
          <a:xfrm>
            <a:off x="8065008" y="2286000"/>
            <a:ext cx="3602736" cy="1042416"/>
          </a:xfrm>
          <a:prstGeom prst="roundRect">
            <a:avLst>
              <a:gd name="adj" fmla="val 6140"/>
            </a:avLst>
          </a:prstGeom>
          <a:solidFill>
            <a:schemeClr val="bg2"/>
          </a:solidFill>
          <a:ln w="12700">
            <a:solidFill>
              <a:srgbClr val="DCE5EF"/>
            </a:solidFill>
            <a:prstDash val="solid"/>
          </a:ln>
        </p:spPr>
      </p:sp>
      <p:sp>
        <p:nvSpPr>
          <p:cNvPr id="12" name="Text 10"/>
          <p:cNvSpPr txBox="1"/>
          <p:nvPr/>
        </p:nvSpPr>
        <p:spPr>
          <a:xfrm>
            <a:off x="8302752" y="2441448"/>
            <a:ext cx="731520" cy="320040"/>
          </a:xfrm>
          <a:prstGeom prst="rect">
            <a:avLst/>
          </a:prstGeom>
          <a:noFill/>
          <a:ln/>
        </p:spPr>
        <p:txBody>
          <a:bodyPr wrap="square" lIns="0" tIns="0" rIns="0" bIns="0" rtlCol="0" anchor="ctr"/>
          <a:lstStyle/>
          <a:p>
            <a:pPr indent="0" marL="0">
              <a:buNone/>
            </a:pPr>
            <a:r>
              <a:rPr lang="en-US" sz="1500" b="1" dirty="0">
                <a:solidFill>
                  <a:schemeClr val="accent3"/>
                </a:solidFill>
              </a:rPr>
              <a:t>O3</a:t>
            </a:r>
            <a:endParaRPr lang="en-US" sz="1500" dirty="0"/>
          </a:p>
        </p:txBody>
      </p:sp>
      <p:sp>
        <p:nvSpPr>
          <p:cNvPr id="13" name="Text 11"/>
          <p:cNvSpPr txBox="1"/>
          <p:nvPr/>
        </p:nvSpPr>
        <p:spPr>
          <a:xfrm>
            <a:off x="8302752" y="2761488"/>
            <a:ext cx="3127248" cy="502920"/>
          </a:xfrm>
          <a:prstGeom prst="rect">
            <a:avLst/>
          </a:prstGeom>
          <a:noFill/>
          <a:ln/>
        </p:spPr>
        <p:txBody>
          <a:bodyPr wrap="square" lIns="0" tIns="0" rIns="0" bIns="0" rtlCol="0" anchor="ctr"/>
          <a:lstStyle/>
          <a:p>
            <a:pPr indent="0" marL="0">
              <a:lnSpc>
                <a:spcPts val="1600"/>
              </a:lnSpc>
              <a:buNone/>
            </a:pPr>
            <a:r>
              <a:rPr lang="en-US" sz="1250" dirty="0">
                <a:solidFill>
                  <a:schemeClr val="tx1"/>
                </a:solidFill>
              </a:rPr>
              <a:t>Implement groups, notes and the Q&amp;A forum</a:t>
            </a:r>
            <a:endParaRPr lang="en-US" sz="1250" dirty="0"/>
          </a:p>
        </p:txBody>
      </p:sp>
      <p:sp>
        <p:nvSpPr>
          <p:cNvPr id="14" name="obj-3"/>
          <p:cNvSpPr/>
          <p:nvPr/>
        </p:nvSpPr>
        <p:spPr>
          <a:xfrm>
            <a:off x="566928" y="3493008"/>
            <a:ext cx="3602736" cy="1042416"/>
          </a:xfrm>
          <a:prstGeom prst="roundRect">
            <a:avLst>
              <a:gd name="adj" fmla="val 6140"/>
            </a:avLst>
          </a:prstGeom>
          <a:solidFill>
            <a:schemeClr val="bg2"/>
          </a:solidFill>
          <a:ln w="12700">
            <a:solidFill>
              <a:srgbClr val="DCE5EF"/>
            </a:solidFill>
            <a:prstDash val="solid"/>
          </a:ln>
        </p:spPr>
      </p:sp>
      <p:sp>
        <p:nvSpPr>
          <p:cNvPr id="15" name="Text 13"/>
          <p:cNvSpPr txBox="1"/>
          <p:nvPr/>
        </p:nvSpPr>
        <p:spPr>
          <a:xfrm>
            <a:off x="804672" y="3648456"/>
            <a:ext cx="731520" cy="320040"/>
          </a:xfrm>
          <a:prstGeom prst="rect">
            <a:avLst/>
          </a:prstGeom>
          <a:noFill/>
          <a:ln/>
        </p:spPr>
        <p:txBody>
          <a:bodyPr wrap="square" lIns="0" tIns="0" rIns="0" bIns="0" rtlCol="0" anchor="ctr"/>
          <a:lstStyle/>
          <a:p>
            <a:pPr indent="0" marL="0">
              <a:buNone/>
            </a:pPr>
            <a:r>
              <a:rPr lang="en-US" sz="1500" b="1" dirty="0">
                <a:solidFill>
                  <a:schemeClr val="accent3"/>
                </a:solidFill>
              </a:rPr>
              <a:t>O4</a:t>
            </a:r>
            <a:endParaRPr lang="en-US" sz="1500" dirty="0"/>
          </a:p>
        </p:txBody>
      </p:sp>
      <p:sp>
        <p:nvSpPr>
          <p:cNvPr id="16" name="Text 14"/>
          <p:cNvSpPr txBox="1"/>
          <p:nvPr/>
        </p:nvSpPr>
        <p:spPr>
          <a:xfrm>
            <a:off x="804672" y="3968496"/>
            <a:ext cx="3127248" cy="502920"/>
          </a:xfrm>
          <a:prstGeom prst="rect">
            <a:avLst/>
          </a:prstGeom>
          <a:noFill/>
          <a:ln/>
        </p:spPr>
        <p:txBody>
          <a:bodyPr wrap="square" lIns="0" tIns="0" rIns="0" bIns="0" rtlCol="0" anchor="ctr"/>
          <a:lstStyle/>
          <a:p>
            <a:pPr indent="0" marL="0">
              <a:lnSpc>
                <a:spcPts val="1600"/>
              </a:lnSpc>
              <a:buNone/>
            </a:pPr>
            <a:r>
              <a:rPr lang="en-US" sz="1250" dirty="0">
                <a:solidFill>
                  <a:schemeClr val="tx1"/>
                </a:solidFill>
              </a:rPr>
              <a:t>Implement the peer-tutoring marketplace</a:t>
            </a:r>
            <a:endParaRPr lang="en-US" sz="1250" dirty="0"/>
          </a:p>
        </p:txBody>
      </p:sp>
      <p:sp>
        <p:nvSpPr>
          <p:cNvPr id="17" name="obj-4"/>
          <p:cNvSpPr/>
          <p:nvPr/>
        </p:nvSpPr>
        <p:spPr>
          <a:xfrm>
            <a:off x="4315968" y="3493008"/>
            <a:ext cx="3602736" cy="1042416"/>
          </a:xfrm>
          <a:prstGeom prst="roundRect">
            <a:avLst>
              <a:gd name="adj" fmla="val 6140"/>
            </a:avLst>
          </a:prstGeom>
          <a:solidFill>
            <a:schemeClr val="bg2"/>
          </a:solidFill>
          <a:ln w="12700">
            <a:solidFill>
              <a:srgbClr val="DCE5EF"/>
            </a:solidFill>
            <a:prstDash val="solid"/>
          </a:ln>
        </p:spPr>
      </p:sp>
      <p:sp>
        <p:nvSpPr>
          <p:cNvPr id="18" name="Text 16"/>
          <p:cNvSpPr txBox="1"/>
          <p:nvPr/>
        </p:nvSpPr>
        <p:spPr>
          <a:xfrm>
            <a:off x="4553712" y="3648456"/>
            <a:ext cx="731520" cy="320040"/>
          </a:xfrm>
          <a:prstGeom prst="rect">
            <a:avLst/>
          </a:prstGeom>
          <a:noFill/>
          <a:ln/>
        </p:spPr>
        <p:txBody>
          <a:bodyPr wrap="square" lIns="0" tIns="0" rIns="0" bIns="0" rtlCol="0" anchor="ctr"/>
          <a:lstStyle/>
          <a:p>
            <a:pPr indent="0" marL="0">
              <a:buNone/>
            </a:pPr>
            <a:r>
              <a:rPr lang="en-US" sz="1500" b="1" dirty="0">
                <a:solidFill>
                  <a:schemeClr val="accent3"/>
                </a:solidFill>
              </a:rPr>
              <a:t>O5</a:t>
            </a:r>
            <a:endParaRPr lang="en-US" sz="1500" dirty="0"/>
          </a:p>
        </p:txBody>
      </p:sp>
      <p:sp>
        <p:nvSpPr>
          <p:cNvPr id="19" name="Text 17"/>
          <p:cNvSpPr txBox="1"/>
          <p:nvPr/>
        </p:nvSpPr>
        <p:spPr>
          <a:xfrm>
            <a:off x="4553712" y="3968496"/>
            <a:ext cx="3127248" cy="502920"/>
          </a:xfrm>
          <a:prstGeom prst="rect">
            <a:avLst/>
          </a:prstGeom>
          <a:noFill/>
          <a:ln/>
        </p:spPr>
        <p:txBody>
          <a:bodyPr wrap="square" lIns="0" tIns="0" rIns="0" bIns="0" rtlCol="0" anchor="ctr"/>
          <a:lstStyle/>
          <a:p>
            <a:pPr indent="0" marL="0">
              <a:lnSpc>
                <a:spcPts val="1600"/>
              </a:lnSpc>
              <a:buNone/>
            </a:pPr>
            <a:r>
              <a:rPr lang="en-US" sz="1250" dirty="0">
                <a:solidFill>
                  <a:schemeClr val="tx1"/>
                </a:solidFill>
              </a:rPr>
              <a:t>Integrate mobile money with verifiable settlement</a:t>
            </a:r>
            <a:endParaRPr lang="en-US" sz="1250" dirty="0"/>
          </a:p>
        </p:txBody>
      </p:sp>
      <p:sp>
        <p:nvSpPr>
          <p:cNvPr id="20" name="obj-5"/>
          <p:cNvSpPr/>
          <p:nvPr/>
        </p:nvSpPr>
        <p:spPr>
          <a:xfrm>
            <a:off x="8065008" y="3493008"/>
            <a:ext cx="3602736" cy="1042416"/>
          </a:xfrm>
          <a:prstGeom prst="roundRect">
            <a:avLst>
              <a:gd name="adj" fmla="val 6140"/>
            </a:avLst>
          </a:prstGeom>
          <a:solidFill>
            <a:schemeClr val="bg2"/>
          </a:solidFill>
          <a:ln w="12700">
            <a:solidFill>
              <a:srgbClr val="DCE5EF"/>
            </a:solidFill>
            <a:prstDash val="solid"/>
          </a:ln>
        </p:spPr>
      </p:sp>
      <p:sp>
        <p:nvSpPr>
          <p:cNvPr id="21" name="Text 19"/>
          <p:cNvSpPr txBox="1"/>
          <p:nvPr/>
        </p:nvSpPr>
        <p:spPr>
          <a:xfrm>
            <a:off x="8302752" y="3648456"/>
            <a:ext cx="731520" cy="320040"/>
          </a:xfrm>
          <a:prstGeom prst="rect">
            <a:avLst/>
          </a:prstGeom>
          <a:noFill/>
          <a:ln/>
        </p:spPr>
        <p:txBody>
          <a:bodyPr wrap="square" lIns="0" tIns="0" rIns="0" bIns="0" rtlCol="0" anchor="ctr"/>
          <a:lstStyle/>
          <a:p>
            <a:pPr indent="0" marL="0">
              <a:buNone/>
            </a:pPr>
            <a:r>
              <a:rPr lang="en-US" sz="1500" b="1" dirty="0">
                <a:solidFill>
                  <a:schemeClr val="accent3"/>
                </a:solidFill>
              </a:rPr>
              <a:t>O6</a:t>
            </a:r>
            <a:endParaRPr lang="en-US" sz="1500" dirty="0"/>
          </a:p>
        </p:txBody>
      </p:sp>
      <p:sp>
        <p:nvSpPr>
          <p:cNvPr id="22" name="Text 20"/>
          <p:cNvSpPr txBox="1"/>
          <p:nvPr/>
        </p:nvSpPr>
        <p:spPr>
          <a:xfrm>
            <a:off x="8302752" y="3968496"/>
            <a:ext cx="3127248" cy="502920"/>
          </a:xfrm>
          <a:prstGeom prst="rect">
            <a:avLst/>
          </a:prstGeom>
          <a:noFill/>
          <a:ln/>
        </p:spPr>
        <p:txBody>
          <a:bodyPr wrap="square" lIns="0" tIns="0" rIns="0" bIns="0" rtlCol="0" anchor="ctr"/>
          <a:lstStyle/>
          <a:p>
            <a:pPr indent="0" marL="0">
              <a:lnSpc>
                <a:spcPts val="1600"/>
              </a:lnSpc>
              <a:buNone/>
            </a:pPr>
            <a:r>
              <a:rPr lang="en-US" sz="1250" dirty="0">
                <a:solidFill>
                  <a:schemeClr val="tx1"/>
                </a:solidFill>
              </a:rPr>
              <a:t>Enforce access control on paid content</a:t>
            </a:r>
            <a:endParaRPr lang="en-US" sz="1250" dirty="0"/>
          </a:p>
        </p:txBody>
      </p:sp>
      <p:sp>
        <p:nvSpPr>
          <p:cNvPr id="23" name="obj-6"/>
          <p:cNvSpPr/>
          <p:nvPr/>
        </p:nvSpPr>
        <p:spPr>
          <a:xfrm>
            <a:off x="566928" y="4700016"/>
            <a:ext cx="3602736" cy="1042416"/>
          </a:xfrm>
          <a:prstGeom prst="roundRect">
            <a:avLst>
              <a:gd name="adj" fmla="val 6140"/>
            </a:avLst>
          </a:prstGeom>
          <a:solidFill>
            <a:schemeClr val="bg2"/>
          </a:solidFill>
          <a:ln w="12700">
            <a:solidFill>
              <a:srgbClr val="DCE5EF"/>
            </a:solidFill>
            <a:prstDash val="solid"/>
          </a:ln>
        </p:spPr>
      </p:sp>
      <p:sp>
        <p:nvSpPr>
          <p:cNvPr id="24" name="Text 22"/>
          <p:cNvSpPr txBox="1"/>
          <p:nvPr/>
        </p:nvSpPr>
        <p:spPr>
          <a:xfrm>
            <a:off x="804672" y="4855464"/>
            <a:ext cx="731520" cy="320040"/>
          </a:xfrm>
          <a:prstGeom prst="rect">
            <a:avLst/>
          </a:prstGeom>
          <a:noFill/>
          <a:ln/>
        </p:spPr>
        <p:txBody>
          <a:bodyPr wrap="square" lIns="0" tIns="0" rIns="0" bIns="0" rtlCol="0" anchor="ctr"/>
          <a:lstStyle/>
          <a:p>
            <a:pPr indent="0" marL="0">
              <a:buNone/>
            </a:pPr>
            <a:r>
              <a:rPr lang="en-US" sz="1500" b="1" dirty="0">
                <a:solidFill>
                  <a:schemeClr val="accent3"/>
                </a:solidFill>
              </a:rPr>
              <a:t>O7</a:t>
            </a:r>
            <a:endParaRPr lang="en-US" sz="1500" dirty="0"/>
          </a:p>
        </p:txBody>
      </p:sp>
      <p:sp>
        <p:nvSpPr>
          <p:cNvPr id="25" name="Text 23"/>
          <p:cNvSpPr txBox="1"/>
          <p:nvPr/>
        </p:nvSpPr>
        <p:spPr>
          <a:xfrm>
            <a:off x="804672" y="5175504"/>
            <a:ext cx="3127248" cy="502920"/>
          </a:xfrm>
          <a:prstGeom prst="rect">
            <a:avLst/>
          </a:prstGeom>
          <a:noFill/>
          <a:ln/>
        </p:spPr>
        <p:txBody>
          <a:bodyPr wrap="square" lIns="0" tIns="0" rIns="0" bIns="0" rtlCol="0" anchor="ctr"/>
          <a:lstStyle/>
          <a:p>
            <a:pPr indent="0" marL="0">
              <a:lnSpc>
                <a:spcPts val="1600"/>
              </a:lnSpc>
              <a:buNone/>
            </a:pPr>
            <a:r>
              <a:rPr lang="en-US" sz="1250" dirty="0">
                <a:solidFill>
                  <a:schemeClr val="tx1"/>
                </a:solidFill>
              </a:rPr>
              <a:t>Keep the platform usable on constrained networks</a:t>
            </a:r>
            <a:endParaRPr lang="en-US" sz="1250" dirty="0"/>
          </a:p>
        </p:txBody>
      </p:sp>
      <p:sp>
        <p:nvSpPr>
          <p:cNvPr id="26" name="obj-7"/>
          <p:cNvSpPr/>
          <p:nvPr/>
        </p:nvSpPr>
        <p:spPr>
          <a:xfrm>
            <a:off x="4315968" y="4700016"/>
            <a:ext cx="3602736" cy="1042416"/>
          </a:xfrm>
          <a:prstGeom prst="roundRect">
            <a:avLst>
              <a:gd name="adj" fmla="val 6140"/>
            </a:avLst>
          </a:prstGeom>
          <a:solidFill>
            <a:schemeClr val="bg2"/>
          </a:solidFill>
          <a:ln w="12700">
            <a:solidFill>
              <a:srgbClr val="DCE5EF"/>
            </a:solidFill>
            <a:prstDash val="solid"/>
          </a:ln>
        </p:spPr>
      </p:sp>
      <p:sp>
        <p:nvSpPr>
          <p:cNvPr id="27" name="Text 25"/>
          <p:cNvSpPr txBox="1"/>
          <p:nvPr/>
        </p:nvSpPr>
        <p:spPr>
          <a:xfrm>
            <a:off x="4553712" y="4855464"/>
            <a:ext cx="731520" cy="320040"/>
          </a:xfrm>
          <a:prstGeom prst="rect">
            <a:avLst/>
          </a:prstGeom>
          <a:noFill/>
          <a:ln/>
        </p:spPr>
        <p:txBody>
          <a:bodyPr wrap="square" lIns="0" tIns="0" rIns="0" bIns="0" rtlCol="0" anchor="ctr"/>
          <a:lstStyle/>
          <a:p>
            <a:pPr indent="0" marL="0">
              <a:buNone/>
            </a:pPr>
            <a:r>
              <a:rPr lang="en-US" sz="1500" b="1" dirty="0">
                <a:solidFill>
                  <a:schemeClr val="accent3"/>
                </a:solidFill>
              </a:rPr>
              <a:t>O8</a:t>
            </a:r>
            <a:endParaRPr lang="en-US" sz="1500" dirty="0"/>
          </a:p>
        </p:txBody>
      </p:sp>
      <p:sp>
        <p:nvSpPr>
          <p:cNvPr id="28" name="Text 26"/>
          <p:cNvSpPr txBox="1"/>
          <p:nvPr/>
        </p:nvSpPr>
        <p:spPr>
          <a:xfrm>
            <a:off x="4553712" y="5175504"/>
            <a:ext cx="3127248" cy="502920"/>
          </a:xfrm>
          <a:prstGeom prst="rect">
            <a:avLst/>
          </a:prstGeom>
          <a:noFill/>
          <a:ln/>
        </p:spPr>
        <p:txBody>
          <a:bodyPr wrap="square" lIns="0" tIns="0" rIns="0" bIns="0" rtlCol="0" anchor="ctr"/>
          <a:lstStyle/>
          <a:p>
            <a:pPr indent="0" marL="0">
              <a:lnSpc>
                <a:spcPts val="1600"/>
              </a:lnSpc>
              <a:buNone/>
            </a:pPr>
            <a:r>
              <a:rPr lang="en-US" sz="1250" dirty="0">
                <a:solidFill>
                  <a:schemeClr val="tx1"/>
                </a:solidFill>
              </a:rPr>
              <a:t>Deliver the interface in English and French</a:t>
            </a:r>
            <a:endParaRPr lang="en-US" sz="1250" dirty="0"/>
          </a:p>
        </p:txBody>
      </p:sp>
      <p:sp>
        <p:nvSpPr>
          <p:cNvPr id="29" name="obj-8"/>
          <p:cNvSpPr/>
          <p:nvPr/>
        </p:nvSpPr>
        <p:spPr>
          <a:xfrm>
            <a:off x="8065008" y="4700016"/>
            <a:ext cx="3602736" cy="1042416"/>
          </a:xfrm>
          <a:prstGeom prst="roundRect">
            <a:avLst>
              <a:gd name="adj" fmla="val 6140"/>
            </a:avLst>
          </a:prstGeom>
          <a:solidFill>
            <a:schemeClr val="bg2"/>
          </a:solidFill>
          <a:ln w="12700">
            <a:solidFill>
              <a:srgbClr val="DCE5EF"/>
            </a:solidFill>
            <a:prstDash val="solid"/>
          </a:ln>
        </p:spPr>
      </p:sp>
      <p:sp>
        <p:nvSpPr>
          <p:cNvPr id="30" name="Text 28"/>
          <p:cNvSpPr txBox="1"/>
          <p:nvPr/>
        </p:nvSpPr>
        <p:spPr>
          <a:xfrm>
            <a:off x="8302752" y="4855464"/>
            <a:ext cx="731520" cy="320040"/>
          </a:xfrm>
          <a:prstGeom prst="rect">
            <a:avLst/>
          </a:prstGeom>
          <a:noFill/>
          <a:ln/>
        </p:spPr>
        <p:txBody>
          <a:bodyPr wrap="square" lIns="0" tIns="0" rIns="0" bIns="0" rtlCol="0" anchor="ctr"/>
          <a:lstStyle/>
          <a:p>
            <a:pPr indent="0" marL="0">
              <a:buNone/>
            </a:pPr>
            <a:r>
              <a:rPr lang="en-US" sz="1500" b="1" dirty="0">
                <a:solidFill>
                  <a:schemeClr val="accent3"/>
                </a:solidFill>
              </a:rPr>
              <a:t>O9</a:t>
            </a:r>
            <a:endParaRPr lang="en-US" sz="1500" dirty="0"/>
          </a:p>
        </p:txBody>
      </p:sp>
      <p:sp>
        <p:nvSpPr>
          <p:cNvPr id="31" name="Text 29"/>
          <p:cNvSpPr txBox="1"/>
          <p:nvPr/>
        </p:nvSpPr>
        <p:spPr>
          <a:xfrm>
            <a:off x="8302752" y="5175504"/>
            <a:ext cx="3127248" cy="502920"/>
          </a:xfrm>
          <a:prstGeom prst="rect">
            <a:avLst/>
          </a:prstGeom>
          <a:noFill/>
          <a:ln/>
        </p:spPr>
        <p:txBody>
          <a:bodyPr wrap="square" lIns="0" tIns="0" rIns="0" bIns="0" rtlCol="0" anchor="ctr"/>
          <a:lstStyle/>
          <a:p>
            <a:pPr indent="0" marL="0">
              <a:lnSpc>
                <a:spcPts val="1600"/>
              </a:lnSpc>
              <a:buNone/>
            </a:pPr>
            <a:r>
              <a:rPr lang="en-US" sz="1250" dirty="0">
                <a:solidFill>
                  <a:schemeClr val="tx1"/>
                </a:solidFill>
              </a:rPr>
              <a:t>Deploy publicly and validate against requirements</a:t>
            </a:r>
            <a:endParaRPr lang="en-US" sz="1250" dirty="0"/>
          </a:p>
        </p:txBody>
      </p:sp>
      <p:sp>
        <p:nvSpPr>
          <p:cNvPr id="25" name="Slide Number Placeholder 0"/>
          <p:cNvSpPr>
            <a:spLocks noGrp="1"/>
          </p:cNvSpPr>
          <p:nvPr>
            <p:ph type="sldNum" sz="quarter" idx="4294967295"/>
          </p:nvPr>
        </p:nvSpPr>
        <p:spPr>
          <a:xfrm>
            <a:off x="11430000" y="6327648"/>
            <a:ext cx="45720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64748B"/>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566928" y="384048"/>
            <a:ext cx="11027664" cy="713232"/>
          </a:xfrm>
          <a:prstGeom prst="rect">
            <a:avLst/>
          </a:prstGeom>
          <a:noFill/>
          <a:ln/>
        </p:spPr>
        <p:txBody>
          <a:bodyPr wrap="square" rtlCol="0"/>
          <a:lstStyle/>
          <a:p>
            <a:pPr indent="0" marL="0">
              <a:buNone/>
            </a:pPr>
            <a:r>
              <a:rPr lang="en-US" sz="3200" b="1" dirty="0">
                <a:solidFill>
                  <a:srgbClr val="0F3057"/>
                </a:solidFill>
              </a:rPr>
              <a:t>What already exists, and where it stops</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66928" y="1325880"/>
          <a:ext cx="11027664" cy="914400"/>
        </p:xfrm>
        <a:graphic>
          <a:graphicData uri="http://schemas.openxmlformats.org/drawingml/2006/table">
            <a:tbl>
              <a:tblPr/>
              <a:tblGrid>
                <a:gridCol w="3200400"/>
                <a:gridCol w="1280160"/>
                <a:gridCol w="1280160"/>
                <a:gridCol w="1371600"/>
                <a:gridCol w="1371600"/>
                <a:gridCol w="1371600"/>
                <a:gridCol w="1152144"/>
              </a:tblGrid>
              <a:tr h="420624">
                <a:tc>
                  <a:txBody>
                    <a:bodyPr/>
                    <a:lstStyle/>
                    <a:p>
                      <a:pPr algn="l" indent="0" marL="0">
                        <a:buNone/>
                      </a:pPr>
                      <a:r>
                        <a:rPr lang="en-US" sz="1250" b="1" dirty="0">
                          <a:solidFill>
                            <a:srgbClr val="FFFFFF"/>
                          </a:solidFill>
                        </a:rPr>
                        <a:t>System</a:t>
                      </a:r>
                      <a:endParaRPr lang="en-US" sz="12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0F3057"/>
                    </a:solidFill>
                  </a:tcPr>
                </a:tc>
                <a:tc>
                  <a:txBody>
                    <a:bodyPr/>
                    <a:lstStyle/>
                    <a:p>
                      <a:pPr algn="ctr" indent="0" marL="0">
                        <a:buNone/>
                      </a:pPr>
                      <a:r>
                        <a:rPr lang="en-US" sz="1250" b="1" dirty="0">
                          <a:solidFill>
                            <a:srgbClr val="FFFFFF"/>
                          </a:solidFill>
                        </a:rPr>
                        <a:t>Peer-to-peer</a:t>
                      </a:r>
                      <a:endParaRPr lang="en-US" sz="12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0F3057"/>
                    </a:solidFill>
                  </a:tcPr>
                </a:tc>
                <a:tc>
                  <a:txBody>
                    <a:bodyPr/>
                    <a:lstStyle/>
                    <a:p>
                      <a:pPr algn="ctr" indent="0" marL="0">
                        <a:buNone/>
                      </a:pPr>
                      <a:r>
                        <a:rPr lang="en-US" sz="1250" b="1" dirty="0">
                          <a:solidFill>
                            <a:srgbClr val="FFFFFF"/>
                          </a:solidFill>
                        </a:rPr>
                        <a:t>Persistent</a:t>
                      </a:r>
                      <a:endParaRPr lang="en-US" sz="12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0F3057"/>
                    </a:solidFill>
                  </a:tcPr>
                </a:tc>
                <a:tc>
                  <a:txBody>
                    <a:bodyPr/>
                    <a:lstStyle/>
                    <a:p>
                      <a:pPr algn="ctr" indent="0" marL="0">
                        <a:buNone/>
                      </a:pPr>
                      <a:r>
                        <a:rPr lang="en-US" sz="1250" b="1" dirty="0">
                          <a:solidFill>
                            <a:srgbClr val="FFFFFF"/>
                          </a:solidFill>
                        </a:rPr>
                        <a:t>Quality signal</a:t>
                      </a:r>
                      <a:endParaRPr lang="en-US" sz="12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0F3057"/>
                    </a:solidFill>
                  </a:tcPr>
                </a:tc>
                <a:tc>
                  <a:txBody>
                    <a:bodyPr/>
                    <a:lstStyle/>
                    <a:p>
                      <a:pPr algn="ctr" indent="0" marL="0">
                        <a:buNone/>
                      </a:pPr>
                      <a:r>
                        <a:rPr lang="en-US" sz="1250" b="1" dirty="0">
                          <a:solidFill>
                            <a:srgbClr val="FFFFFF"/>
                          </a:solidFill>
                        </a:rPr>
                        <a:t>Tutor booking</a:t>
                      </a:r>
                      <a:endParaRPr lang="en-US" sz="12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0F3057"/>
                    </a:solidFill>
                  </a:tcPr>
                </a:tc>
                <a:tc>
                  <a:txBody>
                    <a:bodyPr/>
                    <a:lstStyle/>
                    <a:p>
                      <a:pPr algn="ctr" indent="0" marL="0">
                        <a:buNone/>
                      </a:pPr>
                      <a:r>
                        <a:rPr lang="en-US" sz="1250" b="1" dirty="0">
                          <a:solidFill>
                            <a:srgbClr val="FFFFFF"/>
                          </a:solidFill>
                        </a:rPr>
                        <a:t>Mobile money</a:t>
                      </a:r>
                      <a:endParaRPr lang="en-US" sz="12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0F3057"/>
                    </a:solidFill>
                  </a:tcPr>
                </a:tc>
                <a:tc>
                  <a:txBody>
                    <a:bodyPr/>
                    <a:lstStyle/>
                    <a:p>
                      <a:pPr algn="ctr" indent="0" marL="0">
                        <a:buNone/>
                      </a:pPr>
                      <a:r>
                        <a:rPr lang="en-US" sz="1250" b="1" dirty="0">
                          <a:solidFill>
                            <a:srgbClr val="FFFFFF"/>
                          </a:solidFill>
                        </a:rPr>
                        <a:t>Low bandwidth</a:t>
                      </a:r>
                      <a:endParaRPr lang="en-US" sz="12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0F3057"/>
                    </a:solidFill>
                  </a:tcPr>
                </a:tc>
              </a:tr>
              <a:tr h="420624">
                <a:tc>
                  <a:txBody>
                    <a:bodyPr/>
                    <a:lstStyle/>
                    <a:p>
                      <a:pPr algn="l" indent="0" marL="0">
                        <a:buNone/>
                      </a:pPr>
                      <a:r>
                        <a:rPr lang="en-US" sz="1250" b="1" dirty="0">
                          <a:solidFill>
                            <a:schemeClr val="tx1"/>
                          </a:solidFill>
                        </a:rPr>
                        <a:t>Moodle / Google Classroom</a:t>
                      </a:r>
                      <a:endParaRPr lang="en-US" sz="12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A63A3A"/>
                          </a:solidFill>
                        </a:rPr>
                        <a:t>No</a:t>
                      </a:r>
                      <a:endParaRPr lang="en-US" sz="12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64748B"/>
                          </a:solidFill>
                        </a:rPr>
                        <a:t>Partial</a:t>
                      </a:r>
                      <a:endParaRPr lang="en-US" sz="12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A63A3A"/>
                          </a:solidFill>
                        </a:rPr>
                        <a:t>No</a:t>
                      </a:r>
                      <a:endParaRPr lang="en-US" sz="12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A63A3A"/>
                          </a:solidFill>
                        </a:rPr>
                        <a:t>No</a:t>
                      </a:r>
                      <a:endParaRPr lang="en-US" sz="12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A63A3A"/>
                          </a:solidFill>
                        </a:rPr>
                        <a:t>No</a:t>
                      </a:r>
                      <a:endParaRPr lang="en-US" sz="12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64748B"/>
                          </a:solidFill>
                        </a:rPr>
                        <a:t>Partial</a:t>
                      </a:r>
                      <a:endParaRPr lang="en-US" sz="12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r>
              <a:tr h="420624">
                <a:tc>
                  <a:txBody>
                    <a:bodyPr/>
                    <a:lstStyle/>
                    <a:p>
                      <a:pPr algn="l" indent="0" marL="0">
                        <a:buNone/>
                      </a:pPr>
                      <a:r>
                        <a:rPr lang="en-US" sz="1250" b="1" dirty="0">
                          <a:solidFill>
                            <a:schemeClr val="tx1"/>
                          </a:solidFill>
                        </a:rPr>
                        <a:t>Stack Exchange</a:t>
                      </a:r>
                      <a:endParaRPr lang="en-US" sz="12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2F6FA"/>
                    </a:solidFill>
                  </a:tcPr>
                </a:tc>
                <a:tc>
                  <a:txBody>
                    <a:bodyPr/>
                    <a:lstStyle/>
                    <a:p>
                      <a:pPr algn="ctr" indent="0" marL="0">
                        <a:buNone/>
                      </a:pPr>
                      <a:r>
                        <a:rPr lang="en-US" sz="1250" dirty="0">
                          <a:solidFill>
                            <a:srgbClr val="2E7D62"/>
                          </a:solidFill>
                        </a:rPr>
                        <a:t>Yes</a:t>
                      </a:r>
                      <a:endParaRPr lang="en-US" sz="12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2F6FA"/>
                    </a:solidFill>
                  </a:tcPr>
                </a:tc>
                <a:tc>
                  <a:txBody>
                    <a:bodyPr/>
                    <a:lstStyle/>
                    <a:p>
                      <a:pPr algn="ctr" indent="0" marL="0">
                        <a:buNone/>
                      </a:pPr>
                      <a:r>
                        <a:rPr lang="en-US" sz="1250" dirty="0">
                          <a:solidFill>
                            <a:srgbClr val="2E7D62"/>
                          </a:solidFill>
                        </a:rPr>
                        <a:t>Yes</a:t>
                      </a:r>
                      <a:endParaRPr lang="en-US" sz="12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2F6FA"/>
                    </a:solidFill>
                  </a:tcPr>
                </a:tc>
                <a:tc>
                  <a:txBody>
                    <a:bodyPr/>
                    <a:lstStyle/>
                    <a:p>
                      <a:pPr algn="ctr" indent="0" marL="0">
                        <a:buNone/>
                      </a:pPr>
                      <a:r>
                        <a:rPr lang="en-US" sz="1250" dirty="0">
                          <a:solidFill>
                            <a:srgbClr val="2E7D62"/>
                          </a:solidFill>
                        </a:rPr>
                        <a:t>Yes</a:t>
                      </a:r>
                      <a:endParaRPr lang="en-US" sz="12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2F6FA"/>
                    </a:solidFill>
                  </a:tcPr>
                </a:tc>
                <a:tc>
                  <a:txBody>
                    <a:bodyPr/>
                    <a:lstStyle/>
                    <a:p>
                      <a:pPr algn="ctr" indent="0" marL="0">
                        <a:buNone/>
                      </a:pPr>
                      <a:r>
                        <a:rPr lang="en-US" sz="1250" dirty="0">
                          <a:solidFill>
                            <a:srgbClr val="A63A3A"/>
                          </a:solidFill>
                        </a:rPr>
                        <a:t>No</a:t>
                      </a:r>
                      <a:endParaRPr lang="en-US" sz="12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2F6FA"/>
                    </a:solidFill>
                  </a:tcPr>
                </a:tc>
                <a:tc>
                  <a:txBody>
                    <a:bodyPr/>
                    <a:lstStyle/>
                    <a:p>
                      <a:pPr algn="ctr" indent="0" marL="0">
                        <a:buNone/>
                      </a:pPr>
                      <a:r>
                        <a:rPr lang="en-US" sz="1250" dirty="0">
                          <a:solidFill>
                            <a:srgbClr val="A63A3A"/>
                          </a:solidFill>
                        </a:rPr>
                        <a:t>No</a:t>
                      </a:r>
                      <a:endParaRPr lang="en-US" sz="12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2F6FA"/>
                    </a:solidFill>
                  </a:tcPr>
                </a:tc>
                <a:tc>
                  <a:txBody>
                    <a:bodyPr/>
                    <a:lstStyle/>
                    <a:p>
                      <a:pPr algn="ctr" indent="0" marL="0">
                        <a:buNone/>
                      </a:pPr>
                      <a:r>
                        <a:rPr lang="en-US" sz="1250" dirty="0">
                          <a:solidFill>
                            <a:srgbClr val="2E7D62"/>
                          </a:solidFill>
                        </a:rPr>
                        <a:t>Yes</a:t>
                      </a:r>
                      <a:endParaRPr lang="en-US" sz="12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2F6FA"/>
                    </a:solidFill>
                  </a:tcPr>
                </a:tc>
              </a:tr>
              <a:tr h="420624">
                <a:tc>
                  <a:txBody>
                    <a:bodyPr/>
                    <a:lstStyle/>
                    <a:p>
                      <a:pPr algn="l" indent="0" marL="0">
                        <a:buNone/>
                      </a:pPr>
                      <a:r>
                        <a:rPr lang="en-US" sz="1250" b="1" dirty="0">
                          <a:solidFill>
                            <a:schemeClr val="tx1"/>
                          </a:solidFill>
                        </a:rPr>
                        <a:t>Course Hero / Studocu</a:t>
                      </a:r>
                      <a:endParaRPr lang="en-US" sz="12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E7D62"/>
                          </a:solidFill>
                        </a:rPr>
                        <a:t>Yes</a:t>
                      </a:r>
                      <a:endParaRPr lang="en-US" sz="12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E7D62"/>
                          </a:solidFill>
                        </a:rPr>
                        <a:t>Yes</a:t>
                      </a:r>
                      <a:endParaRPr lang="en-US" sz="12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64748B"/>
                          </a:solidFill>
                        </a:rPr>
                        <a:t>Weak</a:t>
                      </a:r>
                      <a:endParaRPr lang="en-US" sz="12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A63A3A"/>
                          </a:solidFill>
                        </a:rPr>
                        <a:t>No</a:t>
                      </a:r>
                      <a:endParaRPr lang="en-US" sz="12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A63A3A"/>
                          </a:solidFill>
                        </a:rPr>
                        <a:t>No</a:t>
                      </a:r>
                      <a:endParaRPr lang="en-US" sz="12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A63A3A"/>
                          </a:solidFill>
                        </a:rPr>
                        <a:t>No</a:t>
                      </a:r>
                      <a:endParaRPr lang="en-US" sz="12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r>
              <a:tr h="420624">
                <a:tc>
                  <a:txBody>
                    <a:bodyPr/>
                    <a:lstStyle/>
                    <a:p>
                      <a:pPr algn="l" indent="0" marL="0">
                        <a:buNone/>
                      </a:pPr>
                      <a:r>
                        <a:rPr lang="en-US" sz="1250" b="1" dirty="0">
                          <a:solidFill>
                            <a:schemeClr val="tx1"/>
                          </a:solidFill>
                        </a:rPr>
                        <a:t>Preply / Wyzant</a:t>
                      </a:r>
                      <a:endParaRPr lang="en-US" sz="12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2F6FA"/>
                    </a:solidFill>
                  </a:tcPr>
                </a:tc>
                <a:tc>
                  <a:txBody>
                    <a:bodyPr/>
                    <a:lstStyle/>
                    <a:p>
                      <a:pPr algn="ctr" indent="0" marL="0">
                        <a:buNone/>
                      </a:pPr>
                      <a:r>
                        <a:rPr lang="en-US" sz="1250" dirty="0">
                          <a:solidFill>
                            <a:srgbClr val="64748B"/>
                          </a:solidFill>
                        </a:rPr>
                        <a:t>Partial</a:t>
                      </a:r>
                      <a:endParaRPr lang="en-US" sz="12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2F6FA"/>
                    </a:solidFill>
                  </a:tcPr>
                </a:tc>
                <a:tc>
                  <a:txBody>
                    <a:bodyPr/>
                    <a:lstStyle/>
                    <a:p>
                      <a:pPr algn="ctr" indent="0" marL="0">
                        <a:buNone/>
                      </a:pPr>
                      <a:r>
                        <a:rPr lang="en-US" sz="1250" dirty="0">
                          <a:solidFill>
                            <a:srgbClr val="64748B"/>
                          </a:solidFill>
                        </a:rPr>
                        <a:t>—</a:t>
                      </a:r>
                      <a:endParaRPr lang="en-US" sz="12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2F6FA"/>
                    </a:solidFill>
                  </a:tcPr>
                </a:tc>
                <a:tc>
                  <a:txBody>
                    <a:bodyPr/>
                    <a:lstStyle/>
                    <a:p>
                      <a:pPr algn="ctr" indent="0" marL="0">
                        <a:buNone/>
                      </a:pPr>
                      <a:r>
                        <a:rPr lang="en-US" sz="1250" dirty="0">
                          <a:solidFill>
                            <a:srgbClr val="2E7D62"/>
                          </a:solidFill>
                        </a:rPr>
                        <a:t>Yes</a:t>
                      </a:r>
                      <a:endParaRPr lang="en-US" sz="12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2F6FA"/>
                    </a:solidFill>
                  </a:tcPr>
                </a:tc>
                <a:tc>
                  <a:txBody>
                    <a:bodyPr/>
                    <a:lstStyle/>
                    <a:p>
                      <a:pPr algn="ctr" indent="0" marL="0">
                        <a:buNone/>
                      </a:pPr>
                      <a:r>
                        <a:rPr lang="en-US" sz="1250" dirty="0">
                          <a:solidFill>
                            <a:srgbClr val="2E7D62"/>
                          </a:solidFill>
                        </a:rPr>
                        <a:t>Yes</a:t>
                      </a:r>
                      <a:endParaRPr lang="en-US" sz="12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2F6FA"/>
                    </a:solidFill>
                  </a:tcPr>
                </a:tc>
                <a:tc>
                  <a:txBody>
                    <a:bodyPr/>
                    <a:lstStyle/>
                    <a:p>
                      <a:pPr algn="ctr" indent="0" marL="0">
                        <a:buNone/>
                      </a:pPr>
                      <a:r>
                        <a:rPr lang="en-US" sz="1250" dirty="0">
                          <a:solidFill>
                            <a:srgbClr val="A63A3A"/>
                          </a:solidFill>
                        </a:rPr>
                        <a:t>No</a:t>
                      </a:r>
                      <a:endParaRPr lang="en-US" sz="12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2F6FA"/>
                    </a:solidFill>
                  </a:tcPr>
                </a:tc>
                <a:tc>
                  <a:txBody>
                    <a:bodyPr/>
                    <a:lstStyle/>
                    <a:p>
                      <a:pPr algn="ctr" indent="0" marL="0">
                        <a:buNone/>
                      </a:pPr>
                      <a:r>
                        <a:rPr lang="en-US" sz="1250" dirty="0">
                          <a:solidFill>
                            <a:srgbClr val="A63A3A"/>
                          </a:solidFill>
                        </a:rPr>
                        <a:t>No</a:t>
                      </a:r>
                      <a:endParaRPr lang="en-US" sz="12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2F6FA"/>
                    </a:solidFill>
                  </a:tcPr>
                </a:tc>
              </a:tr>
              <a:tr h="420624">
                <a:tc>
                  <a:txBody>
                    <a:bodyPr/>
                    <a:lstStyle/>
                    <a:p>
                      <a:pPr algn="l" indent="0" marL="0">
                        <a:buNone/>
                      </a:pPr>
                      <a:r>
                        <a:rPr lang="en-US" sz="1250" b="1" dirty="0">
                          <a:solidFill>
                            <a:schemeClr val="tx1"/>
                          </a:solidFill>
                        </a:rPr>
                        <a:t>WhatsApp groups</a:t>
                      </a:r>
                      <a:endParaRPr lang="en-US" sz="12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E7D62"/>
                          </a:solidFill>
                        </a:rPr>
                        <a:t>Yes</a:t>
                      </a:r>
                      <a:endParaRPr lang="en-US" sz="12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A63A3A"/>
                          </a:solidFill>
                        </a:rPr>
                        <a:t>No</a:t>
                      </a:r>
                      <a:endParaRPr lang="en-US" sz="12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A63A3A"/>
                          </a:solidFill>
                        </a:rPr>
                        <a:t>No</a:t>
                      </a:r>
                      <a:endParaRPr lang="en-US" sz="12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A63A3A"/>
                          </a:solidFill>
                        </a:rPr>
                        <a:t>No</a:t>
                      </a:r>
                      <a:endParaRPr lang="en-US" sz="12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A63A3A"/>
                          </a:solidFill>
                        </a:rPr>
                        <a:t>No</a:t>
                      </a:r>
                      <a:endParaRPr lang="en-US" sz="12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2E7D62"/>
                          </a:solidFill>
                        </a:rPr>
                        <a:t>Yes</a:t>
                      </a:r>
                      <a:endParaRPr lang="en-US" sz="12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r>
              <a:tr h="420624">
                <a:tc>
                  <a:txBody>
                    <a:bodyPr/>
                    <a:lstStyle/>
                    <a:p>
                      <a:pPr algn="l" indent="0" marL="0">
                        <a:buNone/>
                      </a:pPr>
                      <a:r>
                        <a:rPr lang="en-US" sz="1250" b="1" dirty="0">
                          <a:solidFill>
                            <a:srgbClr val="FFFFFF"/>
                          </a:solidFill>
                        </a:rPr>
                        <a:t>StudyHub</a:t>
                      </a:r>
                      <a:endParaRPr lang="en-US" sz="12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1C7293"/>
                    </a:solidFill>
                  </a:tcPr>
                </a:tc>
                <a:tc>
                  <a:txBody>
                    <a:bodyPr/>
                    <a:lstStyle/>
                    <a:p>
                      <a:pPr algn="ctr" indent="0" marL="0">
                        <a:buNone/>
                      </a:pPr>
                      <a:r>
                        <a:rPr lang="en-US" sz="1250" b="1" dirty="0">
                          <a:solidFill>
                            <a:srgbClr val="FFFFFF"/>
                          </a:solidFill>
                        </a:rPr>
                        <a:t>Yes</a:t>
                      </a:r>
                      <a:endParaRPr lang="en-US" sz="12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1C7293"/>
                    </a:solidFill>
                  </a:tcPr>
                </a:tc>
                <a:tc>
                  <a:txBody>
                    <a:bodyPr/>
                    <a:lstStyle/>
                    <a:p>
                      <a:pPr algn="ctr" indent="0" marL="0">
                        <a:buNone/>
                      </a:pPr>
                      <a:r>
                        <a:rPr lang="en-US" sz="1250" b="1" dirty="0">
                          <a:solidFill>
                            <a:srgbClr val="FFFFFF"/>
                          </a:solidFill>
                        </a:rPr>
                        <a:t>Yes</a:t>
                      </a:r>
                      <a:endParaRPr lang="en-US" sz="12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1C7293"/>
                    </a:solidFill>
                  </a:tcPr>
                </a:tc>
                <a:tc>
                  <a:txBody>
                    <a:bodyPr/>
                    <a:lstStyle/>
                    <a:p>
                      <a:pPr algn="ctr" indent="0" marL="0">
                        <a:buNone/>
                      </a:pPr>
                      <a:r>
                        <a:rPr lang="en-US" sz="1250" b="1" dirty="0">
                          <a:solidFill>
                            <a:srgbClr val="FFFFFF"/>
                          </a:solidFill>
                        </a:rPr>
                        <a:t>Yes</a:t>
                      </a:r>
                      <a:endParaRPr lang="en-US" sz="12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1C7293"/>
                    </a:solidFill>
                  </a:tcPr>
                </a:tc>
                <a:tc>
                  <a:txBody>
                    <a:bodyPr/>
                    <a:lstStyle/>
                    <a:p>
                      <a:pPr algn="ctr" indent="0" marL="0">
                        <a:buNone/>
                      </a:pPr>
                      <a:r>
                        <a:rPr lang="en-US" sz="1250" b="1" dirty="0">
                          <a:solidFill>
                            <a:srgbClr val="FFFFFF"/>
                          </a:solidFill>
                        </a:rPr>
                        <a:t>Yes</a:t>
                      </a:r>
                      <a:endParaRPr lang="en-US" sz="12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1C7293"/>
                    </a:solidFill>
                  </a:tcPr>
                </a:tc>
                <a:tc>
                  <a:txBody>
                    <a:bodyPr/>
                    <a:lstStyle/>
                    <a:p>
                      <a:pPr algn="ctr" indent="0" marL="0">
                        <a:buNone/>
                      </a:pPr>
                      <a:r>
                        <a:rPr lang="en-US" sz="1250" b="1" dirty="0">
                          <a:solidFill>
                            <a:srgbClr val="FFFFFF"/>
                          </a:solidFill>
                        </a:rPr>
                        <a:t>Yes</a:t>
                      </a:r>
                      <a:endParaRPr lang="en-US" sz="12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1C7293"/>
                    </a:solidFill>
                  </a:tcPr>
                </a:tc>
                <a:tc>
                  <a:txBody>
                    <a:bodyPr/>
                    <a:lstStyle/>
                    <a:p>
                      <a:pPr algn="ctr" indent="0" marL="0">
                        <a:buNone/>
                      </a:pPr>
                      <a:r>
                        <a:rPr lang="en-US" sz="1250" b="1" dirty="0">
                          <a:solidFill>
                            <a:srgbClr val="FFFFFF"/>
                          </a:solidFill>
                        </a:rPr>
                        <a:t>Yes</a:t>
                      </a:r>
                      <a:endParaRPr lang="en-US" sz="12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1C7293"/>
                    </a:solidFill>
                  </a:tcPr>
                </a:tc>
              </a:tr>
            </a:tbl>
          </a:graphicData>
        </a:graphic>
      </p:graphicFrame>
      <p:sp>
        <p:nvSpPr>
          <p:cNvPr id="4" name="Text 1"/>
          <p:cNvSpPr txBox="1"/>
          <p:nvPr/>
        </p:nvSpPr>
        <p:spPr>
          <a:xfrm>
            <a:off x="566928" y="4800600"/>
            <a:ext cx="11027664" cy="274320"/>
          </a:xfrm>
          <a:prstGeom prst="rect">
            <a:avLst/>
          </a:prstGeom>
          <a:noFill/>
          <a:ln/>
        </p:spPr>
        <p:txBody>
          <a:bodyPr wrap="square" rtlCol="0" anchor="ctr"/>
          <a:lstStyle/>
          <a:p>
            <a:pPr indent="0" marL="0">
              <a:buNone/>
            </a:pPr>
            <a:r>
              <a:rPr lang="en-US" sz="1050" i="1" dirty="0">
                <a:solidFill>
                  <a:schemeClr val="accent6"/>
                </a:solidFill>
              </a:rPr>
              <a:t>Assessments reflect each platform’s publicly documented feature set and payment options.</a:t>
            </a:r>
            <a:endParaRPr lang="en-US" sz="1050" dirty="0"/>
          </a:p>
        </p:txBody>
      </p:sp>
      <p:sp>
        <p:nvSpPr>
          <p:cNvPr id="5" name="gapbox"/>
          <p:cNvSpPr/>
          <p:nvPr/>
        </p:nvSpPr>
        <p:spPr>
          <a:xfrm>
            <a:off x="566928" y="5212080"/>
            <a:ext cx="11027664" cy="868680"/>
          </a:xfrm>
          <a:prstGeom prst="roundRect">
            <a:avLst>
              <a:gd name="adj" fmla="val 7368"/>
            </a:avLst>
          </a:prstGeom>
          <a:solidFill>
            <a:srgbClr val="FDF6E9"/>
          </a:solidFill>
          <a:ln w="12700">
            <a:solidFill>
              <a:srgbClr val="E8CFA0"/>
            </a:solidFill>
            <a:prstDash val="solid"/>
          </a:ln>
        </p:spPr>
      </p:sp>
      <p:sp>
        <p:nvSpPr>
          <p:cNvPr id="6" name="Text 3"/>
          <p:cNvSpPr txBox="1"/>
          <p:nvPr/>
        </p:nvSpPr>
        <p:spPr>
          <a:xfrm>
            <a:off x="841248" y="5321808"/>
            <a:ext cx="10479024" cy="685800"/>
          </a:xfrm>
          <a:prstGeom prst="rect">
            <a:avLst/>
          </a:prstGeom>
          <a:noFill/>
          <a:ln/>
        </p:spPr>
        <p:txBody>
          <a:bodyPr wrap="square" rtlCol="0" anchor="ctr"/>
          <a:lstStyle/>
          <a:p>
            <a:pPr indent="0" marL="0">
              <a:lnSpc>
                <a:spcPts val="1700"/>
              </a:lnSpc>
              <a:buNone/>
            </a:pPr>
            <a:r>
              <a:rPr lang="en-US" sz="1250" b="1" dirty="0">
                <a:solidFill>
                  <a:srgbClr val="C77C1E"/>
                </a:solidFill>
              </a:rPr>
              <a:t>The gap:  </a:t>
            </a:r>
            <a:pPr indent="0" marL="0">
              <a:lnSpc>
                <a:spcPts val="1700"/>
              </a:lnSpc>
              <a:buNone/>
            </a:pPr>
            <a:r>
              <a:rPr lang="en-US" sz="1250" dirty="0">
                <a:solidFill>
                  <a:srgbClr val="10172A"/>
                </a:solidFill>
              </a:rPr>
              <a:t>no reviewed system combines all six. The strongest individual mechanisms are proven and deliberately reused — reputation and accepted answers from Stack Exchange, the profile-schedule-book-pay pattern from the tutoring marketplaces. What is missing is their integration, settled through mobile money, engineered for an intermittent connection.</a:t>
            </a:r>
            <a:endParaRPr lang="en-US" sz="1250" dirty="0"/>
          </a:p>
        </p:txBody>
      </p:sp>
      <p:sp>
        <p:nvSpPr>
          <p:cNvPr id="25" name="Slide Number Placeholder 0"/>
          <p:cNvSpPr>
            <a:spLocks noGrp="1"/>
          </p:cNvSpPr>
          <p:nvPr>
            <p:ph type="sldNum" sz="quarter" idx="4294967295"/>
          </p:nvPr>
        </p:nvSpPr>
        <p:spPr>
          <a:xfrm>
            <a:off x="11430000" y="6327648"/>
            <a:ext cx="45720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64748B"/>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566928" y="2377440"/>
            <a:ext cx="1828800" cy="822960"/>
          </a:xfrm>
          <a:prstGeom prst="rect">
            <a:avLst/>
          </a:prstGeom>
          <a:noFill/>
          <a:ln/>
        </p:spPr>
        <p:txBody>
          <a:bodyPr wrap="square" rtlCol="0"/>
          <a:lstStyle/>
          <a:p>
            <a:pPr indent="0" marL="0">
              <a:buNone/>
            </a:pPr>
            <a:r>
              <a:rPr lang="en-US" sz="5800" b="1" dirty="0">
                <a:solidFill>
                  <a:srgbClr val="C77C1E"/>
                </a:solidFill>
              </a:rPr>
              <a:t>01</a:t>
            </a:r>
            <a:endParaRPr lang="en-US" sz="5800" dirty="0"/>
          </a:p>
        </p:txBody>
      </p:sp>
      <p:sp>
        <p:nvSpPr>
          <p:cNvPr id="3" name="Text 0"/>
          <p:cNvSpPr/>
          <p:nvPr>
            <p:ph idx="101" type="body" hasCustomPrompt="1"/>
          </p:nvPr>
        </p:nvSpPr>
        <p:spPr>
          <a:xfrm>
            <a:off x="566928" y="3200400"/>
            <a:ext cx="11027664" cy="868680"/>
          </a:xfrm>
          <a:prstGeom prst="rect">
            <a:avLst/>
          </a:prstGeom>
          <a:noFill/>
          <a:ln/>
        </p:spPr>
        <p:txBody>
          <a:bodyPr wrap="square" rtlCol="0"/>
          <a:lstStyle/>
          <a:p>
            <a:pPr indent="0" marL="0">
              <a:buNone/>
            </a:pPr>
            <a:r>
              <a:rPr lang="en-US" sz="3800" b="1" dirty="0">
                <a:solidFill>
                  <a:srgbClr val="FFFFFF"/>
                </a:solidFill>
              </a:rPr>
              <a:t>Methodology and design</a:t>
            </a:r>
            <a:endParaRPr lang="en-US" sz="3800" dirty="0"/>
          </a:p>
        </p:txBody>
      </p:sp>
      <p:sp>
        <p:nvSpPr>
          <p:cNvPr id="4" name="Text 0"/>
          <p:cNvSpPr/>
          <p:nvPr>
            <p:ph idx="102" type="body" hasCustomPrompt="1"/>
          </p:nvPr>
        </p:nvSpPr>
        <p:spPr>
          <a:xfrm>
            <a:off x="566928" y="4069080"/>
            <a:ext cx="8686800" cy="731520"/>
          </a:xfrm>
          <a:prstGeom prst="rect">
            <a:avLst/>
          </a:prstGeom>
          <a:noFill/>
          <a:ln/>
        </p:spPr>
        <p:txBody>
          <a:bodyPr wrap="square" rtlCol="0"/>
          <a:lstStyle/>
          <a:p>
            <a:pPr indent="0" marL="0">
              <a:buNone/>
            </a:pPr>
            <a:r>
              <a:rPr lang="en-US" sz="1500" dirty="0">
                <a:solidFill>
                  <a:srgbClr val="B9CCE4"/>
                </a:solidFill>
              </a:rPr>
              <a:t>How the system was specified, and the architecture that followed</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66928" y="384048"/>
            <a:ext cx="11027664" cy="713232"/>
          </a:xfrm>
          <a:prstGeom prst="rect">
            <a:avLst/>
          </a:prstGeom>
          <a:noFill/>
          <a:ln/>
        </p:spPr>
        <p:txBody>
          <a:bodyPr wrap="square" rtlCol="0"/>
          <a:lstStyle/>
          <a:p>
            <a:pPr indent="0" marL="0">
              <a:buNone/>
            </a:pPr>
            <a:r>
              <a:rPr lang="en-US" sz="3200" b="1" dirty="0">
                <a:solidFill>
                  <a:srgbClr val="0F3057"/>
                </a:solidFill>
              </a:rPr>
              <a:t>Iterative and incremental, for a specific reason</a:t>
            </a:r>
            <a:endParaRPr lang="en-US" sz="3200" dirty="0"/>
          </a:p>
        </p:txBody>
      </p:sp>
      <p:sp>
        <p:nvSpPr>
          <p:cNvPr id="3" name="Text 1"/>
          <p:cNvSpPr txBox="1"/>
          <p:nvPr/>
        </p:nvSpPr>
        <p:spPr>
          <a:xfrm>
            <a:off x="566928" y="1115568"/>
            <a:ext cx="11027664" cy="548640"/>
          </a:xfrm>
          <a:prstGeom prst="rect">
            <a:avLst/>
          </a:prstGeom>
          <a:noFill/>
          <a:ln/>
        </p:spPr>
        <p:txBody>
          <a:bodyPr wrap="square" rtlCol="0" anchor="ctr"/>
          <a:lstStyle/>
          <a:p>
            <a:pPr indent="0" marL="0">
              <a:lnSpc>
                <a:spcPts val="2100"/>
              </a:lnSpc>
              <a:buNone/>
            </a:pPr>
            <a:r>
              <a:rPr lang="en-US" sz="1450" dirty="0">
                <a:solidFill>
                  <a:schemeClr val="tx1"/>
                </a:solidFill>
              </a:rPr>
              <a:t>Several requirements — particularly how the payment provider behaves under failure — could not be specified accurately in advance. A waterfall process would have fixed the specification early, and fixed it wrongly.</a:t>
            </a:r>
            <a:endParaRPr lang="en-US" sz="1450" dirty="0"/>
          </a:p>
        </p:txBody>
      </p:sp>
      <p:sp>
        <p:nvSpPr>
          <p:cNvPr id="4" name="Text 2"/>
          <p:cNvSpPr txBox="1"/>
          <p:nvPr/>
        </p:nvSpPr>
        <p:spPr>
          <a:xfrm>
            <a:off x="566928" y="1783080"/>
            <a:ext cx="11027664" cy="320040"/>
          </a:xfrm>
          <a:prstGeom prst="rect">
            <a:avLst/>
          </a:prstGeom>
          <a:noFill/>
          <a:ln/>
        </p:spPr>
        <p:txBody>
          <a:bodyPr wrap="square" rtlCol="0" anchor="ctr"/>
          <a:lstStyle/>
          <a:p>
            <a:pPr indent="0" marL="0">
              <a:buNone/>
            </a:pPr>
            <a:r>
              <a:rPr lang="en-US" sz="1300" b="1" dirty="0">
                <a:solidFill>
                  <a:schemeClr val="accent1"/>
                </a:solidFill>
              </a:rPr>
              <a:t>The migration sequence is an independent record of how the model actually evolved</a:t>
            </a:r>
            <a:endParaRPr lang="en-US" sz="1300" dirty="0"/>
          </a:p>
        </p:txBody>
      </p:sp>
      <p:sp>
        <p:nvSpPr>
          <p:cNvPr id="5" name="Text 3"/>
          <p:cNvSpPr txBox="1"/>
          <p:nvPr/>
        </p:nvSpPr>
        <p:spPr>
          <a:xfrm>
            <a:off x="566928" y="2194560"/>
            <a:ext cx="658368" cy="457200"/>
          </a:xfrm>
          <a:prstGeom prst="rect">
            <a:avLst/>
          </a:prstGeom>
          <a:solidFill>
            <a:srgbClr val="64748B"/>
          </a:solidFill>
          <a:ln/>
        </p:spPr>
        <p:txBody>
          <a:bodyPr wrap="square" lIns="0" tIns="0" rIns="0" bIns="0" rtlCol="0" anchor="ctr"/>
          <a:lstStyle/>
          <a:p>
            <a:pPr algn="ctr" indent="0" marL="0">
              <a:buNone/>
            </a:pPr>
            <a:r>
              <a:rPr lang="en-US" sz="1200" b="1" dirty="0">
                <a:solidFill>
                  <a:srgbClr val="FFFFFF"/>
                </a:solidFill>
              </a:rPr>
              <a:t>0001</a:t>
            </a:r>
            <a:endParaRPr lang="en-US" sz="1200" dirty="0"/>
          </a:p>
        </p:txBody>
      </p:sp>
      <p:sp>
        <p:nvSpPr>
          <p:cNvPr id="6" name="Text 4"/>
          <p:cNvSpPr txBox="1"/>
          <p:nvPr/>
        </p:nvSpPr>
        <p:spPr>
          <a:xfrm>
            <a:off x="1344168" y="2194560"/>
            <a:ext cx="2377440" cy="457200"/>
          </a:xfrm>
          <a:prstGeom prst="rect">
            <a:avLst/>
          </a:prstGeom>
          <a:noFill/>
          <a:ln/>
        </p:spPr>
        <p:txBody>
          <a:bodyPr wrap="square" lIns="0" tIns="0" rIns="0" bIns="0" rtlCol="0" anchor="ctr"/>
          <a:lstStyle/>
          <a:p>
            <a:pPr indent="0" marL="0">
              <a:buNone/>
            </a:pPr>
            <a:r>
              <a:rPr lang="en-US" sz="1250" b="1" dirty="0">
                <a:solidFill>
                  <a:schemeClr val="tx2"/>
                </a:solidFill>
              </a:rPr>
              <a:t>init</a:t>
            </a:r>
            <a:endParaRPr lang="en-US" sz="1250" dirty="0"/>
          </a:p>
        </p:txBody>
      </p:sp>
      <p:sp>
        <p:nvSpPr>
          <p:cNvPr id="7" name="Text 5"/>
          <p:cNvSpPr txBox="1"/>
          <p:nvPr/>
        </p:nvSpPr>
        <p:spPr>
          <a:xfrm>
            <a:off x="3767328" y="2194560"/>
            <a:ext cx="7827264" cy="457200"/>
          </a:xfrm>
          <a:prstGeom prst="rect">
            <a:avLst/>
          </a:prstGeom>
          <a:noFill/>
          <a:ln/>
        </p:spPr>
        <p:txBody>
          <a:bodyPr wrap="square" lIns="0" tIns="0" rIns="0" bIns="0" rtlCol="0" anchor="ctr"/>
          <a:lstStyle/>
          <a:p>
            <a:pPr indent="0" marL="0">
              <a:buNone/>
            </a:pPr>
            <a:r>
              <a:rPr lang="en-US" sz="1250" dirty="0">
                <a:solidFill>
                  <a:schemeClr val="tx1"/>
                </a:solidFill>
              </a:rPr>
              <a:t>Core schema: users, groups, notes, questions, tutors, transactions</a:t>
            </a:r>
            <a:endParaRPr lang="en-US" sz="1250" dirty="0"/>
          </a:p>
        </p:txBody>
      </p:sp>
      <p:sp>
        <p:nvSpPr>
          <p:cNvPr id="8" name="Text 6"/>
          <p:cNvSpPr txBox="1"/>
          <p:nvPr/>
        </p:nvSpPr>
        <p:spPr>
          <a:xfrm>
            <a:off x="566928" y="2816352"/>
            <a:ext cx="658368" cy="457200"/>
          </a:xfrm>
          <a:prstGeom prst="rect">
            <a:avLst/>
          </a:prstGeom>
          <a:solidFill>
            <a:srgbClr val="1C7293"/>
          </a:solidFill>
          <a:ln/>
        </p:spPr>
        <p:txBody>
          <a:bodyPr wrap="square" lIns="0" tIns="0" rIns="0" bIns="0" rtlCol="0" anchor="ctr"/>
          <a:lstStyle/>
          <a:p>
            <a:pPr algn="ctr" indent="0" marL="0">
              <a:buNone/>
            </a:pPr>
            <a:r>
              <a:rPr lang="en-US" sz="1200" b="1" dirty="0">
                <a:solidFill>
                  <a:srgbClr val="FFFFFF"/>
                </a:solidFill>
              </a:rPr>
              <a:t>0002</a:t>
            </a:r>
            <a:endParaRPr lang="en-US" sz="1200" dirty="0"/>
          </a:p>
        </p:txBody>
      </p:sp>
      <p:sp>
        <p:nvSpPr>
          <p:cNvPr id="9" name="Text 7"/>
          <p:cNvSpPr txBox="1"/>
          <p:nvPr/>
        </p:nvSpPr>
        <p:spPr>
          <a:xfrm>
            <a:off x="1344168" y="2816352"/>
            <a:ext cx="2377440" cy="457200"/>
          </a:xfrm>
          <a:prstGeom prst="rect">
            <a:avLst/>
          </a:prstGeom>
          <a:noFill/>
          <a:ln/>
        </p:spPr>
        <p:txBody>
          <a:bodyPr wrap="square" lIns="0" tIns="0" rIns="0" bIns="0" rtlCol="0" anchor="ctr"/>
          <a:lstStyle/>
          <a:p>
            <a:pPr indent="0" marL="0">
              <a:buNone/>
            </a:pPr>
            <a:r>
              <a:rPr lang="en-US" sz="1250" b="1" dirty="0">
                <a:solidFill>
                  <a:schemeClr val="tx2"/>
                </a:solidFill>
              </a:rPr>
              <a:t>session_credits</a:t>
            </a:r>
            <a:endParaRPr lang="en-US" sz="1250" dirty="0"/>
          </a:p>
        </p:txBody>
      </p:sp>
      <p:sp>
        <p:nvSpPr>
          <p:cNvPr id="10" name="Text 8"/>
          <p:cNvSpPr txBox="1"/>
          <p:nvPr/>
        </p:nvSpPr>
        <p:spPr>
          <a:xfrm>
            <a:off x="3767328" y="2816352"/>
            <a:ext cx="7827264" cy="457200"/>
          </a:xfrm>
          <a:prstGeom prst="rect">
            <a:avLst/>
          </a:prstGeom>
          <a:noFill/>
          <a:ln/>
        </p:spPr>
        <p:txBody>
          <a:bodyPr wrap="square" lIns="0" tIns="0" rIns="0" bIns="0" rtlCol="0" anchor="ctr"/>
          <a:lstStyle/>
          <a:p>
            <a:pPr indent="0" marL="0">
              <a:buNone/>
            </a:pPr>
            <a:r>
              <a:rPr lang="en-US" sz="1250" dirty="0">
                <a:solidFill>
                  <a:schemeClr val="tx1"/>
                </a:solidFill>
              </a:rPr>
              <a:t>Prepaid packs — added once per-session payment proved cumbersome for repeat bookings</a:t>
            </a:r>
            <a:endParaRPr lang="en-US" sz="1250" dirty="0"/>
          </a:p>
        </p:txBody>
      </p:sp>
      <p:sp>
        <p:nvSpPr>
          <p:cNvPr id="11" name="Text 9"/>
          <p:cNvSpPr txBox="1"/>
          <p:nvPr/>
        </p:nvSpPr>
        <p:spPr>
          <a:xfrm>
            <a:off x="566928" y="3438144"/>
            <a:ext cx="658368" cy="457200"/>
          </a:xfrm>
          <a:prstGeom prst="rect">
            <a:avLst/>
          </a:prstGeom>
          <a:solidFill>
            <a:srgbClr val="1C7293"/>
          </a:solidFill>
          <a:ln/>
        </p:spPr>
        <p:txBody>
          <a:bodyPr wrap="square" lIns="0" tIns="0" rIns="0" bIns="0" rtlCol="0" anchor="ctr"/>
          <a:lstStyle/>
          <a:p>
            <a:pPr algn="ctr" indent="0" marL="0">
              <a:buNone/>
            </a:pPr>
            <a:r>
              <a:rPr lang="en-US" sz="1200" b="1" dirty="0">
                <a:solidFill>
                  <a:srgbClr val="FFFFFF"/>
                </a:solidFill>
              </a:rPr>
              <a:t>0003</a:t>
            </a:r>
            <a:endParaRPr lang="en-US" sz="1200" dirty="0"/>
          </a:p>
        </p:txBody>
      </p:sp>
      <p:sp>
        <p:nvSpPr>
          <p:cNvPr id="12" name="Text 10"/>
          <p:cNvSpPr txBox="1"/>
          <p:nvPr/>
        </p:nvSpPr>
        <p:spPr>
          <a:xfrm>
            <a:off x="1344168" y="3438144"/>
            <a:ext cx="2377440" cy="457200"/>
          </a:xfrm>
          <a:prstGeom prst="rect">
            <a:avLst/>
          </a:prstGeom>
          <a:noFill/>
          <a:ln/>
        </p:spPr>
        <p:txBody>
          <a:bodyPr wrap="square" lIns="0" tIns="0" rIns="0" bIns="0" rtlCol="0" anchor="ctr"/>
          <a:lstStyle/>
          <a:p>
            <a:pPr indent="0" marL="0">
              <a:buNone/>
            </a:pPr>
            <a:r>
              <a:rPr lang="en-US" sz="1250" b="1" dirty="0">
                <a:solidFill>
                  <a:schemeClr val="tx2"/>
                </a:solidFill>
              </a:rPr>
              <a:t>reactions + soft delete</a:t>
            </a:r>
            <a:endParaRPr lang="en-US" sz="1250" dirty="0"/>
          </a:p>
        </p:txBody>
      </p:sp>
      <p:sp>
        <p:nvSpPr>
          <p:cNvPr id="13" name="Text 11"/>
          <p:cNvSpPr txBox="1"/>
          <p:nvPr/>
        </p:nvSpPr>
        <p:spPr>
          <a:xfrm>
            <a:off x="3767328" y="3438144"/>
            <a:ext cx="7827264" cy="457200"/>
          </a:xfrm>
          <a:prstGeom prst="rect">
            <a:avLst/>
          </a:prstGeom>
          <a:noFill/>
          <a:ln/>
        </p:spPr>
        <p:txBody>
          <a:bodyPr wrap="square" lIns="0" tIns="0" rIns="0" bIns="0" rtlCol="0" anchor="ctr"/>
          <a:lstStyle/>
          <a:p>
            <a:pPr indent="0" marL="0">
              <a:buNone/>
            </a:pPr>
            <a:r>
              <a:rPr lang="en-US" sz="1250" dirty="0">
                <a:solidFill>
                  <a:schemeClr val="tx1"/>
                </a:solidFill>
              </a:rPr>
              <a:t>Deleting a message must not silently alter a conversation others replied to</a:t>
            </a:r>
            <a:endParaRPr lang="en-US" sz="1250" dirty="0"/>
          </a:p>
        </p:txBody>
      </p:sp>
      <p:sp>
        <p:nvSpPr>
          <p:cNvPr id="14" name="Text 12"/>
          <p:cNvSpPr txBox="1"/>
          <p:nvPr/>
        </p:nvSpPr>
        <p:spPr>
          <a:xfrm>
            <a:off x="566928" y="4059936"/>
            <a:ext cx="658368" cy="457200"/>
          </a:xfrm>
          <a:prstGeom prst="rect">
            <a:avLst/>
          </a:prstGeom>
          <a:solidFill>
            <a:srgbClr val="1C7293"/>
          </a:solidFill>
          <a:ln/>
        </p:spPr>
        <p:txBody>
          <a:bodyPr wrap="square" lIns="0" tIns="0" rIns="0" bIns="0" rtlCol="0" anchor="ctr"/>
          <a:lstStyle/>
          <a:p>
            <a:pPr algn="ctr" indent="0" marL="0">
              <a:buNone/>
            </a:pPr>
            <a:r>
              <a:rPr lang="en-US" sz="1200" b="1" dirty="0">
                <a:solidFill>
                  <a:srgbClr val="FFFFFF"/>
                </a:solidFill>
              </a:rPr>
              <a:t>0004</a:t>
            </a:r>
            <a:endParaRPr lang="en-US" sz="1200" dirty="0"/>
          </a:p>
        </p:txBody>
      </p:sp>
      <p:sp>
        <p:nvSpPr>
          <p:cNvPr id="15" name="Text 13"/>
          <p:cNvSpPr txBox="1"/>
          <p:nvPr/>
        </p:nvSpPr>
        <p:spPr>
          <a:xfrm>
            <a:off x="1344168" y="4059936"/>
            <a:ext cx="2377440" cy="457200"/>
          </a:xfrm>
          <a:prstGeom prst="rect">
            <a:avLst/>
          </a:prstGeom>
          <a:noFill/>
          <a:ln/>
        </p:spPr>
        <p:txBody>
          <a:bodyPr wrap="square" lIns="0" tIns="0" rIns="0" bIns="0" rtlCol="0" anchor="ctr"/>
          <a:lstStyle/>
          <a:p>
            <a:pPr indent="0" marL="0">
              <a:buNone/>
            </a:pPr>
            <a:r>
              <a:rPr lang="en-US" sz="1250" b="1" dirty="0">
                <a:solidFill>
                  <a:schemeClr val="tx2"/>
                </a:solidFill>
              </a:rPr>
              <a:t>premium_note_review</a:t>
            </a:r>
            <a:endParaRPr lang="en-US" sz="1250" dirty="0"/>
          </a:p>
        </p:txBody>
      </p:sp>
      <p:sp>
        <p:nvSpPr>
          <p:cNvPr id="16" name="Text 14"/>
          <p:cNvSpPr txBox="1"/>
          <p:nvPr/>
        </p:nvSpPr>
        <p:spPr>
          <a:xfrm>
            <a:off x="3767328" y="4059936"/>
            <a:ext cx="7827264" cy="457200"/>
          </a:xfrm>
          <a:prstGeom prst="rect">
            <a:avLst/>
          </a:prstGeom>
          <a:noFill/>
          <a:ln/>
        </p:spPr>
        <p:txBody>
          <a:bodyPr wrap="square" lIns="0" tIns="0" rIns="0" bIns="0" rtlCol="0" anchor="ctr"/>
          <a:lstStyle/>
          <a:p>
            <a:pPr indent="0" marL="0">
              <a:buNone/>
            </a:pPr>
            <a:r>
              <a:rPr lang="en-US" sz="1250" dirty="0">
                <a:solidFill>
                  <a:schemeClr val="tx1"/>
                </a:solidFill>
              </a:rPr>
              <a:t>Human moderation — added after recognising automated checks cannot assess correctness</a:t>
            </a:r>
            <a:endParaRPr lang="en-US" sz="1250" dirty="0"/>
          </a:p>
        </p:txBody>
      </p:sp>
      <p:sp>
        <p:nvSpPr>
          <p:cNvPr id="17" name="Text 15"/>
          <p:cNvSpPr txBox="1"/>
          <p:nvPr/>
        </p:nvSpPr>
        <p:spPr>
          <a:xfrm>
            <a:off x="566928" y="4681728"/>
            <a:ext cx="658368" cy="457200"/>
          </a:xfrm>
          <a:prstGeom prst="rect">
            <a:avLst/>
          </a:prstGeom>
          <a:solidFill>
            <a:srgbClr val="1C7293"/>
          </a:solidFill>
          <a:ln/>
        </p:spPr>
        <p:txBody>
          <a:bodyPr wrap="square" lIns="0" tIns="0" rIns="0" bIns="0" rtlCol="0" anchor="ctr"/>
          <a:lstStyle/>
          <a:p>
            <a:pPr algn="ctr" indent="0" marL="0">
              <a:buNone/>
            </a:pPr>
            <a:r>
              <a:rPr lang="en-US" sz="1200" b="1" dirty="0">
                <a:solidFill>
                  <a:srgbClr val="FFFFFF"/>
                </a:solidFill>
              </a:rPr>
              <a:t>0005</a:t>
            </a:r>
            <a:endParaRPr lang="en-US" sz="1200" dirty="0"/>
          </a:p>
        </p:txBody>
      </p:sp>
      <p:sp>
        <p:nvSpPr>
          <p:cNvPr id="18" name="Text 16"/>
          <p:cNvSpPr txBox="1"/>
          <p:nvPr/>
        </p:nvSpPr>
        <p:spPr>
          <a:xfrm>
            <a:off x="1344168" y="4681728"/>
            <a:ext cx="2377440" cy="457200"/>
          </a:xfrm>
          <a:prstGeom prst="rect">
            <a:avLst/>
          </a:prstGeom>
          <a:noFill/>
          <a:ln/>
        </p:spPr>
        <p:txBody>
          <a:bodyPr wrap="square" lIns="0" tIns="0" rIns="0" bIns="0" rtlCol="0" anchor="ctr"/>
          <a:lstStyle/>
          <a:p>
            <a:pPr indent="0" marL="0">
              <a:buNone/>
            </a:pPr>
            <a:r>
              <a:rPr lang="en-US" sz="1250" b="1" dirty="0">
                <a:solidFill>
                  <a:schemeClr val="tx2"/>
                </a:solidFill>
              </a:rPr>
              <a:t>uploader_trust</a:t>
            </a:r>
            <a:endParaRPr lang="en-US" sz="1250" dirty="0"/>
          </a:p>
        </p:txBody>
      </p:sp>
      <p:sp>
        <p:nvSpPr>
          <p:cNvPr id="19" name="Text 17"/>
          <p:cNvSpPr txBox="1"/>
          <p:nvPr/>
        </p:nvSpPr>
        <p:spPr>
          <a:xfrm>
            <a:off x="3767328" y="4681728"/>
            <a:ext cx="7827264" cy="457200"/>
          </a:xfrm>
          <a:prstGeom prst="rect">
            <a:avLst/>
          </a:prstGeom>
          <a:noFill/>
          <a:ln/>
        </p:spPr>
        <p:txBody>
          <a:bodyPr wrap="square" lIns="0" tIns="0" rIns="0" bIns="0" rtlCol="0" anchor="ctr"/>
          <a:lstStyle/>
          <a:p>
            <a:pPr indent="0" marL="0">
              <a:buNone/>
            </a:pPr>
            <a:r>
              <a:rPr lang="en-US" sz="1250" dirty="0">
                <a:solidFill>
                  <a:schemeClr val="tx1"/>
                </a:solidFill>
              </a:rPr>
              <a:t>Bypass review once a contributor has an established record</a:t>
            </a:r>
            <a:endParaRPr lang="en-US" sz="1250" dirty="0"/>
          </a:p>
        </p:txBody>
      </p:sp>
      <p:sp>
        <p:nvSpPr>
          <p:cNvPr id="20" name="Text 18"/>
          <p:cNvSpPr txBox="1"/>
          <p:nvPr/>
        </p:nvSpPr>
        <p:spPr>
          <a:xfrm>
            <a:off x="566928" y="5303520"/>
            <a:ext cx="658368" cy="457200"/>
          </a:xfrm>
          <a:prstGeom prst="rect">
            <a:avLst/>
          </a:prstGeom>
          <a:solidFill>
            <a:srgbClr val="1C7293"/>
          </a:solidFill>
          <a:ln/>
        </p:spPr>
        <p:txBody>
          <a:bodyPr wrap="square" lIns="0" tIns="0" rIns="0" bIns="0" rtlCol="0" anchor="ctr"/>
          <a:lstStyle/>
          <a:p>
            <a:pPr algn="ctr" indent="0" marL="0">
              <a:buNone/>
            </a:pPr>
            <a:r>
              <a:rPr lang="en-US" sz="1200" b="1" dirty="0">
                <a:solidFill>
                  <a:srgbClr val="FFFFFF"/>
                </a:solidFill>
              </a:rPr>
              <a:t>0006</a:t>
            </a:r>
            <a:endParaRPr lang="en-US" sz="1200" dirty="0"/>
          </a:p>
        </p:txBody>
      </p:sp>
      <p:sp>
        <p:nvSpPr>
          <p:cNvPr id="21" name="Text 19"/>
          <p:cNvSpPr txBox="1"/>
          <p:nvPr/>
        </p:nvSpPr>
        <p:spPr>
          <a:xfrm>
            <a:off x="1344168" y="5303520"/>
            <a:ext cx="2377440" cy="457200"/>
          </a:xfrm>
          <a:prstGeom prst="rect">
            <a:avLst/>
          </a:prstGeom>
          <a:noFill/>
          <a:ln/>
        </p:spPr>
        <p:txBody>
          <a:bodyPr wrap="square" lIns="0" tIns="0" rIns="0" bIns="0" rtlCol="0" anchor="ctr"/>
          <a:lstStyle/>
          <a:p>
            <a:pPr indent="0" marL="0">
              <a:buNone/>
            </a:pPr>
            <a:r>
              <a:rPr lang="en-US" sz="1250" b="1" dirty="0">
                <a:solidFill>
                  <a:schemeClr val="tx2"/>
                </a:solidFill>
              </a:rPr>
              <a:t>contact_messages</a:t>
            </a:r>
            <a:endParaRPr lang="en-US" sz="1250" dirty="0"/>
          </a:p>
        </p:txBody>
      </p:sp>
      <p:sp>
        <p:nvSpPr>
          <p:cNvPr id="22" name="Text 20"/>
          <p:cNvSpPr txBox="1"/>
          <p:nvPr/>
        </p:nvSpPr>
        <p:spPr>
          <a:xfrm>
            <a:off x="3767328" y="5303520"/>
            <a:ext cx="7827264" cy="457200"/>
          </a:xfrm>
          <a:prstGeom prst="rect">
            <a:avLst/>
          </a:prstGeom>
          <a:noFill/>
          <a:ln/>
        </p:spPr>
        <p:txBody>
          <a:bodyPr wrap="square" lIns="0" tIns="0" rIns="0" bIns="0" rtlCol="0" anchor="ctr"/>
          <a:lstStyle/>
          <a:p>
            <a:pPr indent="0" marL="0">
              <a:buNone/>
            </a:pPr>
            <a:r>
              <a:rPr lang="en-US" sz="1250" dirty="0">
                <a:solidFill>
                  <a:schemeClr val="tx1"/>
                </a:solidFill>
              </a:rPr>
              <a:t>Contact form persistence with an administrative inbox</a:t>
            </a:r>
            <a:endParaRPr lang="en-US" sz="1250" dirty="0"/>
          </a:p>
        </p:txBody>
      </p:sp>
      <p:sp>
        <p:nvSpPr>
          <p:cNvPr id="23" name="Text 21"/>
          <p:cNvSpPr txBox="1"/>
          <p:nvPr/>
        </p:nvSpPr>
        <p:spPr>
          <a:xfrm>
            <a:off x="566928" y="5943600"/>
            <a:ext cx="11027664" cy="320040"/>
          </a:xfrm>
          <a:prstGeom prst="rect">
            <a:avLst/>
          </a:prstGeom>
          <a:noFill/>
          <a:ln/>
        </p:spPr>
        <p:txBody>
          <a:bodyPr wrap="square" rtlCol="0" anchor="ctr"/>
          <a:lstStyle/>
          <a:p>
            <a:pPr indent="0" marL="0">
              <a:buNone/>
            </a:pPr>
            <a:r>
              <a:rPr lang="en-US" sz="1200" i="1" dirty="0">
                <a:solidFill>
                  <a:schemeClr val="accent6"/>
                </a:solidFill>
              </a:rPr>
              <a:t>65 commits, 27 July to 11 September 2026. Each increment left a deployable system.</a:t>
            </a:r>
            <a:endParaRPr lang="en-US" sz="1200" dirty="0"/>
          </a:p>
        </p:txBody>
      </p:sp>
      <p:sp>
        <p:nvSpPr>
          <p:cNvPr id="25" name="Slide Number Placeholder 0"/>
          <p:cNvSpPr>
            <a:spLocks noGrp="1"/>
          </p:cNvSpPr>
          <p:nvPr>
            <p:ph type="sldNum" sz="quarter" idx="4294967295"/>
          </p:nvPr>
        </p:nvSpPr>
        <p:spPr>
          <a:xfrm>
            <a:off x="11430000" y="6327648"/>
            <a:ext cx="45720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64748B"/>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66928" y="384048"/>
            <a:ext cx="11027664" cy="713232"/>
          </a:xfrm>
          <a:prstGeom prst="rect">
            <a:avLst/>
          </a:prstGeom>
          <a:noFill/>
          <a:ln/>
        </p:spPr>
        <p:txBody>
          <a:bodyPr wrap="square" rtlCol="0"/>
          <a:lstStyle/>
          <a:p>
            <a:pPr indent="0" marL="0">
              <a:buNone/>
            </a:pPr>
            <a:r>
              <a:rPr lang="en-US" sz="3200" b="1" dirty="0">
                <a:solidFill>
                  <a:srgbClr val="0F3057"/>
                </a:solidFill>
              </a:rPr>
              <a:t>Requirements</a:t>
            </a:r>
            <a:endParaRPr lang="en-US" sz="3200" dirty="0"/>
          </a:p>
        </p:txBody>
      </p:sp>
      <p:sp>
        <p:nvSpPr>
          <p:cNvPr id="3" name="rq-0"/>
          <p:cNvSpPr/>
          <p:nvPr/>
        </p:nvSpPr>
        <p:spPr>
          <a:xfrm>
            <a:off x="566928" y="1188720"/>
            <a:ext cx="2683764" cy="1371600"/>
          </a:xfrm>
          <a:prstGeom prst="roundRect">
            <a:avLst>
              <a:gd name="adj" fmla="val 4667"/>
            </a:avLst>
          </a:prstGeom>
          <a:solidFill>
            <a:srgbClr val="FFFFFF"/>
          </a:solidFill>
          <a:ln w="12700">
            <a:solidFill>
              <a:srgbClr val="DCE5EF"/>
            </a:solidFill>
            <a:prstDash val="solid"/>
          </a:ln>
          <a:effectLst>
            <a:outerShdw sx="100000" sy="100000" kx="0" ky="0" algn="bl" rotWithShape="0" blurRad="127000" dist="25400" dir="5400000">
              <a:srgbClr val="0F3057">
                <a:alpha val="10000"/>
              </a:srgbClr>
            </a:outerShdw>
          </a:effectLst>
        </p:spPr>
      </p:sp>
      <p:sp>
        <p:nvSpPr>
          <p:cNvPr id="4" name="Text 2"/>
          <p:cNvSpPr txBox="1"/>
          <p:nvPr/>
        </p:nvSpPr>
        <p:spPr>
          <a:xfrm>
            <a:off x="566928" y="1353312"/>
            <a:ext cx="2683764" cy="713232"/>
          </a:xfrm>
          <a:prstGeom prst="rect">
            <a:avLst/>
          </a:prstGeom>
          <a:noFill/>
          <a:ln/>
        </p:spPr>
        <p:txBody>
          <a:bodyPr wrap="square" lIns="0" tIns="0" rIns="0" bIns="0" rtlCol="0" anchor="ctr"/>
          <a:lstStyle/>
          <a:p>
            <a:pPr algn="ctr" indent="0" marL="0">
              <a:buNone/>
            </a:pPr>
            <a:r>
              <a:rPr lang="en-US" sz="4000" b="1" dirty="0">
                <a:solidFill>
                  <a:schemeClr val="accent1"/>
                </a:solidFill>
              </a:rPr>
              <a:t>22</a:t>
            </a:r>
            <a:endParaRPr lang="en-US" sz="4000" dirty="0"/>
          </a:p>
        </p:txBody>
      </p:sp>
      <p:sp>
        <p:nvSpPr>
          <p:cNvPr id="5" name="Text 3"/>
          <p:cNvSpPr txBox="1"/>
          <p:nvPr/>
        </p:nvSpPr>
        <p:spPr>
          <a:xfrm>
            <a:off x="566928" y="2048256"/>
            <a:ext cx="2683764" cy="457200"/>
          </a:xfrm>
          <a:prstGeom prst="rect">
            <a:avLst/>
          </a:prstGeom>
          <a:noFill/>
          <a:ln/>
        </p:spPr>
        <p:txBody>
          <a:bodyPr wrap="square" lIns="0" tIns="0" rIns="0" bIns="0" rtlCol="0" anchor="ctr"/>
          <a:lstStyle/>
          <a:p>
            <a:pPr algn="ctr" indent="0" marL="0">
              <a:buNone/>
            </a:pPr>
            <a:r>
              <a:rPr lang="en-US" sz="1100" dirty="0">
                <a:solidFill>
                  <a:schemeClr val="accent6"/>
                </a:solidFill>
              </a:rPr>
              <a:t>Functional</a:t>
            </a:r>
            <a:endParaRPr lang="en-US" sz="1100" dirty="0"/>
          </a:p>
          <a:p>
            <a:pPr algn="ctr" indent="0" marL="0">
              <a:buNone/>
            </a:pPr>
            <a:r>
              <a:rPr lang="en-US" sz="1100" dirty="0">
                <a:solidFill>
                  <a:schemeClr val="accent6"/>
                </a:solidFill>
              </a:rPr>
              <a:t>requirements</a:t>
            </a:r>
            <a:endParaRPr lang="en-US" sz="1100" dirty="0"/>
          </a:p>
        </p:txBody>
      </p:sp>
      <p:sp>
        <p:nvSpPr>
          <p:cNvPr id="6" name="rq-1"/>
          <p:cNvSpPr/>
          <p:nvPr/>
        </p:nvSpPr>
        <p:spPr>
          <a:xfrm>
            <a:off x="3396996" y="1188720"/>
            <a:ext cx="2683764" cy="1371600"/>
          </a:xfrm>
          <a:prstGeom prst="roundRect">
            <a:avLst>
              <a:gd name="adj" fmla="val 4667"/>
            </a:avLst>
          </a:prstGeom>
          <a:solidFill>
            <a:srgbClr val="FFFFFF"/>
          </a:solidFill>
          <a:ln w="12700">
            <a:solidFill>
              <a:srgbClr val="DCE5EF"/>
            </a:solidFill>
            <a:prstDash val="solid"/>
          </a:ln>
          <a:effectLst>
            <a:outerShdw sx="100000" sy="100000" kx="0" ky="0" algn="bl" rotWithShape="0" blurRad="127000" dist="25400" dir="5400000">
              <a:srgbClr val="0F3057">
                <a:alpha val="10000"/>
              </a:srgbClr>
            </a:outerShdw>
          </a:effectLst>
        </p:spPr>
      </p:sp>
      <p:sp>
        <p:nvSpPr>
          <p:cNvPr id="7" name="Text 5"/>
          <p:cNvSpPr txBox="1"/>
          <p:nvPr/>
        </p:nvSpPr>
        <p:spPr>
          <a:xfrm>
            <a:off x="3396996" y="1353312"/>
            <a:ext cx="2683764" cy="713232"/>
          </a:xfrm>
          <a:prstGeom prst="rect">
            <a:avLst/>
          </a:prstGeom>
          <a:noFill/>
          <a:ln/>
        </p:spPr>
        <p:txBody>
          <a:bodyPr wrap="square" lIns="0" tIns="0" rIns="0" bIns="0" rtlCol="0" anchor="ctr"/>
          <a:lstStyle/>
          <a:p>
            <a:pPr algn="ctr" indent="0" marL="0">
              <a:buNone/>
            </a:pPr>
            <a:r>
              <a:rPr lang="en-US" sz="4000" b="1" dirty="0">
                <a:solidFill>
                  <a:schemeClr val="accent1"/>
                </a:solidFill>
              </a:rPr>
              <a:t>14</a:t>
            </a:r>
            <a:endParaRPr lang="en-US" sz="4000" dirty="0"/>
          </a:p>
        </p:txBody>
      </p:sp>
      <p:sp>
        <p:nvSpPr>
          <p:cNvPr id="8" name="Text 6"/>
          <p:cNvSpPr txBox="1"/>
          <p:nvPr/>
        </p:nvSpPr>
        <p:spPr>
          <a:xfrm>
            <a:off x="3396996" y="2048256"/>
            <a:ext cx="2683764" cy="457200"/>
          </a:xfrm>
          <a:prstGeom prst="rect">
            <a:avLst/>
          </a:prstGeom>
          <a:noFill/>
          <a:ln/>
        </p:spPr>
        <p:txBody>
          <a:bodyPr wrap="square" lIns="0" tIns="0" rIns="0" bIns="0" rtlCol="0" anchor="ctr"/>
          <a:lstStyle/>
          <a:p>
            <a:pPr algn="ctr" indent="0" marL="0">
              <a:buNone/>
            </a:pPr>
            <a:r>
              <a:rPr lang="en-US" sz="1100" dirty="0">
                <a:solidFill>
                  <a:schemeClr val="accent6"/>
                </a:solidFill>
              </a:rPr>
              <a:t>Non-functional</a:t>
            </a:r>
            <a:endParaRPr lang="en-US" sz="1100" dirty="0"/>
          </a:p>
          <a:p>
            <a:pPr algn="ctr" indent="0" marL="0">
              <a:buNone/>
            </a:pPr>
            <a:r>
              <a:rPr lang="en-US" sz="1100" dirty="0">
                <a:solidFill>
                  <a:schemeClr val="accent6"/>
                </a:solidFill>
              </a:rPr>
              <a:t>requirements</a:t>
            </a:r>
            <a:endParaRPr lang="en-US" sz="1100" dirty="0"/>
          </a:p>
        </p:txBody>
      </p:sp>
      <p:sp>
        <p:nvSpPr>
          <p:cNvPr id="9" name="rq-2"/>
          <p:cNvSpPr/>
          <p:nvPr/>
        </p:nvSpPr>
        <p:spPr>
          <a:xfrm>
            <a:off x="6227064" y="1188720"/>
            <a:ext cx="2683764" cy="1371600"/>
          </a:xfrm>
          <a:prstGeom prst="roundRect">
            <a:avLst>
              <a:gd name="adj" fmla="val 4667"/>
            </a:avLst>
          </a:prstGeom>
          <a:solidFill>
            <a:srgbClr val="FFFFFF"/>
          </a:solidFill>
          <a:ln w="12700">
            <a:solidFill>
              <a:srgbClr val="DCE5EF"/>
            </a:solidFill>
            <a:prstDash val="solid"/>
          </a:ln>
          <a:effectLst>
            <a:outerShdw sx="100000" sy="100000" kx="0" ky="0" algn="bl" rotWithShape="0" blurRad="127000" dist="25400" dir="5400000">
              <a:srgbClr val="0F3057">
                <a:alpha val="10000"/>
              </a:srgbClr>
            </a:outerShdw>
          </a:effectLst>
        </p:spPr>
      </p:sp>
      <p:sp>
        <p:nvSpPr>
          <p:cNvPr id="10" name="Text 8"/>
          <p:cNvSpPr txBox="1"/>
          <p:nvPr/>
        </p:nvSpPr>
        <p:spPr>
          <a:xfrm>
            <a:off x="6227064" y="1353312"/>
            <a:ext cx="2683764" cy="713232"/>
          </a:xfrm>
          <a:prstGeom prst="rect">
            <a:avLst/>
          </a:prstGeom>
          <a:noFill/>
          <a:ln/>
        </p:spPr>
        <p:txBody>
          <a:bodyPr wrap="square" lIns="0" tIns="0" rIns="0" bIns="0" rtlCol="0" anchor="ctr"/>
          <a:lstStyle/>
          <a:p>
            <a:pPr algn="ctr" indent="0" marL="0">
              <a:buNone/>
            </a:pPr>
            <a:r>
              <a:rPr lang="en-US" sz="4000" b="1" dirty="0">
                <a:solidFill>
                  <a:schemeClr val="accent1"/>
                </a:solidFill>
              </a:rPr>
              <a:t>9</a:t>
            </a:r>
            <a:endParaRPr lang="en-US" sz="4000" dirty="0"/>
          </a:p>
        </p:txBody>
      </p:sp>
      <p:sp>
        <p:nvSpPr>
          <p:cNvPr id="11" name="Text 9"/>
          <p:cNvSpPr txBox="1"/>
          <p:nvPr/>
        </p:nvSpPr>
        <p:spPr>
          <a:xfrm>
            <a:off x="6227064" y="2048256"/>
            <a:ext cx="2683764" cy="457200"/>
          </a:xfrm>
          <a:prstGeom prst="rect">
            <a:avLst/>
          </a:prstGeom>
          <a:noFill/>
          <a:ln/>
        </p:spPr>
        <p:txBody>
          <a:bodyPr wrap="square" lIns="0" tIns="0" rIns="0" bIns="0" rtlCol="0" anchor="ctr"/>
          <a:lstStyle/>
          <a:p>
            <a:pPr algn="ctr" indent="0" marL="0">
              <a:buNone/>
            </a:pPr>
            <a:r>
              <a:rPr lang="en-US" sz="1100" dirty="0">
                <a:solidFill>
                  <a:schemeClr val="accent6"/>
                </a:solidFill>
              </a:rPr>
              <a:t>Specific</a:t>
            </a:r>
            <a:endParaRPr lang="en-US" sz="1100" dirty="0"/>
          </a:p>
          <a:p>
            <a:pPr algn="ctr" indent="0" marL="0">
              <a:buNone/>
            </a:pPr>
            <a:r>
              <a:rPr lang="en-US" sz="1100" dirty="0">
                <a:solidFill>
                  <a:schemeClr val="accent6"/>
                </a:solidFill>
              </a:rPr>
              <a:t>objectives</a:t>
            </a:r>
            <a:endParaRPr lang="en-US" sz="1100" dirty="0"/>
          </a:p>
        </p:txBody>
      </p:sp>
      <p:sp>
        <p:nvSpPr>
          <p:cNvPr id="12" name="rq-3"/>
          <p:cNvSpPr/>
          <p:nvPr/>
        </p:nvSpPr>
        <p:spPr>
          <a:xfrm>
            <a:off x="9057132" y="1188720"/>
            <a:ext cx="2683764" cy="1371600"/>
          </a:xfrm>
          <a:prstGeom prst="roundRect">
            <a:avLst>
              <a:gd name="adj" fmla="val 4667"/>
            </a:avLst>
          </a:prstGeom>
          <a:solidFill>
            <a:srgbClr val="FFFFFF"/>
          </a:solidFill>
          <a:ln w="12700">
            <a:solidFill>
              <a:srgbClr val="DCE5EF"/>
            </a:solidFill>
            <a:prstDash val="solid"/>
          </a:ln>
          <a:effectLst>
            <a:outerShdw sx="100000" sy="100000" kx="0" ky="0" algn="bl" rotWithShape="0" blurRad="127000" dist="25400" dir="5400000">
              <a:srgbClr val="0F3057">
                <a:alpha val="10000"/>
              </a:srgbClr>
            </a:outerShdw>
          </a:effectLst>
        </p:spPr>
      </p:sp>
      <p:sp>
        <p:nvSpPr>
          <p:cNvPr id="13" name="Text 11"/>
          <p:cNvSpPr txBox="1"/>
          <p:nvPr/>
        </p:nvSpPr>
        <p:spPr>
          <a:xfrm>
            <a:off x="9057132" y="1353312"/>
            <a:ext cx="2683764" cy="713232"/>
          </a:xfrm>
          <a:prstGeom prst="rect">
            <a:avLst/>
          </a:prstGeom>
          <a:noFill/>
          <a:ln/>
        </p:spPr>
        <p:txBody>
          <a:bodyPr wrap="square" lIns="0" tIns="0" rIns="0" bIns="0" rtlCol="0" anchor="ctr"/>
          <a:lstStyle/>
          <a:p>
            <a:pPr algn="ctr" indent="0" marL="0">
              <a:buNone/>
            </a:pPr>
            <a:r>
              <a:rPr lang="en-US" sz="4000" b="1" dirty="0">
                <a:solidFill>
                  <a:schemeClr val="accent1"/>
                </a:solidFill>
              </a:rPr>
              <a:t>6</a:t>
            </a:r>
            <a:endParaRPr lang="en-US" sz="4000" dirty="0"/>
          </a:p>
        </p:txBody>
      </p:sp>
      <p:sp>
        <p:nvSpPr>
          <p:cNvPr id="14" name="Text 12"/>
          <p:cNvSpPr txBox="1"/>
          <p:nvPr/>
        </p:nvSpPr>
        <p:spPr>
          <a:xfrm>
            <a:off x="9057132" y="2048256"/>
            <a:ext cx="2683764" cy="457200"/>
          </a:xfrm>
          <a:prstGeom prst="rect">
            <a:avLst/>
          </a:prstGeom>
          <a:noFill/>
          <a:ln/>
        </p:spPr>
        <p:txBody>
          <a:bodyPr wrap="square" lIns="0" tIns="0" rIns="0" bIns="0" rtlCol="0" anchor="ctr"/>
          <a:lstStyle/>
          <a:p>
            <a:pPr algn="ctr" indent="0" marL="0">
              <a:buNone/>
            </a:pPr>
            <a:r>
              <a:rPr lang="en-US" sz="1100" dirty="0">
                <a:solidFill>
                  <a:schemeClr val="accent6"/>
                </a:solidFill>
              </a:rPr>
              <a:t>Context</a:t>
            </a:r>
            <a:endParaRPr lang="en-US" sz="1100" dirty="0"/>
          </a:p>
          <a:p>
            <a:pPr algn="ctr" indent="0" marL="0">
              <a:buNone/>
            </a:pPr>
            <a:r>
              <a:rPr lang="en-US" sz="1100" dirty="0">
                <a:solidFill>
                  <a:schemeClr val="accent6"/>
                </a:solidFill>
              </a:rPr>
              <a:t>constraints</a:t>
            </a:r>
            <a:endParaRPr lang="en-US" sz="1100" dirty="0"/>
          </a:p>
        </p:txBody>
      </p:sp>
      <p:sp>
        <p:nvSpPr>
          <p:cNvPr id="15" name="Text 13"/>
          <p:cNvSpPr txBox="1"/>
          <p:nvPr/>
        </p:nvSpPr>
        <p:spPr>
          <a:xfrm>
            <a:off x="566928" y="2788920"/>
            <a:ext cx="11027664" cy="320040"/>
          </a:xfrm>
          <a:prstGeom prst="rect">
            <a:avLst/>
          </a:prstGeom>
          <a:noFill/>
          <a:ln/>
        </p:spPr>
        <p:txBody>
          <a:bodyPr wrap="square" rtlCol="0" anchor="ctr"/>
          <a:lstStyle/>
          <a:p>
            <a:pPr indent="0" marL="0">
              <a:buNone/>
            </a:pPr>
            <a:r>
              <a:rPr lang="en-US" sz="1400" b="1" dirty="0">
                <a:solidFill>
                  <a:schemeClr val="tx2"/>
                </a:solidFill>
              </a:rPr>
              <a:t>Non-functional requirements with measurable acceptance criteria</a:t>
            </a:r>
            <a:endParaRPr lang="en-US" sz="1400" dirty="0"/>
          </a:p>
        </p:txBody>
      </p:sp>
      <p:sp>
        <p:nvSpPr>
          <p:cNvPr id="16" name="Text 14"/>
          <p:cNvSpPr txBox="1"/>
          <p:nvPr/>
        </p:nvSpPr>
        <p:spPr>
          <a:xfrm>
            <a:off x="566928" y="3200400"/>
            <a:ext cx="914400" cy="402336"/>
          </a:xfrm>
          <a:prstGeom prst="rect">
            <a:avLst/>
          </a:prstGeom>
          <a:noFill/>
          <a:ln/>
        </p:spPr>
        <p:txBody>
          <a:bodyPr wrap="square" lIns="0" tIns="0" rIns="0" bIns="0" rtlCol="0" anchor="ctr"/>
          <a:lstStyle/>
          <a:p>
            <a:pPr indent="0" marL="0">
              <a:buNone/>
            </a:pPr>
            <a:r>
              <a:rPr lang="en-US" sz="1150" b="1" dirty="0">
                <a:solidFill>
                  <a:srgbClr val="C77C1E"/>
                </a:solidFill>
              </a:rPr>
              <a:t>NFR-01</a:t>
            </a:r>
            <a:endParaRPr lang="en-US" sz="1150" dirty="0"/>
          </a:p>
        </p:txBody>
      </p:sp>
      <p:sp>
        <p:nvSpPr>
          <p:cNvPr id="17" name="Text 15"/>
          <p:cNvSpPr txBox="1"/>
          <p:nvPr/>
        </p:nvSpPr>
        <p:spPr>
          <a:xfrm>
            <a:off x="1527048" y="3200400"/>
            <a:ext cx="1737360" cy="402336"/>
          </a:xfrm>
          <a:prstGeom prst="rect">
            <a:avLst/>
          </a:prstGeom>
          <a:noFill/>
          <a:ln/>
        </p:spPr>
        <p:txBody>
          <a:bodyPr wrap="square" lIns="0" tIns="0" rIns="0" bIns="0" rtlCol="0" anchor="ctr"/>
          <a:lstStyle/>
          <a:p>
            <a:pPr indent="0" marL="0">
              <a:buNone/>
            </a:pPr>
            <a:r>
              <a:rPr lang="en-US" sz="1250" b="1" dirty="0">
                <a:solidFill>
                  <a:schemeClr val="tx2"/>
                </a:solidFill>
              </a:rPr>
              <a:t>Credentials</a:t>
            </a:r>
            <a:endParaRPr lang="en-US" sz="1250" dirty="0"/>
          </a:p>
        </p:txBody>
      </p:sp>
      <p:sp>
        <p:nvSpPr>
          <p:cNvPr id="18" name="Text 16"/>
          <p:cNvSpPr txBox="1"/>
          <p:nvPr/>
        </p:nvSpPr>
        <p:spPr>
          <a:xfrm>
            <a:off x="3310128" y="3200400"/>
            <a:ext cx="8284464" cy="402336"/>
          </a:xfrm>
          <a:prstGeom prst="rect">
            <a:avLst/>
          </a:prstGeom>
          <a:noFill/>
          <a:ln/>
        </p:spPr>
        <p:txBody>
          <a:bodyPr wrap="square" lIns="0" tIns="0" rIns="0" bIns="0" rtlCol="0" anchor="ctr"/>
          <a:lstStyle/>
          <a:p>
            <a:pPr indent="0" marL="0">
              <a:buNone/>
            </a:pPr>
            <a:r>
              <a:rPr lang="en-US" sz="1250" dirty="0">
                <a:solidFill>
                  <a:schemeClr val="tx1"/>
                </a:solidFill>
              </a:rPr>
              <a:t>bcrypt, work factor ≥ 12; no plaintext in storage or logs</a:t>
            </a:r>
            <a:endParaRPr lang="en-US" sz="1250" dirty="0"/>
          </a:p>
        </p:txBody>
      </p:sp>
      <p:sp>
        <p:nvSpPr>
          <p:cNvPr id="19" name="Text 17"/>
          <p:cNvSpPr txBox="1"/>
          <p:nvPr/>
        </p:nvSpPr>
        <p:spPr>
          <a:xfrm>
            <a:off x="566928" y="3675888"/>
            <a:ext cx="914400" cy="402336"/>
          </a:xfrm>
          <a:prstGeom prst="rect">
            <a:avLst/>
          </a:prstGeom>
          <a:noFill/>
          <a:ln/>
        </p:spPr>
        <p:txBody>
          <a:bodyPr wrap="square" lIns="0" tIns="0" rIns="0" bIns="0" rtlCol="0" anchor="ctr"/>
          <a:lstStyle/>
          <a:p>
            <a:pPr indent="0" marL="0">
              <a:buNone/>
            </a:pPr>
            <a:r>
              <a:rPr lang="en-US" sz="1150" b="1" dirty="0">
                <a:solidFill>
                  <a:srgbClr val="C77C1E"/>
                </a:solidFill>
              </a:rPr>
              <a:t>NFR-05</a:t>
            </a:r>
            <a:endParaRPr lang="en-US" sz="1150" dirty="0"/>
          </a:p>
        </p:txBody>
      </p:sp>
      <p:sp>
        <p:nvSpPr>
          <p:cNvPr id="20" name="Text 18"/>
          <p:cNvSpPr txBox="1"/>
          <p:nvPr/>
        </p:nvSpPr>
        <p:spPr>
          <a:xfrm>
            <a:off x="1527048" y="3675888"/>
            <a:ext cx="1737360" cy="402336"/>
          </a:xfrm>
          <a:prstGeom prst="rect">
            <a:avLst/>
          </a:prstGeom>
          <a:noFill/>
          <a:ln/>
        </p:spPr>
        <p:txBody>
          <a:bodyPr wrap="square" lIns="0" tIns="0" rIns="0" bIns="0" rtlCol="0" anchor="ctr"/>
          <a:lstStyle/>
          <a:p>
            <a:pPr indent="0" marL="0">
              <a:buNone/>
            </a:pPr>
            <a:r>
              <a:rPr lang="en-US" sz="1250" b="1" dirty="0">
                <a:solidFill>
                  <a:schemeClr val="tx2"/>
                </a:solidFill>
              </a:rPr>
              <a:t>Price integrity</a:t>
            </a:r>
            <a:endParaRPr lang="en-US" sz="1250" dirty="0"/>
          </a:p>
        </p:txBody>
      </p:sp>
      <p:sp>
        <p:nvSpPr>
          <p:cNvPr id="21" name="Text 19"/>
          <p:cNvSpPr txBox="1"/>
          <p:nvPr/>
        </p:nvSpPr>
        <p:spPr>
          <a:xfrm>
            <a:off x="3310128" y="3675888"/>
            <a:ext cx="8284464" cy="402336"/>
          </a:xfrm>
          <a:prstGeom prst="rect">
            <a:avLst/>
          </a:prstGeom>
          <a:noFill/>
          <a:ln/>
        </p:spPr>
        <p:txBody>
          <a:bodyPr wrap="square" lIns="0" tIns="0" rIns="0" bIns="0" rtlCol="0" anchor="ctr"/>
          <a:lstStyle/>
          <a:p>
            <a:pPr indent="0" marL="0">
              <a:buNone/>
            </a:pPr>
            <a:r>
              <a:rPr lang="en-US" sz="1250" dirty="0">
                <a:solidFill>
                  <a:schemeClr val="tx1"/>
                </a:solidFill>
              </a:rPr>
              <a:t>No monetary amount accepted from the client, ever</a:t>
            </a:r>
            <a:endParaRPr lang="en-US" sz="1250" dirty="0"/>
          </a:p>
        </p:txBody>
      </p:sp>
      <p:sp>
        <p:nvSpPr>
          <p:cNvPr id="22" name="Text 20"/>
          <p:cNvSpPr txBox="1"/>
          <p:nvPr/>
        </p:nvSpPr>
        <p:spPr>
          <a:xfrm>
            <a:off x="566928" y="4151376"/>
            <a:ext cx="914400" cy="402336"/>
          </a:xfrm>
          <a:prstGeom prst="rect">
            <a:avLst/>
          </a:prstGeom>
          <a:noFill/>
          <a:ln/>
        </p:spPr>
        <p:txBody>
          <a:bodyPr wrap="square" lIns="0" tIns="0" rIns="0" bIns="0" rtlCol="0" anchor="ctr"/>
          <a:lstStyle/>
          <a:p>
            <a:pPr indent="0" marL="0">
              <a:buNone/>
            </a:pPr>
            <a:r>
              <a:rPr lang="en-US" sz="1150" b="1" dirty="0">
                <a:solidFill>
                  <a:srgbClr val="C77C1E"/>
                </a:solidFill>
              </a:rPr>
              <a:t>NFR-06</a:t>
            </a:r>
            <a:endParaRPr lang="en-US" sz="1150" dirty="0"/>
          </a:p>
        </p:txBody>
      </p:sp>
      <p:sp>
        <p:nvSpPr>
          <p:cNvPr id="23" name="Text 21"/>
          <p:cNvSpPr txBox="1"/>
          <p:nvPr/>
        </p:nvSpPr>
        <p:spPr>
          <a:xfrm>
            <a:off x="1527048" y="4151376"/>
            <a:ext cx="1737360" cy="402336"/>
          </a:xfrm>
          <a:prstGeom prst="rect">
            <a:avLst/>
          </a:prstGeom>
          <a:noFill/>
          <a:ln/>
        </p:spPr>
        <p:txBody>
          <a:bodyPr wrap="square" lIns="0" tIns="0" rIns="0" bIns="0" rtlCol="0" anchor="ctr"/>
          <a:lstStyle/>
          <a:p>
            <a:pPr indent="0" marL="0">
              <a:buNone/>
            </a:pPr>
            <a:r>
              <a:rPr lang="en-US" sz="1250" b="1" dirty="0">
                <a:solidFill>
                  <a:schemeClr val="tx2"/>
                </a:solidFill>
              </a:rPr>
              <a:t>Reliability</a:t>
            </a:r>
            <a:endParaRPr lang="en-US" sz="1250" dirty="0"/>
          </a:p>
        </p:txBody>
      </p:sp>
      <p:sp>
        <p:nvSpPr>
          <p:cNvPr id="24" name="Text 22"/>
          <p:cNvSpPr txBox="1"/>
          <p:nvPr/>
        </p:nvSpPr>
        <p:spPr>
          <a:xfrm>
            <a:off x="3310128" y="4151376"/>
            <a:ext cx="8284464" cy="402336"/>
          </a:xfrm>
          <a:prstGeom prst="rect">
            <a:avLst/>
          </a:prstGeom>
          <a:noFill/>
          <a:ln/>
        </p:spPr>
        <p:txBody>
          <a:bodyPr wrap="square" lIns="0" tIns="0" rIns="0" bIns="0" rtlCol="0" anchor="ctr"/>
          <a:lstStyle/>
          <a:p>
            <a:pPr indent="0" marL="0">
              <a:buNone/>
            </a:pPr>
            <a:r>
              <a:rPr lang="en-US" sz="1250" dirty="0">
                <a:solidFill>
                  <a:schemeClr val="tx1"/>
                </a:solidFill>
              </a:rPr>
              <a:t>A successful charge always grants access, even if the client disconnects</a:t>
            </a:r>
            <a:endParaRPr lang="en-US" sz="1250" dirty="0"/>
          </a:p>
        </p:txBody>
      </p:sp>
      <p:sp>
        <p:nvSpPr>
          <p:cNvPr id="25" name="Text 23"/>
          <p:cNvSpPr txBox="1"/>
          <p:nvPr/>
        </p:nvSpPr>
        <p:spPr>
          <a:xfrm>
            <a:off x="566928" y="4626864"/>
            <a:ext cx="914400" cy="402336"/>
          </a:xfrm>
          <a:prstGeom prst="rect">
            <a:avLst/>
          </a:prstGeom>
          <a:noFill/>
          <a:ln/>
        </p:spPr>
        <p:txBody>
          <a:bodyPr wrap="square" lIns="0" tIns="0" rIns="0" bIns="0" rtlCol="0" anchor="ctr"/>
          <a:lstStyle/>
          <a:p>
            <a:pPr indent="0" marL="0">
              <a:buNone/>
            </a:pPr>
            <a:r>
              <a:rPr lang="en-US" sz="1150" b="1" dirty="0">
                <a:solidFill>
                  <a:srgbClr val="C77C1E"/>
                </a:solidFill>
              </a:rPr>
              <a:t>NFR-09</a:t>
            </a:r>
            <a:endParaRPr lang="en-US" sz="1150" dirty="0"/>
          </a:p>
        </p:txBody>
      </p:sp>
      <p:sp>
        <p:nvSpPr>
          <p:cNvPr id="26" name="Text 24"/>
          <p:cNvSpPr txBox="1"/>
          <p:nvPr/>
        </p:nvSpPr>
        <p:spPr>
          <a:xfrm>
            <a:off x="1527048" y="4626864"/>
            <a:ext cx="1737360" cy="402336"/>
          </a:xfrm>
          <a:prstGeom prst="rect">
            <a:avLst/>
          </a:prstGeom>
          <a:noFill/>
          <a:ln/>
        </p:spPr>
        <p:txBody>
          <a:bodyPr wrap="square" lIns="0" tIns="0" rIns="0" bIns="0" rtlCol="0" anchor="ctr"/>
          <a:lstStyle/>
          <a:p>
            <a:pPr indent="0" marL="0">
              <a:buNone/>
            </a:pPr>
            <a:r>
              <a:rPr lang="en-US" sz="1250" b="1" dirty="0">
                <a:solidFill>
                  <a:schemeClr val="tx2"/>
                </a:solidFill>
              </a:rPr>
              <a:t>Accessibility</a:t>
            </a:r>
            <a:endParaRPr lang="en-US" sz="1250" dirty="0"/>
          </a:p>
        </p:txBody>
      </p:sp>
      <p:sp>
        <p:nvSpPr>
          <p:cNvPr id="27" name="Text 25"/>
          <p:cNvSpPr txBox="1"/>
          <p:nvPr/>
        </p:nvSpPr>
        <p:spPr>
          <a:xfrm>
            <a:off x="3310128" y="4626864"/>
            <a:ext cx="8284464" cy="402336"/>
          </a:xfrm>
          <a:prstGeom prst="rect">
            <a:avLst/>
          </a:prstGeom>
          <a:noFill/>
          <a:ln/>
        </p:spPr>
        <p:txBody>
          <a:bodyPr wrap="square" lIns="0" tIns="0" rIns="0" bIns="0" rtlCol="0" anchor="ctr"/>
          <a:lstStyle/>
          <a:p>
            <a:pPr indent="0" marL="0">
              <a:buNone/>
            </a:pPr>
            <a:r>
              <a:rPr lang="en-US" sz="1250" dirty="0">
                <a:solidFill>
                  <a:schemeClr val="tx1"/>
                </a:solidFill>
              </a:rPr>
              <a:t>WCAG 2.1 AA — 4.5:1 for text, 3:1 for interface components</a:t>
            </a:r>
            <a:endParaRPr lang="en-US" sz="1250" dirty="0"/>
          </a:p>
        </p:txBody>
      </p:sp>
      <p:sp>
        <p:nvSpPr>
          <p:cNvPr id="28" name="Text 26"/>
          <p:cNvSpPr txBox="1"/>
          <p:nvPr/>
        </p:nvSpPr>
        <p:spPr>
          <a:xfrm>
            <a:off x="566928" y="5102352"/>
            <a:ext cx="914400" cy="402336"/>
          </a:xfrm>
          <a:prstGeom prst="rect">
            <a:avLst/>
          </a:prstGeom>
          <a:noFill/>
          <a:ln/>
        </p:spPr>
        <p:txBody>
          <a:bodyPr wrap="square" lIns="0" tIns="0" rIns="0" bIns="0" rtlCol="0" anchor="ctr"/>
          <a:lstStyle/>
          <a:p>
            <a:pPr indent="0" marL="0">
              <a:buNone/>
            </a:pPr>
            <a:r>
              <a:rPr lang="en-US" sz="1150" b="1" dirty="0">
                <a:solidFill>
                  <a:srgbClr val="C77C1E"/>
                </a:solidFill>
              </a:rPr>
              <a:t>NFR-10</a:t>
            </a:r>
            <a:endParaRPr lang="en-US" sz="1150" dirty="0"/>
          </a:p>
        </p:txBody>
      </p:sp>
      <p:sp>
        <p:nvSpPr>
          <p:cNvPr id="29" name="Text 27"/>
          <p:cNvSpPr txBox="1"/>
          <p:nvPr/>
        </p:nvSpPr>
        <p:spPr>
          <a:xfrm>
            <a:off x="1527048" y="5102352"/>
            <a:ext cx="1737360" cy="402336"/>
          </a:xfrm>
          <a:prstGeom prst="rect">
            <a:avLst/>
          </a:prstGeom>
          <a:noFill/>
          <a:ln/>
        </p:spPr>
        <p:txBody>
          <a:bodyPr wrap="square" lIns="0" tIns="0" rIns="0" bIns="0" rtlCol="0" anchor="ctr"/>
          <a:lstStyle/>
          <a:p>
            <a:pPr indent="0" marL="0">
              <a:buNone/>
            </a:pPr>
            <a:r>
              <a:rPr lang="en-US" sz="1250" b="1" dirty="0">
                <a:solidFill>
                  <a:schemeClr val="tx2"/>
                </a:solidFill>
              </a:rPr>
              <a:t>Bilingual</a:t>
            </a:r>
            <a:endParaRPr lang="en-US" sz="1250" dirty="0"/>
          </a:p>
        </p:txBody>
      </p:sp>
      <p:sp>
        <p:nvSpPr>
          <p:cNvPr id="30" name="Text 28"/>
          <p:cNvSpPr txBox="1"/>
          <p:nvPr/>
        </p:nvSpPr>
        <p:spPr>
          <a:xfrm>
            <a:off x="3310128" y="5102352"/>
            <a:ext cx="8284464" cy="402336"/>
          </a:xfrm>
          <a:prstGeom prst="rect">
            <a:avLst/>
          </a:prstGeom>
          <a:noFill/>
          <a:ln/>
        </p:spPr>
        <p:txBody>
          <a:bodyPr wrap="square" lIns="0" tIns="0" rIns="0" bIns="0" rtlCol="0" anchor="ctr"/>
          <a:lstStyle/>
          <a:p>
            <a:pPr indent="0" marL="0">
              <a:buNone/>
            </a:pPr>
            <a:r>
              <a:rPr lang="en-US" sz="1250" dirty="0">
                <a:solidFill>
                  <a:schemeClr val="tx1"/>
                </a:solidFill>
              </a:rPr>
              <a:t>Complete English and French interface, choice persisted</a:t>
            </a:r>
            <a:endParaRPr lang="en-US" sz="1250" dirty="0"/>
          </a:p>
        </p:txBody>
      </p:sp>
      <p:sp>
        <p:nvSpPr>
          <p:cNvPr id="31" name="Text 29"/>
          <p:cNvSpPr txBox="1"/>
          <p:nvPr/>
        </p:nvSpPr>
        <p:spPr>
          <a:xfrm>
            <a:off x="566928" y="5577840"/>
            <a:ext cx="914400" cy="402336"/>
          </a:xfrm>
          <a:prstGeom prst="rect">
            <a:avLst/>
          </a:prstGeom>
          <a:noFill/>
          <a:ln/>
        </p:spPr>
        <p:txBody>
          <a:bodyPr wrap="square" lIns="0" tIns="0" rIns="0" bIns="0" rtlCol="0" anchor="ctr"/>
          <a:lstStyle/>
          <a:p>
            <a:pPr indent="0" marL="0">
              <a:buNone/>
            </a:pPr>
            <a:r>
              <a:rPr lang="en-US" sz="1150" b="1" dirty="0">
                <a:solidFill>
                  <a:srgbClr val="C77C1E"/>
                </a:solidFill>
              </a:rPr>
              <a:t>NFR-11</a:t>
            </a:r>
            <a:endParaRPr lang="en-US" sz="1150" dirty="0"/>
          </a:p>
        </p:txBody>
      </p:sp>
      <p:sp>
        <p:nvSpPr>
          <p:cNvPr id="32" name="Text 30"/>
          <p:cNvSpPr txBox="1"/>
          <p:nvPr/>
        </p:nvSpPr>
        <p:spPr>
          <a:xfrm>
            <a:off x="1527048" y="5577840"/>
            <a:ext cx="1737360" cy="402336"/>
          </a:xfrm>
          <a:prstGeom prst="rect">
            <a:avLst/>
          </a:prstGeom>
          <a:noFill/>
          <a:ln/>
        </p:spPr>
        <p:txBody>
          <a:bodyPr wrap="square" lIns="0" tIns="0" rIns="0" bIns="0" rtlCol="0" anchor="ctr"/>
          <a:lstStyle/>
          <a:p>
            <a:pPr indent="0" marL="0">
              <a:buNone/>
            </a:pPr>
            <a:r>
              <a:rPr lang="en-US" sz="1250" b="1" dirty="0">
                <a:solidFill>
                  <a:schemeClr val="tx2"/>
                </a:solidFill>
              </a:rPr>
              <a:t>Performance</a:t>
            </a:r>
            <a:endParaRPr lang="en-US" sz="1250" dirty="0"/>
          </a:p>
        </p:txBody>
      </p:sp>
      <p:sp>
        <p:nvSpPr>
          <p:cNvPr id="33" name="Text 31"/>
          <p:cNvSpPr txBox="1"/>
          <p:nvPr/>
        </p:nvSpPr>
        <p:spPr>
          <a:xfrm>
            <a:off x="3310128" y="5577840"/>
            <a:ext cx="8284464" cy="402336"/>
          </a:xfrm>
          <a:prstGeom prst="rect">
            <a:avLst/>
          </a:prstGeom>
          <a:noFill/>
          <a:ln/>
        </p:spPr>
        <p:txBody>
          <a:bodyPr wrap="square" lIns="0" tIns="0" rIns="0" bIns="0" rtlCol="0" anchor="ctr"/>
          <a:lstStyle/>
          <a:p>
            <a:pPr indent="0" marL="0">
              <a:buNone/>
            </a:pPr>
            <a:r>
              <a:rPr lang="en-US" sz="1250" dirty="0">
                <a:solidFill>
                  <a:schemeClr val="tx1"/>
                </a:solidFill>
              </a:rPr>
              <a:t>Unprotected downloads not proxied through the application server</a:t>
            </a:r>
            <a:endParaRPr lang="en-US" sz="1250" dirty="0"/>
          </a:p>
        </p:txBody>
      </p:sp>
      <p:sp>
        <p:nvSpPr>
          <p:cNvPr id="25" name="Slide Number Placeholder 0"/>
          <p:cNvSpPr>
            <a:spLocks noGrp="1"/>
          </p:cNvSpPr>
          <p:nvPr>
            <p:ph type="sldNum" sz="quarter" idx="4294967295"/>
          </p:nvPr>
        </p:nvSpPr>
        <p:spPr>
          <a:xfrm>
            <a:off x="11430000" y="6327648"/>
            <a:ext cx="45720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64748B"/>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566928" y="384048"/>
            <a:ext cx="11027664" cy="713232"/>
          </a:xfrm>
          <a:prstGeom prst="rect">
            <a:avLst/>
          </a:prstGeom>
          <a:noFill/>
          <a:ln/>
        </p:spPr>
        <p:txBody>
          <a:bodyPr wrap="square" rtlCol="0"/>
          <a:lstStyle/>
          <a:p>
            <a:pPr indent="0" marL="0">
              <a:buNone/>
            </a:pPr>
            <a:r>
              <a:rPr lang="en-US" sz="3200" b="1" dirty="0">
                <a:solidFill>
                  <a:srgbClr val="0F3057"/>
                </a:solidFill>
              </a:rPr>
              <a:t>System architecture</a:t>
            </a:r>
            <a:endParaRPr lang="en-US" sz="3200" dirty="0"/>
          </a:p>
        </p:txBody>
      </p:sp>
      <p:sp>
        <p:nvSpPr>
          <p:cNvPr id="3" name="Text 1"/>
          <p:cNvSpPr txBox="1"/>
          <p:nvPr/>
        </p:nvSpPr>
        <p:spPr>
          <a:xfrm>
            <a:off x="566928" y="932688"/>
            <a:ext cx="2743200" cy="237744"/>
          </a:xfrm>
          <a:prstGeom prst="rect">
            <a:avLst/>
          </a:prstGeom>
          <a:noFill/>
          <a:ln/>
        </p:spPr>
        <p:txBody>
          <a:bodyPr wrap="square" lIns="0" tIns="0" rIns="0" bIns="0" rtlCol="0" anchor="ctr"/>
          <a:lstStyle/>
          <a:p>
            <a:pPr indent="0" marL="0">
              <a:buNone/>
            </a:pPr>
            <a:r>
              <a:rPr lang="en-US" sz="950" b="1" spc="200" kern="0" dirty="0">
                <a:solidFill>
                  <a:schemeClr val="accent6"/>
                </a:solidFill>
              </a:rPr>
              <a:t>CLIENT</a:t>
            </a:r>
            <a:endParaRPr lang="en-US" sz="950" dirty="0"/>
          </a:p>
        </p:txBody>
      </p:sp>
      <p:sp>
        <p:nvSpPr>
          <p:cNvPr id="4" name="arch-0-0"/>
          <p:cNvSpPr/>
          <p:nvPr/>
        </p:nvSpPr>
        <p:spPr>
          <a:xfrm>
            <a:off x="566928" y="1207008"/>
            <a:ext cx="11027664" cy="1207008"/>
          </a:xfrm>
          <a:prstGeom prst="roundRect">
            <a:avLst>
              <a:gd name="adj" fmla="val 5303"/>
            </a:avLst>
          </a:prstGeom>
          <a:solidFill>
            <a:srgbClr val="FFFFFF"/>
          </a:solidFill>
          <a:ln w="12700">
            <a:solidFill>
              <a:srgbClr val="C3D6E8"/>
            </a:solidFill>
            <a:prstDash val="solid"/>
          </a:ln>
          <a:effectLst>
            <a:outerShdw sx="100000" sy="100000" kx="0" ky="0" algn="bl" rotWithShape="0" blurRad="127000" dist="25400" dir="5400000">
              <a:srgbClr val="0F3057">
                <a:alpha val="10000"/>
              </a:srgbClr>
            </a:outerShdw>
          </a:effectLst>
        </p:spPr>
      </p:sp>
      <p:sp>
        <p:nvSpPr>
          <p:cNvPr id="5" name="archmark-0-0"/>
          <p:cNvSpPr/>
          <p:nvPr/>
        </p:nvSpPr>
        <p:spPr>
          <a:xfrm>
            <a:off x="566928" y="1207008"/>
            <a:ext cx="50292" cy="1207008"/>
          </a:xfrm>
          <a:prstGeom prst="rect">
            <a:avLst/>
          </a:prstGeom>
          <a:solidFill>
            <a:schemeClr val="accent1"/>
          </a:solidFill>
          <a:ln w="12700">
            <a:solidFill>
              <a:srgbClr val="333333"/>
            </a:solidFill>
            <a:prstDash val="solid"/>
          </a:ln>
        </p:spPr>
      </p:sp>
      <p:sp>
        <p:nvSpPr>
          <p:cNvPr id="6" name="Text 4"/>
          <p:cNvSpPr txBox="1"/>
          <p:nvPr/>
        </p:nvSpPr>
        <p:spPr>
          <a:xfrm>
            <a:off x="841248" y="1389888"/>
            <a:ext cx="10524744" cy="384048"/>
          </a:xfrm>
          <a:prstGeom prst="rect">
            <a:avLst/>
          </a:prstGeom>
          <a:noFill/>
          <a:ln/>
        </p:spPr>
        <p:txBody>
          <a:bodyPr wrap="square" lIns="0" tIns="0" rIns="0" bIns="0" rtlCol="0" anchor="ctr"/>
          <a:lstStyle/>
          <a:p>
            <a:pPr indent="0" marL="0">
              <a:buNone/>
            </a:pPr>
            <a:r>
              <a:rPr lang="en-US" sz="1450" b="1" dirty="0">
                <a:solidFill>
                  <a:schemeClr val="tx2"/>
                </a:solidFill>
              </a:rPr>
              <a:t>React 19 single-page application</a:t>
            </a:r>
            <a:endParaRPr lang="en-US" sz="1450" dirty="0"/>
          </a:p>
        </p:txBody>
      </p:sp>
      <p:sp>
        <p:nvSpPr>
          <p:cNvPr id="7" name="Text 5"/>
          <p:cNvSpPr txBox="1"/>
          <p:nvPr/>
        </p:nvSpPr>
        <p:spPr>
          <a:xfrm>
            <a:off x="841248" y="1792224"/>
            <a:ext cx="10524744" cy="548640"/>
          </a:xfrm>
          <a:prstGeom prst="rect">
            <a:avLst/>
          </a:prstGeom>
          <a:noFill/>
          <a:ln/>
        </p:spPr>
        <p:txBody>
          <a:bodyPr wrap="square" lIns="0" tIns="0" rIns="0" bIns="0" rtlCol="0" anchor="ctr"/>
          <a:lstStyle/>
          <a:p>
            <a:pPr indent="0" marL="0">
              <a:lnSpc>
                <a:spcPts val="1500"/>
              </a:lnSpc>
              <a:buNone/>
            </a:pPr>
            <a:r>
              <a:rPr lang="en-US" sz="1150" dirty="0">
                <a:solidFill>
                  <a:schemeClr val="accent6"/>
                </a:solidFill>
              </a:rPr>
              <a:t>Routing, component state, service worker. Installable, usable offline.</a:t>
            </a:r>
            <a:endParaRPr lang="en-US" sz="1150" dirty="0"/>
          </a:p>
        </p:txBody>
      </p:sp>
      <p:sp>
        <p:nvSpPr>
          <p:cNvPr id="8" name="Text 6"/>
          <p:cNvSpPr txBox="1"/>
          <p:nvPr/>
        </p:nvSpPr>
        <p:spPr>
          <a:xfrm>
            <a:off x="566928" y="2578608"/>
            <a:ext cx="2743200" cy="237744"/>
          </a:xfrm>
          <a:prstGeom prst="rect">
            <a:avLst/>
          </a:prstGeom>
          <a:noFill/>
          <a:ln/>
        </p:spPr>
        <p:txBody>
          <a:bodyPr wrap="square" lIns="0" tIns="0" rIns="0" bIns="0" rtlCol="0" anchor="ctr"/>
          <a:lstStyle/>
          <a:p>
            <a:pPr indent="0" marL="0">
              <a:buNone/>
            </a:pPr>
            <a:r>
              <a:rPr lang="en-US" sz="950" b="1" spc="200" kern="0" dirty="0">
                <a:solidFill>
                  <a:schemeClr val="accent6"/>
                </a:solidFill>
              </a:rPr>
              <a:t>APPLICATION</a:t>
            </a:r>
            <a:endParaRPr lang="en-US" sz="950" dirty="0"/>
          </a:p>
        </p:txBody>
      </p:sp>
      <p:sp>
        <p:nvSpPr>
          <p:cNvPr id="9" name="arch-1-0"/>
          <p:cNvSpPr/>
          <p:nvPr/>
        </p:nvSpPr>
        <p:spPr>
          <a:xfrm>
            <a:off x="566928" y="2852928"/>
            <a:ext cx="3590544" cy="1207008"/>
          </a:xfrm>
          <a:prstGeom prst="roundRect">
            <a:avLst>
              <a:gd name="adj" fmla="val 5303"/>
            </a:avLst>
          </a:prstGeom>
          <a:solidFill>
            <a:srgbClr val="FFFFFF"/>
          </a:solidFill>
          <a:ln w="12700">
            <a:solidFill>
              <a:srgbClr val="C3D6E8"/>
            </a:solidFill>
            <a:prstDash val="solid"/>
          </a:ln>
          <a:effectLst>
            <a:outerShdw sx="100000" sy="100000" kx="0" ky="0" algn="bl" rotWithShape="0" blurRad="127000" dist="25400" dir="5400000">
              <a:srgbClr val="0F3057">
                <a:alpha val="10000"/>
              </a:srgbClr>
            </a:outerShdw>
          </a:effectLst>
        </p:spPr>
      </p:sp>
      <p:sp>
        <p:nvSpPr>
          <p:cNvPr id="10" name="archmark-1-0"/>
          <p:cNvSpPr/>
          <p:nvPr/>
        </p:nvSpPr>
        <p:spPr>
          <a:xfrm>
            <a:off x="566928" y="2852928"/>
            <a:ext cx="50292" cy="1207008"/>
          </a:xfrm>
          <a:prstGeom prst="rect">
            <a:avLst/>
          </a:prstGeom>
          <a:solidFill>
            <a:schemeClr val="accent2"/>
          </a:solidFill>
          <a:ln w="12700">
            <a:solidFill>
              <a:srgbClr val="333333"/>
            </a:solidFill>
            <a:prstDash val="solid"/>
          </a:ln>
        </p:spPr>
      </p:sp>
      <p:sp>
        <p:nvSpPr>
          <p:cNvPr id="11" name="Text 9"/>
          <p:cNvSpPr txBox="1"/>
          <p:nvPr/>
        </p:nvSpPr>
        <p:spPr>
          <a:xfrm>
            <a:off x="841248" y="3035808"/>
            <a:ext cx="3087624" cy="384048"/>
          </a:xfrm>
          <a:prstGeom prst="rect">
            <a:avLst/>
          </a:prstGeom>
          <a:noFill/>
          <a:ln/>
        </p:spPr>
        <p:txBody>
          <a:bodyPr wrap="square" lIns="0" tIns="0" rIns="0" bIns="0" rtlCol="0" anchor="ctr"/>
          <a:lstStyle/>
          <a:p>
            <a:pPr indent="0" marL="0">
              <a:buNone/>
            </a:pPr>
            <a:r>
              <a:rPr lang="en-US" sz="1450" b="1" dirty="0">
                <a:solidFill>
                  <a:schemeClr val="tx2"/>
                </a:solidFill>
              </a:rPr>
              <a:t>Express 5 REST API</a:t>
            </a:r>
            <a:endParaRPr lang="en-US" sz="1450" dirty="0"/>
          </a:p>
        </p:txBody>
      </p:sp>
      <p:sp>
        <p:nvSpPr>
          <p:cNvPr id="12" name="Text 10"/>
          <p:cNvSpPr txBox="1"/>
          <p:nvPr/>
        </p:nvSpPr>
        <p:spPr>
          <a:xfrm>
            <a:off x="841248" y="3438144"/>
            <a:ext cx="3087624" cy="548640"/>
          </a:xfrm>
          <a:prstGeom prst="rect">
            <a:avLst/>
          </a:prstGeom>
          <a:noFill/>
          <a:ln/>
        </p:spPr>
        <p:txBody>
          <a:bodyPr wrap="square" lIns="0" tIns="0" rIns="0" bIns="0" rtlCol="0" anchor="ctr"/>
          <a:lstStyle/>
          <a:p>
            <a:pPr indent="0" marL="0">
              <a:lnSpc>
                <a:spcPts val="1500"/>
              </a:lnSpc>
              <a:buNone/>
            </a:pPr>
            <a:r>
              <a:rPr lang="en-US" sz="1150" dirty="0">
                <a:solidFill>
                  <a:schemeClr val="accent6"/>
                </a:solidFill>
              </a:rPr>
              <a:t>12 route modules, 88 endpoints</a:t>
            </a:r>
            <a:endParaRPr lang="en-US" sz="1150" dirty="0"/>
          </a:p>
        </p:txBody>
      </p:sp>
      <p:sp>
        <p:nvSpPr>
          <p:cNvPr id="13" name="arch-1-1"/>
          <p:cNvSpPr/>
          <p:nvPr/>
        </p:nvSpPr>
        <p:spPr>
          <a:xfrm>
            <a:off x="4285488" y="2852928"/>
            <a:ext cx="3590544" cy="1207008"/>
          </a:xfrm>
          <a:prstGeom prst="roundRect">
            <a:avLst>
              <a:gd name="adj" fmla="val 5303"/>
            </a:avLst>
          </a:prstGeom>
          <a:solidFill>
            <a:srgbClr val="FFFFFF"/>
          </a:solidFill>
          <a:ln w="12700">
            <a:solidFill>
              <a:srgbClr val="C3D6E8"/>
            </a:solidFill>
            <a:prstDash val="solid"/>
          </a:ln>
          <a:effectLst>
            <a:outerShdw sx="100000" sy="100000" kx="0" ky="0" algn="bl" rotWithShape="0" blurRad="127000" dist="25400" dir="5400000">
              <a:srgbClr val="0F3057">
                <a:alpha val="10000"/>
              </a:srgbClr>
            </a:outerShdw>
          </a:effectLst>
        </p:spPr>
      </p:sp>
      <p:sp>
        <p:nvSpPr>
          <p:cNvPr id="14" name="archmark-1-1"/>
          <p:cNvSpPr/>
          <p:nvPr/>
        </p:nvSpPr>
        <p:spPr>
          <a:xfrm>
            <a:off x="4285488" y="2852928"/>
            <a:ext cx="50292" cy="1207008"/>
          </a:xfrm>
          <a:prstGeom prst="rect">
            <a:avLst/>
          </a:prstGeom>
          <a:solidFill>
            <a:schemeClr val="accent2"/>
          </a:solidFill>
          <a:ln w="12700">
            <a:solidFill>
              <a:srgbClr val="333333"/>
            </a:solidFill>
            <a:prstDash val="solid"/>
          </a:ln>
        </p:spPr>
      </p:sp>
      <p:sp>
        <p:nvSpPr>
          <p:cNvPr id="15" name="Text 13"/>
          <p:cNvSpPr txBox="1"/>
          <p:nvPr/>
        </p:nvSpPr>
        <p:spPr>
          <a:xfrm>
            <a:off x="4559808" y="3035808"/>
            <a:ext cx="3087624" cy="384048"/>
          </a:xfrm>
          <a:prstGeom prst="rect">
            <a:avLst/>
          </a:prstGeom>
          <a:noFill/>
          <a:ln/>
        </p:spPr>
        <p:txBody>
          <a:bodyPr wrap="square" lIns="0" tIns="0" rIns="0" bIns="0" rtlCol="0" anchor="ctr"/>
          <a:lstStyle/>
          <a:p>
            <a:pPr indent="0" marL="0">
              <a:buNone/>
            </a:pPr>
            <a:r>
              <a:rPr lang="en-US" sz="1450" b="1" dirty="0">
                <a:solidFill>
                  <a:schemeClr val="tx2"/>
                </a:solidFill>
              </a:rPr>
              <a:t>Socket.IO server</a:t>
            </a:r>
            <a:endParaRPr lang="en-US" sz="1450" dirty="0"/>
          </a:p>
        </p:txBody>
      </p:sp>
      <p:sp>
        <p:nvSpPr>
          <p:cNvPr id="16" name="Text 14"/>
          <p:cNvSpPr txBox="1"/>
          <p:nvPr/>
        </p:nvSpPr>
        <p:spPr>
          <a:xfrm>
            <a:off x="4559808" y="3438144"/>
            <a:ext cx="3087624" cy="548640"/>
          </a:xfrm>
          <a:prstGeom prst="rect">
            <a:avLst/>
          </a:prstGeom>
          <a:noFill/>
          <a:ln/>
        </p:spPr>
        <p:txBody>
          <a:bodyPr wrap="square" lIns="0" tIns="0" rIns="0" bIns="0" rtlCol="0" anchor="ctr"/>
          <a:lstStyle/>
          <a:p>
            <a:pPr indent="0" marL="0">
              <a:lnSpc>
                <a:spcPts val="1500"/>
              </a:lnSpc>
              <a:buNone/>
            </a:pPr>
            <a:r>
              <a:rPr lang="en-US" sz="1150" dirty="0">
                <a:solidFill>
                  <a:schemeClr val="accent6"/>
                </a:solidFill>
              </a:rPr>
              <a:t>Authenticated handshake, one room per group</a:t>
            </a:r>
            <a:endParaRPr lang="en-US" sz="1150" dirty="0"/>
          </a:p>
        </p:txBody>
      </p:sp>
      <p:sp>
        <p:nvSpPr>
          <p:cNvPr id="17" name="arch-1-2"/>
          <p:cNvSpPr/>
          <p:nvPr/>
        </p:nvSpPr>
        <p:spPr>
          <a:xfrm>
            <a:off x="8004048" y="2852928"/>
            <a:ext cx="3590544" cy="1207008"/>
          </a:xfrm>
          <a:prstGeom prst="roundRect">
            <a:avLst>
              <a:gd name="adj" fmla="val 5303"/>
            </a:avLst>
          </a:prstGeom>
          <a:solidFill>
            <a:srgbClr val="FFFFFF"/>
          </a:solidFill>
          <a:ln w="12700">
            <a:solidFill>
              <a:srgbClr val="C3D6E8"/>
            </a:solidFill>
            <a:prstDash val="solid"/>
          </a:ln>
          <a:effectLst>
            <a:outerShdw sx="100000" sy="100000" kx="0" ky="0" algn="bl" rotWithShape="0" blurRad="127000" dist="25400" dir="5400000">
              <a:srgbClr val="0F3057">
                <a:alpha val="10000"/>
              </a:srgbClr>
            </a:outerShdw>
          </a:effectLst>
        </p:spPr>
      </p:sp>
      <p:sp>
        <p:nvSpPr>
          <p:cNvPr id="18" name="archmark-1-2"/>
          <p:cNvSpPr/>
          <p:nvPr/>
        </p:nvSpPr>
        <p:spPr>
          <a:xfrm>
            <a:off x="8004048" y="2852928"/>
            <a:ext cx="50292" cy="1207008"/>
          </a:xfrm>
          <a:prstGeom prst="rect">
            <a:avLst/>
          </a:prstGeom>
          <a:solidFill>
            <a:schemeClr val="accent2"/>
          </a:solidFill>
          <a:ln w="12700">
            <a:solidFill>
              <a:srgbClr val="333333"/>
            </a:solidFill>
            <a:prstDash val="solid"/>
          </a:ln>
        </p:spPr>
      </p:sp>
      <p:sp>
        <p:nvSpPr>
          <p:cNvPr id="19" name="Text 17"/>
          <p:cNvSpPr txBox="1"/>
          <p:nvPr/>
        </p:nvSpPr>
        <p:spPr>
          <a:xfrm>
            <a:off x="8278368" y="3035808"/>
            <a:ext cx="3087624" cy="384048"/>
          </a:xfrm>
          <a:prstGeom prst="rect">
            <a:avLst/>
          </a:prstGeom>
          <a:noFill/>
          <a:ln/>
        </p:spPr>
        <p:txBody>
          <a:bodyPr wrap="square" lIns="0" tIns="0" rIns="0" bIns="0" rtlCol="0" anchor="ctr"/>
          <a:lstStyle/>
          <a:p>
            <a:pPr indent="0" marL="0">
              <a:buNone/>
            </a:pPr>
            <a:r>
              <a:rPr lang="en-US" sz="1450" b="1" dirty="0">
                <a:solidFill>
                  <a:schemeClr val="tx2"/>
                </a:solidFill>
              </a:rPr>
              <a:t>Reconciler</a:t>
            </a:r>
            <a:endParaRPr lang="en-US" sz="1450" dirty="0"/>
          </a:p>
        </p:txBody>
      </p:sp>
      <p:sp>
        <p:nvSpPr>
          <p:cNvPr id="20" name="Text 18"/>
          <p:cNvSpPr txBox="1"/>
          <p:nvPr/>
        </p:nvSpPr>
        <p:spPr>
          <a:xfrm>
            <a:off x="8278368" y="3438144"/>
            <a:ext cx="3087624" cy="548640"/>
          </a:xfrm>
          <a:prstGeom prst="rect">
            <a:avLst/>
          </a:prstGeom>
          <a:noFill/>
          <a:ln/>
        </p:spPr>
        <p:txBody>
          <a:bodyPr wrap="square" lIns="0" tIns="0" rIns="0" bIns="0" rtlCol="0" anchor="ctr"/>
          <a:lstStyle/>
          <a:p>
            <a:pPr indent="0" marL="0">
              <a:lnSpc>
                <a:spcPts val="1500"/>
              </a:lnSpc>
              <a:buNone/>
            </a:pPr>
            <a:r>
              <a:rPr lang="en-US" sz="1150" dirty="0">
                <a:solidFill>
                  <a:schemeClr val="accent6"/>
                </a:solidFill>
              </a:rPr>
              <a:t>Background settlement of pending payments</a:t>
            </a:r>
            <a:endParaRPr lang="en-US" sz="1150" dirty="0"/>
          </a:p>
        </p:txBody>
      </p:sp>
      <p:sp>
        <p:nvSpPr>
          <p:cNvPr id="21" name="Text 19"/>
          <p:cNvSpPr txBox="1"/>
          <p:nvPr/>
        </p:nvSpPr>
        <p:spPr>
          <a:xfrm>
            <a:off x="566928" y="4224528"/>
            <a:ext cx="2743200" cy="237744"/>
          </a:xfrm>
          <a:prstGeom prst="rect">
            <a:avLst/>
          </a:prstGeom>
          <a:noFill/>
          <a:ln/>
        </p:spPr>
        <p:txBody>
          <a:bodyPr wrap="square" lIns="0" tIns="0" rIns="0" bIns="0" rtlCol="0" anchor="ctr"/>
          <a:lstStyle/>
          <a:p>
            <a:pPr indent="0" marL="0">
              <a:buNone/>
            </a:pPr>
            <a:r>
              <a:rPr lang="en-US" sz="950" b="1" spc="200" kern="0" dirty="0">
                <a:solidFill>
                  <a:schemeClr val="accent6"/>
                </a:solidFill>
              </a:rPr>
              <a:t>DATA &amp; SERVICES</a:t>
            </a:r>
            <a:endParaRPr lang="en-US" sz="950" dirty="0"/>
          </a:p>
        </p:txBody>
      </p:sp>
      <p:sp>
        <p:nvSpPr>
          <p:cNvPr id="22" name="arch-2-0"/>
          <p:cNvSpPr/>
          <p:nvPr/>
        </p:nvSpPr>
        <p:spPr>
          <a:xfrm>
            <a:off x="566928" y="4498848"/>
            <a:ext cx="3590544" cy="1207008"/>
          </a:xfrm>
          <a:prstGeom prst="roundRect">
            <a:avLst>
              <a:gd name="adj" fmla="val 5303"/>
            </a:avLst>
          </a:prstGeom>
          <a:solidFill>
            <a:srgbClr val="F2F6FA"/>
          </a:solidFill>
          <a:ln w="12700">
            <a:solidFill>
              <a:srgbClr val="DCE5EF"/>
            </a:solidFill>
            <a:prstDash val="solid"/>
          </a:ln>
        </p:spPr>
      </p:sp>
      <p:sp>
        <p:nvSpPr>
          <p:cNvPr id="23" name="archmark-2-0"/>
          <p:cNvSpPr/>
          <p:nvPr/>
        </p:nvSpPr>
        <p:spPr>
          <a:xfrm>
            <a:off x="566928" y="4498848"/>
            <a:ext cx="50292" cy="1207008"/>
          </a:xfrm>
          <a:prstGeom prst="rect">
            <a:avLst/>
          </a:prstGeom>
          <a:solidFill>
            <a:schemeClr val="accent6"/>
          </a:solidFill>
          <a:ln w="12700">
            <a:solidFill>
              <a:srgbClr val="333333"/>
            </a:solidFill>
            <a:prstDash val="solid"/>
          </a:ln>
        </p:spPr>
      </p:sp>
      <p:sp>
        <p:nvSpPr>
          <p:cNvPr id="24" name="Text 22"/>
          <p:cNvSpPr txBox="1"/>
          <p:nvPr/>
        </p:nvSpPr>
        <p:spPr>
          <a:xfrm>
            <a:off x="841248" y="4681728"/>
            <a:ext cx="3087624" cy="384048"/>
          </a:xfrm>
          <a:prstGeom prst="rect">
            <a:avLst/>
          </a:prstGeom>
          <a:noFill/>
          <a:ln/>
        </p:spPr>
        <p:txBody>
          <a:bodyPr wrap="square" lIns="0" tIns="0" rIns="0" bIns="0" rtlCol="0" anchor="ctr"/>
          <a:lstStyle/>
          <a:p>
            <a:pPr indent="0" marL="0">
              <a:buNone/>
            </a:pPr>
            <a:r>
              <a:rPr lang="en-US" sz="1450" b="1" dirty="0">
                <a:solidFill>
                  <a:schemeClr val="tx2"/>
                </a:solidFill>
              </a:rPr>
              <a:t>PostgreSQL</a:t>
            </a:r>
            <a:endParaRPr lang="en-US" sz="1450" dirty="0"/>
          </a:p>
        </p:txBody>
      </p:sp>
      <p:sp>
        <p:nvSpPr>
          <p:cNvPr id="25" name="Text 23"/>
          <p:cNvSpPr txBox="1"/>
          <p:nvPr/>
        </p:nvSpPr>
        <p:spPr>
          <a:xfrm>
            <a:off x="841248" y="5084064"/>
            <a:ext cx="3087624" cy="548640"/>
          </a:xfrm>
          <a:prstGeom prst="rect">
            <a:avLst/>
          </a:prstGeom>
          <a:noFill/>
          <a:ln/>
        </p:spPr>
        <p:txBody>
          <a:bodyPr wrap="square" lIns="0" tIns="0" rIns="0" bIns="0" rtlCol="0" anchor="ctr"/>
          <a:lstStyle/>
          <a:p>
            <a:pPr indent="0" marL="0">
              <a:lnSpc>
                <a:spcPts val="1500"/>
              </a:lnSpc>
              <a:buNone/>
            </a:pPr>
            <a:r>
              <a:rPr lang="en-US" sz="1150" dirty="0">
                <a:solidFill>
                  <a:schemeClr val="accent6"/>
                </a:solidFill>
              </a:rPr>
              <a:t>25 tables via Prisma</a:t>
            </a:r>
            <a:endParaRPr lang="en-US" sz="1150" dirty="0"/>
          </a:p>
        </p:txBody>
      </p:sp>
      <p:sp>
        <p:nvSpPr>
          <p:cNvPr id="26" name="arch-2-1"/>
          <p:cNvSpPr/>
          <p:nvPr/>
        </p:nvSpPr>
        <p:spPr>
          <a:xfrm>
            <a:off x="4285488" y="4498848"/>
            <a:ext cx="3590544" cy="1207008"/>
          </a:xfrm>
          <a:prstGeom prst="roundRect">
            <a:avLst>
              <a:gd name="adj" fmla="val 5303"/>
            </a:avLst>
          </a:prstGeom>
          <a:solidFill>
            <a:srgbClr val="F2F6FA"/>
          </a:solidFill>
          <a:ln w="12700">
            <a:solidFill>
              <a:srgbClr val="DCE5EF"/>
            </a:solidFill>
            <a:prstDash val="solid"/>
          </a:ln>
        </p:spPr>
      </p:sp>
      <p:sp>
        <p:nvSpPr>
          <p:cNvPr id="27" name="archmark-2-1"/>
          <p:cNvSpPr/>
          <p:nvPr/>
        </p:nvSpPr>
        <p:spPr>
          <a:xfrm>
            <a:off x="4285488" y="4498848"/>
            <a:ext cx="50292" cy="1207008"/>
          </a:xfrm>
          <a:prstGeom prst="rect">
            <a:avLst/>
          </a:prstGeom>
          <a:solidFill>
            <a:schemeClr val="accent6"/>
          </a:solidFill>
          <a:ln w="12700">
            <a:solidFill>
              <a:srgbClr val="333333"/>
            </a:solidFill>
            <a:prstDash val="solid"/>
          </a:ln>
        </p:spPr>
      </p:sp>
      <p:sp>
        <p:nvSpPr>
          <p:cNvPr id="28" name="Text 26"/>
          <p:cNvSpPr txBox="1"/>
          <p:nvPr/>
        </p:nvSpPr>
        <p:spPr>
          <a:xfrm>
            <a:off x="4559808" y="4681728"/>
            <a:ext cx="3087624" cy="384048"/>
          </a:xfrm>
          <a:prstGeom prst="rect">
            <a:avLst/>
          </a:prstGeom>
          <a:noFill/>
          <a:ln/>
        </p:spPr>
        <p:txBody>
          <a:bodyPr wrap="square" lIns="0" tIns="0" rIns="0" bIns="0" rtlCol="0" anchor="ctr"/>
          <a:lstStyle/>
          <a:p>
            <a:pPr indent="0" marL="0">
              <a:buNone/>
            </a:pPr>
            <a:r>
              <a:rPr lang="en-US" sz="1450" b="1" dirty="0">
                <a:solidFill>
                  <a:schemeClr val="tx2"/>
                </a:solidFill>
              </a:rPr>
              <a:t>Cloudinary</a:t>
            </a:r>
            <a:endParaRPr lang="en-US" sz="1450" dirty="0"/>
          </a:p>
        </p:txBody>
      </p:sp>
      <p:sp>
        <p:nvSpPr>
          <p:cNvPr id="29" name="Text 27"/>
          <p:cNvSpPr txBox="1"/>
          <p:nvPr/>
        </p:nvSpPr>
        <p:spPr>
          <a:xfrm>
            <a:off x="4559808" y="5084064"/>
            <a:ext cx="3087624" cy="548640"/>
          </a:xfrm>
          <a:prstGeom prst="rect">
            <a:avLst/>
          </a:prstGeom>
          <a:noFill/>
          <a:ln/>
        </p:spPr>
        <p:txBody>
          <a:bodyPr wrap="square" lIns="0" tIns="0" rIns="0" bIns="0" rtlCol="0" anchor="ctr"/>
          <a:lstStyle/>
          <a:p>
            <a:pPr indent="0" marL="0">
              <a:lnSpc>
                <a:spcPts val="1500"/>
              </a:lnSpc>
              <a:buNone/>
            </a:pPr>
            <a:r>
              <a:rPr lang="en-US" sz="1150" dirty="0">
                <a:solidFill>
                  <a:schemeClr val="accent6"/>
                </a:solidFill>
              </a:rPr>
              <a:t>Storage + CDN, authenticated delivery</a:t>
            </a:r>
            <a:endParaRPr lang="en-US" sz="1150" dirty="0"/>
          </a:p>
        </p:txBody>
      </p:sp>
      <p:sp>
        <p:nvSpPr>
          <p:cNvPr id="30" name="arch-2-2"/>
          <p:cNvSpPr/>
          <p:nvPr/>
        </p:nvSpPr>
        <p:spPr>
          <a:xfrm>
            <a:off x="8004048" y="4498848"/>
            <a:ext cx="3590544" cy="1207008"/>
          </a:xfrm>
          <a:prstGeom prst="roundRect">
            <a:avLst>
              <a:gd name="adj" fmla="val 5303"/>
            </a:avLst>
          </a:prstGeom>
          <a:solidFill>
            <a:srgbClr val="F2F6FA"/>
          </a:solidFill>
          <a:ln w="12700">
            <a:solidFill>
              <a:srgbClr val="DCE5EF"/>
            </a:solidFill>
            <a:prstDash val="solid"/>
          </a:ln>
        </p:spPr>
      </p:sp>
      <p:sp>
        <p:nvSpPr>
          <p:cNvPr id="31" name="archmark-2-2"/>
          <p:cNvSpPr/>
          <p:nvPr/>
        </p:nvSpPr>
        <p:spPr>
          <a:xfrm>
            <a:off x="8004048" y="4498848"/>
            <a:ext cx="50292" cy="1207008"/>
          </a:xfrm>
          <a:prstGeom prst="rect">
            <a:avLst/>
          </a:prstGeom>
          <a:solidFill>
            <a:schemeClr val="accent6"/>
          </a:solidFill>
          <a:ln w="12700">
            <a:solidFill>
              <a:srgbClr val="333333"/>
            </a:solidFill>
            <a:prstDash val="solid"/>
          </a:ln>
        </p:spPr>
      </p:sp>
      <p:sp>
        <p:nvSpPr>
          <p:cNvPr id="32" name="Text 30"/>
          <p:cNvSpPr txBox="1"/>
          <p:nvPr/>
        </p:nvSpPr>
        <p:spPr>
          <a:xfrm>
            <a:off x="8278368" y="4681728"/>
            <a:ext cx="3087624" cy="384048"/>
          </a:xfrm>
          <a:prstGeom prst="rect">
            <a:avLst/>
          </a:prstGeom>
          <a:noFill/>
          <a:ln/>
        </p:spPr>
        <p:txBody>
          <a:bodyPr wrap="square" lIns="0" tIns="0" rIns="0" bIns="0" rtlCol="0" anchor="ctr"/>
          <a:lstStyle/>
          <a:p>
            <a:pPr indent="0" marL="0">
              <a:buNone/>
            </a:pPr>
            <a:r>
              <a:rPr lang="en-US" sz="1450" b="1" dirty="0">
                <a:solidFill>
                  <a:schemeClr val="tx2"/>
                </a:solidFill>
              </a:rPr>
              <a:t>MeSomb</a:t>
            </a:r>
            <a:endParaRPr lang="en-US" sz="1450" dirty="0"/>
          </a:p>
        </p:txBody>
      </p:sp>
      <p:sp>
        <p:nvSpPr>
          <p:cNvPr id="33" name="Text 31"/>
          <p:cNvSpPr txBox="1"/>
          <p:nvPr/>
        </p:nvSpPr>
        <p:spPr>
          <a:xfrm>
            <a:off x="8278368" y="5084064"/>
            <a:ext cx="3087624" cy="548640"/>
          </a:xfrm>
          <a:prstGeom prst="rect">
            <a:avLst/>
          </a:prstGeom>
          <a:noFill/>
          <a:ln/>
        </p:spPr>
        <p:txBody>
          <a:bodyPr wrap="square" lIns="0" tIns="0" rIns="0" bIns="0" rtlCol="0" anchor="ctr"/>
          <a:lstStyle/>
          <a:p>
            <a:pPr indent="0" marL="0">
              <a:lnSpc>
                <a:spcPts val="1500"/>
              </a:lnSpc>
              <a:buNone/>
            </a:pPr>
            <a:r>
              <a:rPr lang="en-US" sz="1150" dirty="0">
                <a:solidFill>
                  <a:schemeClr val="accent6"/>
                </a:solidFill>
              </a:rPr>
              <a:t>Mobile money, asynchronous</a:t>
            </a:r>
            <a:endParaRPr lang="en-US" sz="1150" dirty="0"/>
          </a:p>
        </p:txBody>
      </p:sp>
      <p:sp>
        <p:nvSpPr>
          <p:cNvPr id="34" name="Text 32"/>
          <p:cNvSpPr txBox="1"/>
          <p:nvPr/>
        </p:nvSpPr>
        <p:spPr>
          <a:xfrm>
            <a:off x="566928" y="2450592"/>
            <a:ext cx="11027664" cy="274320"/>
          </a:xfrm>
          <a:prstGeom prst="rect">
            <a:avLst/>
          </a:prstGeom>
          <a:noFill/>
          <a:ln/>
        </p:spPr>
        <p:txBody>
          <a:bodyPr wrap="square" lIns="0" tIns="0" rIns="0" bIns="0" rtlCol="0" anchor="ctr"/>
          <a:lstStyle/>
          <a:p>
            <a:pPr algn="ctr" indent="0" marL="0">
              <a:buNone/>
            </a:pPr>
            <a:r>
              <a:rPr lang="en-US" sz="1100" b="1" dirty="0">
                <a:solidFill>
                  <a:schemeClr val="accent1"/>
                </a:solidFill>
              </a:rPr>
              <a:t>▼   HTTPS / JSON + bearer token   ·   WebSocket for chat   ▼</a:t>
            </a:r>
            <a:endParaRPr lang="en-US" sz="1100" dirty="0"/>
          </a:p>
        </p:txBody>
      </p:sp>
      <p:sp>
        <p:nvSpPr>
          <p:cNvPr id="35" name="Text 33"/>
          <p:cNvSpPr txBox="1"/>
          <p:nvPr/>
        </p:nvSpPr>
        <p:spPr>
          <a:xfrm>
            <a:off x="566928" y="4133088"/>
            <a:ext cx="11027664" cy="274320"/>
          </a:xfrm>
          <a:prstGeom prst="rect">
            <a:avLst/>
          </a:prstGeom>
          <a:noFill/>
          <a:ln/>
        </p:spPr>
        <p:txBody>
          <a:bodyPr wrap="square" lIns="0" tIns="0" rIns="0" bIns="0" rtlCol="0" anchor="ctr"/>
          <a:lstStyle/>
          <a:p>
            <a:pPr algn="ctr" indent="0" marL="0">
              <a:buNone/>
            </a:pPr>
            <a:r>
              <a:rPr lang="en-US" sz="1100" dirty="0">
                <a:solidFill>
                  <a:schemeClr val="accent1"/>
                </a:solidFill>
              </a:rPr>
              <a:t>▼</a:t>
            </a:r>
            <a:endParaRPr lang="en-US" sz="1100" dirty="0"/>
          </a:p>
        </p:txBody>
      </p:sp>
      <p:sp>
        <p:nvSpPr>
          <p:cNvPr id="36" name="Text 34"/>
          <p:cNvSpPr txBox="1"/>
          <p:nvPr/>
        </p:nvSpPr>
        <p:spPr>
          <a:xfrm>
            <a:off x="566928" y="5760720"/>
            <a:ext cx="11027664" cy="457200"/>
          </a:xfrm>
          <a:prstGeom prst="rect">
            <a:avLst/>
          </a:prstGeom>
          <a:noFill/>
          <a:ln/>
        </p:spPr>
        <p:txBody>
          <a:bodyPr wrap="square" rtlCol="0" anchor="ctr"/>
          <a:lstStyle/>
          <a:p>
            <a:pPr indent="0" marL="0">
              <a:lnSpc>
                <a:spcPts val="1400"/>
              </a:lnSpc>
              <a:buNone/>
            </a:pPr>
            <a:r>
              <a:rPr lang="en-US" sz="1100" i="1" dirty="0">
                <a:solidFill>
                  <a:schemeClr val="accent6"/>
                </a:solidFill>
              </a:rPr>
              <a:t>Client and server are deployed separately because their runtime needs differ: static assets want a CDN, while the API must hold WebSocket connections and run a background timer. The accepted cost is that they occupy different origins, which makes cross-origin policy load-bearing rather than incidental.</a:t>
            </a:r>
            <a:endParaRPr lang="en-US" sz="1100" dirty="0"/>
          </a:p>
        </p:txBody>
      </p:sp>
      <p:sp>
        <p:nvSpPr>
          <p:cNvPr id="25" name="Slide Number Placeholder 0"/>
          <p:cNvSpPr>
            <a:spLocks noGrp="1"/>
          </p:cNvSpPr>
          <p:nvPr>
            <p:ph type="sldNum" sz="quarter" idx="4294967295"/>
          </p:nvPr>
        </p:nvSpPr>
        <p:spPr>
          <a:xfrm>
            <a:off x="11430000" y="6327648"/>
            <a:ext cx="45720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64748B"/>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566928" y="384048"/>
            <a:ext cx="11027664" cy="713232"/>
          </a:xfrm>
          <a:prstGeom prst="rect">
            <a:avLst/>
          </a:prstGeom>
          <a:noFill/>
          <a:ln/>
        </p:spPr>
        <p:txBody>
          <a:bodyPr wrap="square" rtlCol="0"/>
          <a:lstStyle/>
          <a:p>
            <a:pPr indent="0" marL="0">
              <a:buNone/>
            </a:pPr>
            <a:r>
              <a:rPr lang="en-US" sz="3200" b="1" dirty="0">
                <a:solidFill>
                  <a:srgbClr val="0F3057"/>
                </a:solidFill>
              </a:rPr>
              <a:t>Data model — 25 tables, third normal form</a:t>
            </a:r>
            <a:endParaRPr lang="en-US" sz="3200" dirty="0"/>
          </a:p>
        </p:txBody>
      </p:sp>
      <p:sp>
        <p:nvSpPr>
          <p:cNvPr id="3" name="dm-0"/>
          <p:cNvSpPr/>
          <p:nvPr/>
        </p:nvSpPr>
        <p:spPr>
          <a:xfrm>
            <a:off x="566928" y="1234440"/>
            <a:ext cx="2683764" cy="1133856"/>
          </a:xfrm>
          <a:prstGeom prst="roundRect">
            <a:avLst>
              <a:gd name="adj" fmla="val 5645"/>
            </a:avLst>
          </a:prstGeom>
          <a:solidFill>
            <a:srgbClr val="FFFFFF"/>
          </a:solidFill>
          <a:ln w="12700">
            <a:solidFill>
              <a:srgbClr val="DCE5EF"/>
            </a:solidFill>
            <a:prstDash val="solid"/>
          </a:ln>
        </p:spPr>
      </p:sp>
      <p:sp>
        <p:nvSpPr>
          <p:cNvPr id="4" name="Text 2"/>
          <p:cNvSpPr txBox="1"/>
          <p:nvPr/>
        </p:nvSpPr>
        <p:spPr>
          <a:xfrm>
            <a:off x="804672" y="1380744"/>
            <a:ext cx="1842516" cy="310896"/>
          </a:xfrm>
          <a:prstGeom prst="rect">
            <a:avLst/>
          </a:prstGeom>
          <a:noFill/>
          <a:ln/>
        </p:spPr>
        <p:txBody>
          <a:bodyPr wrap="square" lIns="0" tIns="0" rIns="0" bIns="0" rtlCol="0" anchor="ctr"/>
          <a:lstStyle/>
          <a:p>
            <a:pPr indent="0" marL="0">
              <a:buNone/>
            </a:pPr>
            <a:r>
              <a:rPr lang="en-US" sz="1450" b="1" dirty="0">
                <a:solidFill>
                  <a:schemeClr val="accent2"/>
                </a:solidFill>
              </a:rPr>
              <a:t>Identity</a:t>
            </a:r>
            <a:endParaRPr lang="en-US" sz="1450" dirty="0"/>
          </a:p>
        </p:txBody>
      </p:sp>
      <p:sp>
        <p:nvSpPr>
          <p:cNvPr id="5" name="Text 3"/>
          <p:cNvSpPr txBox="1"/>
          <p:nvPr/>
        </p:nvSpPr>
        <p:spPr>
          <a:xfrm>
            <a:off x="2363724" y="1380744"/>
            <a:ext cx="713232" cy="310896"/>
          </a:xfrm>
          <a:prstGeom prst="rect">
            <a:avLst/>
          </a:prstGeom>
          <a:noFill/>
          <a:ln/>
        </p:spPr>
        <p:txBody>
          <a:bodyPr wrap="square" lIns="0" tIns="0" rIns="0" bIns="0" rtlCol="0" anchor="ctr"/>
          <a:lstStyle/>
          <a:p>
            <a:pPr algn="r" indent="0" marL="0">
              <a:buNone/>
            </a:pPr>
            <a:r>
              <a:rPr lang="en-US" sz="1050" dirty="0">
                <a:solidFill>
                  <a:schemeClr val="accent6"/>
                </a:solidFill>
              </a:rPr>
              <a:t>1 table</a:t>
            </a:r>
            <a:endParaRPr lang="en-US" sz="1050" dirty="0"/>
          </a:p>
        </p:txBody>
      </p:sp>
      <p:sp>
        <p:nvSpPr>
          <p:cNvPr id="6" name="Text 4"/>
          <p:cNvSpPr txBox="1"/>
          <p:nvPr/>
        </p:nvSpPr>
        <p:spPr>
          <a:xfrm>
            <a:off x="804672" y="1728216"/>
            <a:ext cx="2253996" cy="566928"/>
          </a:xfrm>
          <a:prstGeom prst="rect">
            <a:avLst/>
          </a:prstGeom>
          <a:noFill/>
          <a:ln/>
        </p:spPr>
        <p:txBody>
          <a:bodyPr wrap="square" lIns="0" tIns="0" rIns="0" bIns="0" rtlCol="0" anchor="ctr"/>
          <a:lstStyle/>
          <a:p>
            <a:pPr indent="0" marL="0">
              <a:lnSpc>
                <a:spcPts val="1400"/>
              </a:lnSpc>
              <a:buNone/>
            </a:pPr>
            <a:r>
              <a:rPr lang="en-US" sz="1050" dirty="0">
                <a:solidFill>
                  <a:schemeClr val="accent6"/>
                </a:solidFill>
                <a:latin typeface="Consolas" pitchFamily="34" charset="0"/>
                <a:ea typeface="Consolas" pitchFamily="34" charset="-122"/>
                <a:cs typeface="Consolas" pitchFamily="34" charset="-120"/>
              </a:rPr>
              <a:t>users</a:t>
            </a:r>
            <a:endParaRPr lang="en-US" sz="1050" dirty="0"/>
          </a:p>
        </p:txBody>
      </p:sp>
      <p:sp>
        <p:nvSpPr>
          <p:cNvPr id="7" name="dm-1"/>
          <p:cNvSpPr/>
          <p:nvPr/>
        </p:nvSpPr>
        <p:spPr>
          <a:xfrm>
            <a:off x="3396996" y="1234440"/>
            <a:ext cx="2683764" cy="1133856"/>
          </a:xfrm>
          <a:prstGeom prst="roundRect">
            <a:avLst>
              <a:gd name="adj" fmla="val 5645"/>
            </a:avLst>
          </a:prstGeom>
          <a:solidFill>
            <a:srgbClr val="FFFFFF"/>
          </a:solidFill>
          <a:ln w="12700">
            <a:solidFill>
              <a:srgbClr val="DCE5EF"/>
            </a:solidFill>
            <a:prstDash val="solid"/>
          </a:ln>
        </p:spPr>
      </p:sp>
      <p:sp>
        <p:nvSpPr>
          <p:cNvPr id="8" name="Text 6"/>
          <p:cNvSpPr txBox="1"/>
          <p:nvPr/>
        </p:nvSpPr>
        <p:spPr>
          <a:xfrm>
            <a:off x="3634740" y="1380744"/>
            <a:ext cx="1842516" cy="310896"/>
          </a:xfrm>
          <a:prstGeom prst="rect">
            <a:avLst/>
          </a:prstGeom>
          <a:noFill/>
          <a:ln/>
        </p:spPr>
        <p:txBody>
          <a:bodyPr wrap="square" lIns="0" tIns="0" rIns="0" bIns="0" rtlCol="0" anchor="ctr"/>
          <a:lstStyle/>
          <a:p>
            <a:pPr indent="0" marL="0">
              <a:buNone/>
            </a:pPr>
            <a:r>
              <a:rPr lang="en-US" sz="1450" b="1" dirty="0">
                <a:solidFill>
                  <a:schemeClr val="accent1"/>
                </a:solidFill>
              </a:rPr>
              <a:t>Collaboration</a:t>
            </a:r>
            <a:endParaRPr lang="en-US" sz="1450" dirty="0"/>
          </a:p>
        </p:txBody>
      </p:sp>
      <p:sp>
        <p:nvSpPr>
          <p:cNvPr id="9" name="Text 7"/>
          <p:cNvSpPr txBox="1"/>
          <p:nvPr/>
        </p:nvSpPr>
        <p:spPr>
          <a:xfrm>
            <a:off x="5193792" y="1380744"/>
            <a:ext cx="713232" cy="310896"/>
          </a:xfrm>
          <a:prstGeom prst="rect">
            <a:avLst/>
          </a:prstGeom>
          <a:noFill/>
          <a:ln/>
        </p:spPr>
        <p:txBody>
          <a:bodyPr wrap="square" lIns="0" tIns="0" rIns="0" bIns="0" rtlCol="0" anchor="ctr"/>
          <a:lstStyle/>
          <a:p>
            <a:pPr algn="r" indent="0" marL="0">
              <a:buNone/>
            </a:pPr>
            <a:r>
              <a:rPr lang="en-US" sz="1050" dirty="0">
                <a:solidFill>
                  <a:schemeClr val="accent6"/>
                </a:solidFill>
              </a:rPr>
              <a:t>4 tables</a:t>
            </a:r>
            <a:endParaRPr lang="en-US" sz="1050" dirty="0"/>
          </a:p>
        </p:txBody>
      </p:sp>
      <p:sp>
        <p:nvSpPr>
          <p:cNvPr id="10" name="Text 8"/>
          <p:cNvSpPr txBox="1"/>
          <p:nvPr/>
        </p:nvSpPr>
        <p:spPr>
          <a:xfrm>
            <a:off x="3634740" y="1728216"/>
            <a:ext cx="2253996" cy="566928"/>
          </a:xfrm>
          <a:prstGeom prst="rect">
            <a:avLst/>
          </a:prstGeom>
          <a:noFill/>
          <a:ln/>
        </p:spPr>
        <p:txBody>
          <a:bodyPr wrap="square" lIns="0" tIns="0" rIns="0" bIns="0" rtlCol="0" anchor="ctr"/>
          <a:lstStyle/>
          <a:p>
            <a:pPr indent="0" marL="0">
              <a:lnSpc>
                <a:spcPts val="1400"/>
              </a:lnSpc>
              <a:buNone/>
            </a:pPr>
            <a:r>
              <a:rPr lang="en-US" sz="1050" dirty="0">
                <a:solidFill>
                  <a:schemeClr val="accent6"/>
                </a:solidFill>
                <a:latin typeface="Consolas" pitchFamily="34" charset="0"/>
                <a:ea typeface="Consolas" pitchFamily="34" charset="-122"/>
                <a:cs typeface="Consolas" pitchFamily="34" charset="-120"/>
              </a:rPr>
              <a:t>groups, user_groups, join_requests, read_status</a:t>
            </a:r>
            <a:endParaRPr lang="en-US" sz="1050" dirty="0"/>
          </a:p>
        </p:txBody>
      </p:sp>
      <p:sp>
        <p:nvSpPr>
          <p:cNvPr id="11" name="dm-2"/>
          <p:cNvSpPr/>
          <p:nvPr/>
        </p:nvSpPr>
        <p:spPr>
          <a:xfrm>
            <a:off x="6227064" y="1234440"/>
            <a:ext cx="2683764" cy="1133856"/>
          </a:xfrm>
          <a:prstGeom prst="roundRect">
            <a:avLst>
              <a:gd name="adj" fmla="val 5645"/>
            </a:avLst>
          </a:prstGeom>
          <a:solidFill>
            <a:srgbClr val="FFFFFF"/>
          </a:solidFill>
          <a:ln w="12700">
            <a:solidFill>
              <a:srgbClr val="DCE5EF"/>
            </a:solidFill>
            <a:prstDash val="solid"/>
          </a:ln>
        </p:spPr>
      </p:sp>
      <p:sp>
        <p:nvSpPr>
          <p:cNvPr id="12" name="Text 10"/>
          <p:cNvSpPr txBox="1"/>
          <p:nvPr/>
        </p:nvSpPr>
        <p:spPr>
          <a:xfrm>
            <a:off x="6464808" y="1380744"/>
            <a:ext cx="1842516" cy="310896"/>
          </a:xfrm>
          <a:prstGeom prst="rect">
            <a:avLst/>
          </a:prstGeom>
          <a:noFill/>
          <a:ln/>
        </p:spPr>
        <p:txBody>
          <a:bodyPr wrap="square" lIns="0" tIns="0" rIns="0" bIns="0" rtlCol="0" anchor="ctr"/>
          <a:lstStyle/>
          <a:p>
            <a:pPr indent="0" marL="0">
              <a:buNone/>
            </a:pPr>
            <a:r>
              <a:rPr lang="en-US" sz="1450" b="1" dirty="0">
                <a:solidFill>
                  <a:schemeClr val="accent1"/>
                </a:solidFill>
              </a:rPr>
              <a:t>Messaging</a:t>
            </a:r>
            <a:endParaRPr lang="en-US" sz="1450" dirty="0"/>
          </a:p>
        </p:txBody>
      </p:sp>
      <p:sp>
        <p:nvSpPr>
          <p:cNvPr id="13" name="Text 11"/>
          <p:cNvSpPr txBox="1"/>
          <p:nvPr/>
        </p:nvSpPr>
        <p:spPr>
          <a:xfrm>
            <a:off x="8023860" y="1380744"/>
            <a:ext cx="713232" cy="310896"/>
          </a:xfrm>
          <a:prstGeom prst="rect">
            <a:avLst/>
          </a:prstGeom>
          <a:noFill/>
          <a:ln/>
        </p:spPr>
        <p:txBody>
          <a:bodyPr wrap="square" lIns="0" tIns="0" rIns="0" bIns="0" rtlCol="0" anchor="ctr"/>
          <a:lstStyle/>
          <a:p>
            <a:pPr algn="r" indent="0" marL="0">
              <a:buNone/>
            </a:pPr>
            <a:r>
              <a:rPr lang="en-US" sz="1050" dirty="0">
                <a:solidFill>
                  <a:schemeClr val="accent6"/>
                </a:solidFill>
              </a:rPr>
              <a:t>2 tables</a:t>
            </a:r>
            <a:endParaRPr lang="en-US" sz="1050" dirty="0"/>
          </a:p>
        </p:txBody>
      </p:sp>
      <p:sp>
        <p:nvSpPr>
          <p:cNvPr id="14" name="Text 12"/>
          <p:cNvSpPr txBox="1"/>
          <p:nvPr/>
        </p:nvSpPr>
        <p:spPr>
          <a:xfrm>
            <a:off x="6464808" y="1728216"/>
            <a:ext cx="2253996" cy="566928"/>
          </a:xfrm>
          <a:prstGeom prst="rect">
            <a:avLst/>
          </a:prstGeom>
          <a:noFill/>
          <a:ln/>
        </p:spPr>
        <p:txBody>
          <a:bodyPr wrap="square" lIns="0" tIns="0" rIns="0" bIns="0" rtlCol="0" anchor="ctr"/>
          <a:lstStyle/>
          <a:p>
            <a:pPr indent="0" marL="0">
              <a:lnSpc>
                <a:spcPts val="1400"/>
              </a:lnSpc>
              <a:buNone/>
            </a:pPr>
            <a:r>
              <a:rPr lang="en-US" sz="1050" dirty="0">
                <a:solidFill>
                  <a:schemeClr val="accent6"/>
                </a:solidFill>
                <a:latin typeface="Consolas" pitchFamily="34" charset="0"/>
                <a:ea typeface="Consolas" pitchFamily="34" charset="-122"/>
                <a:cs typeface="Consolas" pitchFamily="34" charset="-120"/>
              </a:rPr>
              <a:t>group_messages, reactions</a:t>
            </a:r>
            <a:endParaRPr lang="en-US" sz="1050" dirty="0"/>
          </a:p>
        </p:txBody>
      </p:sp>
      <p:sp>
        <p:nvSpPr>
          <p:cNvPr id="15" name="dm-3"/>
          <p:cNvSpPr/>
          <p:nvPr/>
        </p:nvSpPr>
        <p:spPr>
          <a:xfrm>
            <a:off x="9057132" y="1234440"/>
            <a:ext cx="2683764" cy="1133856"/>
          </a:xfrm>
          <a:prstGeom prst="roundRect">
            <a:avLst>
              <a:gd name="adj" fmla="val 5645"/>
            </a:avLst>
          </a:prstGeom>
          <a:solidFill>
            <a:srgbClr val="FFFFFF"/>
          </a:solidFill>
          <a:ln w="12700">
            <a:solidFill>
              <a:srgbClr val="DCE5EF"/>
            </a:solidFill>
            <a:prstDash val="solid"/>
          </a:ln>
        </p:spPr>
      </p:sp>
      <p:sp>
        <p:nvSpPr>
          <p:cNvPr id="16" name="Text 14"/>
          <p:cNvSpPr txBox="1"/>
          <p:nvPr/>
        </p:nvSpPr>
        <p:spPr>
          <a:xfrm>
            <a:off x="9294876" y="1380744"/>
            <a:ext cx="1842516" cy="310896"/>
          </a:xfrm>
          <a:prstGeom prst="rect">
            <a:avLst/>
          </a:prstGeom>
          <a:noFill/>
          <a:ln/>
        </p:spPr>
        <p:txBody>
          <a:bodyPr wrap="square" lIns="0" tIns="0" rIns="0" bIns="0" rtlCol="0" anchor="ctr"/>
          <a:lstStyle/>
          <a:p>
            <a:pPr indent="0" marL="0">
              <a:buNone/>
            </a:pPr>
            <a:r>
              <a:rPr lang="en-US" sz="1450" b="1" dirty="0">
                <a:solidFill>
                  <a:schemeClr val="accent1"/>
                </a:solidFill>
              </a:rPr>
              <a:t>Content</a:t>
            </a:r>
            <a:endParaRPr lang="en-US" sz="1450" dirty="0"/>
          </a:p>
        </p:txBody>
      </p:sp>
      <p:sp>
        <p:nvSpPr>
          <p:cNvPr id="17" name="Text 15"/>
          <p:cNvSpPr txBox="1"/>
          <p:nvPr/>
        </p:nvSpPr>
        <p:spPr>
          <a:xfrm>
            <a:off x="10853928" y="1380744"/>
            <a:ext cx="713232" cy="310896"/>
          </a:xfrm>
          <a:prstGeom prst="rect">
            <a:avLst/>
          </a:prstGeom>
          <a:noFill/>
          <a:ln/>
        </p:spPr>
        <p:txBody>
          <a:bodyPr wrap="square" lIns="0" tIns="0" rIns="0" bIns="0" rtlCol="0" anchor="ctr"/>
          <a:lstStyle/>
          <a:p>
            <a:pPr algn="r" indent="0" marL="0">
              <a:buNone/>
            </a:pPr>
            <a:r>
              <a:rPr lang="en-US" sz="1050" dirty="0">
                <a:solidFill>
                  <a:schemeClr val="accent6"/>
                </a:solidFill>
              </a:rPr>
              <a:t>1 table</a:t>
            </a:r>
            <a:endParaRPr lang="en-US" sz="1050" dirty="0"/>
          </a:p>
        </p:txBody>
      </p:sp>
      <p:sp>
        <p:nvSpPr>
          <p:cNvPr id="18" name="Text 16"/>
          <p:cNvSpPr txBox="1"/>
          <p:nvPr/>
        </p:nvSpPr>
        <p:spPr>
          <a:xfrm>
            <a:off x="9294876" y="1728216"/>
            <a:ext cx="2253996" cy="566928"/>
          </a:xfrm>
          <a:prstGeom prst="rect">
            <a:avLst/>
          </a:prstGeom>
          <a:noFill/>
          <a:ln/>
        </p:spPr>
        <p:txBody>
          <a:bodyPr wrap="square" lIns="0" tIns="0" rIns="0" bIns="0" rtlCol="0" anchor="ctr"/>
          <a:lstStyle/>
          <a:p>
            <a:pPr indent="0" marL="0">
              <a:lnSpc>
                <a:spcPts val="1400"/>
              </a:lnSpc>
              <a:buNone/>
            </a:pPr>
            <a:r>
              <a:rPr lang="en-US" sz="1050" dirty="0">
                <a:solidFill>
                  <a:schemeClr val="accent6"/>
                </a:solidFill>
                <a:latin typeface="Consolas" pitchFamily="34" charset="0"/>
                <a:ea typeface="Consolas" pitchFamily="34" charset="-122"/>
                <a:cs typeface="Consolas" pitchFamily="34" charset="-120"/>
              </a:rPr>
              <a:t>notes</a:t>
            </a:r>
            <a:endParaRPr lang="en-US" sz="1050" dirty="0"/>
          </a:p>
        </p:txBody>
      </p:sp>
      <p:sp>
        <p:nvSpPr>
          <p:cNvPr id="19" name="dm-4"/>
          <p:cNvSpPr/>
          <p:nvPr/>
        </p:nvSpPr>
        <p:spPr>
          <a:xfrm>
            <a:off x="566928" y="2532888"/>
            <a:ext cx="2683764" cy="1133856"/>
          </a:xfrm>
          <a:prstGeom prst="roundRect">
            <a:avLst>
              <a:gd name="adj" fmla="val 5645"/>
            </a:avLst>
          </a:prstGeom>
          <a:solidFill>
            <a:srgbClr val="FFFFFF"/>
          </a:solidFill>
          <a:ln w="12700">
            <a:solidFill>
              <a:srgbClr val="DCE5EF"/>
            </a:solidFill>
            <a:prstDash val="solid"/>
          </a:ln>
        </p:spPr>
      </p:sp>
      <p:sp>
        <p:nvSpPr>
          <p:cNvPr id="20" name="Text 18"/>
          <p:cNvSpPr txBox="1"/>
          <p:nvPr/>
        </p:nvSpPr>
        <p:spPr>
          <a:xfrm>
            <a:off x="804672" y="2679192"/>
            <a:ext cx="1842516" cy="310896"/>
          </a:xfrm>
          <a:prstGeom prst="rect">
            <a:avLst/>
          </a:prstGeom>
          <a:noFill/>
          <a:ln/>
        </p:spPr>
        <p:txBody>
          <a:bodyPr wrap="square" lIns="0" tIns="0" rIns="0" bIns="0" rtlCol="0" anchor="ctr"/>
          <a:lstStyle/>
          <a:p>
            <a:pPr indent="0" marL="0">
              <a:buNone/>
            </a:pPr>
            <a:r>
              <a:rPr lang="en-US" sz="1450" b="1" dirty="0">
                <a:solidFill>
                  <a:schemeClr val="accent1"/>
                </a:solidFill>
              </a:rPr>
              <a:t>Knowledge</a:t>
            </a:r>
            <a:endParaRPr lang="en-US" sz="1450" dirty="0"/>
          </a:p>
        </p:txBody>
      </p:sp>
      <p:sp>
        <p:nvSpPr>
          <p:cNvPr id="21" name="Text 19"/>
          <p:cNvSpPr txBox="1"/>
          <p:nvPr/>
        </p:nvSpPr>
        <p:spPr>
          <a:xfrm>
            <a:off x="2363724" y="2679192"/>
            <a:ext cx="713232" cy="310896"/>
          </a:xfrm>
          <a:prstGeom prst="rect">
            <a:avLst/>
          </a:prstGeom>
          <a:noFill/>
          <a:ln/>
        </p:spPr>
        <p:txBody>
          <a:bodyPr wrap="square" lIns="0" tIns="0" rIns="0" bIns="0" rtlCol="0" anchor="ctr"/>
          <a:lstStyle/>
          <a:p>
            <a:pPr algn="r" indent="0" marL="0">
              <a:buNone/>
            </a:pPr>
            <a:r>
              <a:rPr lang="en-US" sz="1050" dirty="0">
                <a:solidFill>
                  <a:schemeClr val="accent6"/>
                </a:solidFill>
              </a:rPr>
              <a:t>7 tables</a:t>
            </a:r>
            <a:endParaRPr lang="en-US" sz="1050" dirty="0"/>
          </a:p>
        </p:txBody>
      </p:sp>
      <p:sp>
        <p:nvSpPr>
          <p:cNvPr id="22" name="Text 20"/>
          <p:cNvSpPr txBox="1"/>
          <p:nvPr/>
        </p:nvSpPr>
        <p:spPr>
          <a:xfrm>
            <a:off x="804672" y="3026664"/>
            <a:ext cx="2253996" cy="566928"/>
          </a:xfrm>
          <a:prstGeom prst="rect">
            <a:avLst/>
          </a:prstGeom>
          <a:noFill/>
          <a:ln/>
        </p:spPr>
        <p:txBody>
          <a:bodyPr wrap="square" lIns="0" tIns="0" rIns="0" bIns="0" rtlCol="0" anchor="ctr"/>
          <a:lstStyle/>
          <a:p>
            <a:pPr indent="0" marL="0">
              <a:lnSpc>
                <a:spcPts val="1400"/>
              </a:lnSpc>
              <a:buNone/>
            </a:pPr>
            <a:r>
              <a:rPr lang="en-US" sz="1050" dirty="0">
                <a:solidFill>
                  <a:schemeClr val="accent6"/>
                </a:solidFill>
                <a:latin typeface="Consolas" pitchFamily="34" charset="0"/>
                <a:ea typeface="Consolas" pitchFamily="34" charset="-122"/>
                <a:cs typeface="Consolas" pitchFamily="34" charset="-120"/>
              </a:rPr>
              <a:t>questions, answers, votes, bookmarks, followers, comments</a:t>
            </a:r>
            <a:endParaRPr lang="en-US" sz="1050" dirty="0"/>
          </a:p>
        </p:txBody>
      </p:sp>
      <p:sp>
        <p:nvSpPr>
          <p:cNvPr id="23" name="dm-5"/>
          <p:cNvSpPr/>
          <p:nvPr/>
        </p:nvSpPr>
        <p:spPr>
          <a:xfrm>
            <a:off x="3396996" y="2532888"/>
            <a:ext cx="2683764" cy="1133856"/>
          </a:xfrm>
          <a:prstGeom prst="roundRect">
            <a:avLst>
              <a:gd name="adj" fmla="val 5645"/>
            </a:avLst>
          </a:prstGeom>
          <a:solidFill>
            <a:srgbClr val="FFFFFF"/>
          </a:solidFill>
          <a:ln w="12700">
            <a:solidFill>
              <a:srgbClr val="DCE5EF"/>
            </a:solidFill>
            <a:prstDash val="solid"/>
          </a:ln>
        </p:spPr>
      </p:sp>
      <p:sp>
        <p:nvSpPr>
          <p:cNvPr id="24" name="Text 22"/>
          <p:cNvSpPr txBox="1"/>
          <p:nvPr/>
        </p:nvSpPr>
        <p:spPr>
          <a:xfrm>
            <a:off x="3634740" y="2679192"/>
            <a:ext cx="1842516" cy="310896"/>
          </a:xfrm>
          <a:prstGeom prst="rect">
            <a:avLst/>
          </a:prstGeom>
          <a:noFill/>
          <a:ln/>
        </p:spPr>
        <p:txBody>
          <a:bodyPr wrap="square" lIns="0" tIns="0" rIns="0" bIns="0" rtlCol="0" anchor="ctr"/>
          <a:lstStyle/>
          <a:p>
            <a:pPr indent="0" marL="0">
              <a:buNone/>
            </a:pPr>
            <a:r>
              <a:rPr lang="en-US" sz="1450" b="1" dirty="0">
                <a:solidFill>
                  <a:schemeClr val="accent3"/>
                </a:solidFill>
              </a:rPr>
              <a:t>Tutoring</a:t>
            </a:r>
            <a:endParaRPr lang="en-US" sz="1450" dirty="0"/>
          </a:p>
        </p:txBody>
      </p:sp>
      <p:sp>
        <p:nvSpPr>
          <p:cNvPr id="25" name="Text 23"/>
          <p:cNvSpPr txBox="1"/>
          <p:nvPr/>
        </p:nvSpPr>
        <p:spPr>
          <a:xfrm>
            <a:off x="5193792" y="2679192"/>
            <a:ext cx="713232" cy="310896"/>
          </a:xfrm>
          <a:prstGeom prst="rect">
            <a:avLst/>
          </a:prstGeom>
          <a:noFill/>
          <a:ln/>
        </p:spPr>
        <p:txBody>
          <a:bodyPr wrap="square" lIns="0" tIns="0" rIns="0" bIns="0" rtlCol="0" anchor="ctr"/>
          <a:lstStyle/>
          <a:p>
            <a:pPr algn="r" indent="0" marL="0">
              <a:buNone/>
            </a:pPr>
            <a:r>
              <a:rPr lang="en-US" sz="1050" dirty="0">
                <a:solidFill>
                  <a:schemeClr val="accent6"/>
                </a:solidFill>
              </a:rPr>
              <a:t>4 tables</a:t>
            </a:r>
            <a:endParaRPr lang="en-US" sz="1050" dirty="0"/>
          </a:p>
        </p:txBody>
      </p:sp>
      <p:sp>
        <p:nvSpPr>
          <p:cNvPr id="26" name="Text 24"/>
          <p:cNvSpPr txBox="1"/>
          <p:nvPr/>
        </p:nvSpPr>
        <p:spPr>
          <a:xfrm>
            <a:off x="3634740" y="3026664"/>
            <a:ext cx="2253996" cy="566928"/>
          </a:xfrm>
          <a:prstGeom prst="rect">
            <a:avLst/>
          </a:prstGeom>
          <a:noFill/>
          <a:ln/>
        </p:spPr>
        <p:txBody>
          <a:bodyPr wrap="square" lIns="0" tIns="0" rIns="0" bIns="0" rtlCol="0" anchor="ctr"/>
          <a:lstStyle/>
          <a:p>
            <a:pPr indent="0" marL="0">
              <a:lnSpc>
                <a:spcPts val="1400"/>
              </a:lnSpc>
              <a:buNone/>
            </a:pPr>
            <a:r>
              <a:rPr lang="en-US" sz="1050" dirty="0">
                <a:solidFill>
                  <a:schemeClr val="accent6"/>
                </a:solidFill>
                <a:latin typeface="Consolas" pitchFamily="34" charset="0"/>
                <a:ea typeface="Consolas" pitchFamily="34" charset="-122"/>
                <a:cs typeface="Consolas" pitchFamily="34" charset="-120"/>
              </a:rPr>
              <a:t>tutors, availability, bookings, session_credits</a:t>
            </a:r>
            <a:endParaRPr lang="en-US" sz="1050" dirty="0"/>
          </a:p>
        </p:txBody>
      </p:sp>
      <p:sp>
        <p:nvSpPr>
          <p:cNvPr id="27" name="dm-6"/>
          <p:cNvSpPr/>
          <p:nvPr/>
        </p:nvSpPr>
        <p:spPr>
          <a:xfrm>
            <a:off x="6227064" y="2532888"/>
            <a:ext cx="2683764" cy="1133856"/>
          </a:xfrm>
          <a:prstGeom prst="roundRect">
            <a:avLst>
              <a:gd name="adj" fmla="val 5645"/>
            </a:avLst>
          </a:prstGeom>
          <a:solidFill>
            <a:srgbClr val="FFFFFF"/>
          </a:solidFill>
          <a:ln w="12700">
            <a:solidFill>
              <a:srgbClr val="DCE5EF"/>
            </a:solidFill>
            <a:prstDash val="solid"/>
          </a:ln>
        </p:spPr>
      </p:sp>
      <p:sp>
        <p:nvSpPr>
          <p:cNvPr id="28" name="Text 26"/>
          <p:cNvSpPr txBox="1"/>
          <p:nvPr/>
        </p:nvSpPr>
        <p:spPr>
          <a:xfrm>
            <a:off x="6464808" y="2679192"/>
            <a:ext cx="1842516" cy="310896"/>
          </a:xfrm>
          <a:prstGeom prst="rect">
            <a:avLst/>
          </a:prstGeom>
          <a:noFill/>
          <a:ln/>
        </p:spPr>
        <p:txBody>
          <a:bodyPr wrap="square" lIns="0" tIns="0" rIns="0" bIns="0" rtlCol="0" anchor="ctr"/>
          <a:lstStyle/>
          <a:p>
            <a:pPr indent="0" marL="0">
              <a:buNone/>
            </a:pPr>
            <a:r>
              <a:rPr lang="en-US" sz="1450" b="1" dirty="0">
                <a:solidFill>
                  <a:schemeClr val="accent3"/>
                </a:solidFill>
              </a:rPr>
              <a:t>Commerce</a:t>
            </a:r>
            <a:endParaRPr lang="en-US" sz="1450" dirty="0"/>
          </a:p>
        </p:txBody>
      </p:sp>
      <p:sp>
        <p:nvSpPr>
          <p:cNvPr id="29" name="Text 27"/>
          <p:cNvSpPr txBox="1"/>
          <p:nvPr/>
        </p:nvSpPr>
        <p:spPr>
          <a:xfrm>
            <a:off x="8023860" y="2679192"/>
            <a:ext cx="713232" cy="310896"/>
          </a:xfrm>
          <a:prstGeom prst="rect">
            <a:avLst/>
          </a:prstGeom>
          <a:noFill/>
          <a:ln/>
        </p:spPr>
        <p:txBody>
          <a:bodyPr wrap="square" lIns="0" tIns="0" rIns="0" bIns="0" rtlCol="0" anchor="ctr"/>
          <a:lstStyle/>
          <a:p>
            <a:pPr algn="r" indent="0" marL="0">
              <a:buNone/>
            </a:pPr>
            <a:r>
              <a:rPr lang="en-US" sz="1050" dirty="0">
                <a:solidFill>
                  <a:schemeClr val="accent6"/>
                </a:solidFill>
              </a:rPr>
              <a:t>4 tables</a:t>
            </a:r>
            <a:endParaRPr lang="en-US" sz="1050" dirty="0"/>
          </a:p>
        </p:txBody>
      </p:sp>
      <p:sp>
        <p:nvSpPr>
          <p:cNvPr id="30" name="Text 28"/>
          <p:cNvSpPr txBox="1"/>
          <p:nvPr/>
        </p:nvSpPr>
        <p:spPr>
          <a:xfrm>
            <a:off x="6464808" y="3026664"/>
            <a:ext cx="2253996" cy="566928"/>
          </a:xfrm>
          <a:prstGeom prst="rect">
            <a:avLst/>
          </a:prstGeom>
          <a:noFill/>
          <a:ln/>
        </p:spPr>
        <p:txBody>
          <a:bodyPr wrap="square" lIns="0" tIns="0" rIns="0" bIns="0" rtlCol="0" anchor="ctr"/>
          <a:lstStyle/>
          <a:p>
            <a:pPr indent="0" marL="0">
              <a:lnSpc>
                <a:spcPts val="1400"/>
              </a:lnSpc>
              <a:buNone/>
            </a:pPr>
            <a:r>
              <a:rPr lang="en-US" sz="1050" dirty="0">
                <a:solidFill>
                  <a:schemeClr val="accent6"/>
                </a:solidFill>
                <a:latin typeface="Consolas" pitchFamily="34" charset="0"/>
                <a:ea typeface="Consolas" pitchFamily="34" charset="-122"/>
                <a:cs typeface="Consolas" pitchFamily="34" charset="-120"/>
              </a:rPr>
              <a:t>transactions, premium_notes, purchased_notes, subscriptions</a:t>
            </a:r>
            <a:endParaRPr lang="en-US" sz="1050" dirty="0"/>
          </a:p>
        </p:txBody>
      </p:sp>
      <p:sp>
        <p:nvSpPr>
          <p:cNvPr id="31" name="dm-7"/>
          <p:cNvSpPr/>
          <p:nvPr/>
        </p:nvSpPr>
        <p:spPr>
          <a:xfrm>
            <a:off x="9057132" y="2532888"/>
            <a:ext cx="2683764" cy="1133856"/>
          </a:xfrm>
          <a:prstGeom prst="roundRect">
            <a:avLst>
              <a:gd name="adj" fmla="val 5645"/>
            </a:avLst>
          </a:prstGeom>
          <a:solidFill>
            <a:srgbClr val="FFFFFF"/>
          </a:solidFill>
          <a:ln w="12700">
            <a:solidFill>
              <a:srgbClr val="DCE5EF"/>
            </a:solidFill>
            <a:prstDash val="solid"/>
          </a:ln>
        </p:spPr>
      </p:sp>
      <p:sp>
        <p:nvSpPr>
          <p:cNvPr id="32" name="Text 30"/>
          <p:cNvSpPr txBox="1"/>
          <p:nvPr/>
        </p:nvSpPr>
        <p:spPr>
          <a:xfrm>
            <a:off x="9294876" y="2679192"/>
            <a:ext cx="1842516" cy="310896"/>
          </a:xfrm>
          <a:prstGeom prst="rect">
            <a:avLst/>
          </a:prstGeom>
          <a:noFill/>
          <a:ln/>
        </p:spPr>
        <p:txBody>
          <a:bodyPr wrap="square" lIns="0" tIns="0" rIns="0" bIns="0" rtlCol="0" anchor="ctr"/>
          <a:lstStyle/>
          <a:p>
            <a:pPr indent="0" marL="0">
              <a:buNone/>
            </a:pPr>
            <a:r>
              <a:rPr lang="en-US" sz="1450" b="1" dirty="0">
                <a:solidFill>
                  <a:schemeClr val="accent6"/>
                </a:solidFill>
              </a:rPr>
              <a:t>Platform</a:t>
            </a:r>
            <a:endParaRPr lang="en-US" sz="1450" dirty="0"/>
          </a:p>
        </p:txBody>
      </p:sp>
      <p:sp>
        <p:nvSpPr>
          <p:cNvPr id="33" name="Text 31"/>
          <p:cNvSpPr txBox="1"/>
          <p:nvPr/>
        </p:nvSpPr>
        <p:spPr>
          <a:xfrm>
            <a:off x="10853928" y="2679192"/>
            <a:ext cx="713232" cy="310896"/>
          </a:xfrm>
          <a:prstGeom prst="rect">
            <a:avLst/>
          </a:prstGeom>
          <a:noFill/>
          <a:ln/>
        </p:spPr>
        <p:txBody>
          <a:bodyPr wrap="square" lIns="0" tIns="0" rIns="0" bIns="0" rtlCol="0" anchor="ctr"/>
          <a:lstStyle/>
          <a:p>
            <a:pPr algn="r" indent="0" marL="0">
              <a:buNone/>
            </a:pPr>
            <a:r>
              <a:rPr lang="en-US" sz="1050" dirty="0">
                <a:solidFill>
                  <a:schemeClr val="accent6"/>
                </a:solidFill>
              </a:rPr>
              <a:t>2 tables</a:t>
            </a:r>
            <a:endParaRPr lang="en-US" sz="1050" dirty="0"/>
          </a:p>
        </p:txBody>
      </p:sp>
      <p:sp>
        <p:nvSpPr>
          <p:cNvPr id="34" name="Text 32"/>
          <p:cNvSpPr txBox="1"/>
          <p:nvPr/>
        </p:nvSpPr>
        <p:spPr>
          <a:xfrm>
            <a:off x="9294876" y="3026664"/>
            <a:ext cx="2253996" cy="566928"/>
          </a:xfrm>
          <a:prstGeom prst="rect">
            <a:avLst/>
          </a:prstGeom>
          <a:noFill/>
          <a:ln/>
        </p:spPr>
        <p:txBody>
          <a:bodyPr wrap="square" lIns="0" tIns="0" rIns="0" bIns="0" rtlCol="0" anchor="ctr"/>
          <a:lstStyle/>
          <a:p>
            <a:pPr indent="0" marL="0">
              <a:lnSpc>
                <a:spcPts val="1400"/>
              </a:lnSpc>
              <a:buNone/>
            </a:pPr>
            <a:r>
              <a:rPr lang="en-US" sz="1050" dirty="0">
                <a:solidFill>
                  <a:schemeClr val="accent6"/>
                </a:solidFill>
                <a:latin typeface="Consolas" pitchFamily="34" charset="0"/>
                <a:ea typeface="Consolas" pitchFamily="34" charset="-122"/>
                <a:cs typeface="Consolas" pitchFamily="34" charset="-120"/>
              </a:rPr>
              <a:t>notifications, contact_messages</a:t>
            </a:r>
            <a:endParaRPr lang="en-US" sz="1050" dirty="0"/>
          </a:p>
        </p:txBody>
      </p:sp>
      <p:sp>
        <p:nvSpPr>
          <p:cNvPr id="35" name="dmdec-0"/>
          <p:cNvSpPr/>
          <p:nvPr/>
        </p:nvSpPr>
        <p:spPr>
          <a:xfrm>
            <a:off x="566928" y="3931920"/>
            <a:ext cx="5404104" cy="1371600"/>
          </a:xfrm>
          <a:prstGeom prst="roundRect">
            <a:avLst>
              <a:gd name="adj" fmla="val 4667"/>
            </a:avLst>
          </a:prstGeom>
          <a:solidFill>
            <a:srgbClr val="0F3057"/>
          </a:solidFill>
          <a:ln w="12700">
            <a:solidFill>
              <a:srgbClr val="0F3057"/>
            </a:solidFill>
            <a:prstDash val="solid"/>
          </a:ln>
        </p:spPr>
      </p:sp>
      <p:sp>
        <p:nvSpPr>
          <p:cNvPr id="36" name="Text 34"/>
          <p:cNvSpPr txBox="1"/>
          <p:nvPr/>
        </p:nvSpPr>
        <p:spPr>
          <a:xfrm>
            <a:off x="841248" y="4096512"/>
            <a:ext cx="4855464" cy="365760"/>
          </a:xfrm>
          <a:prstGeom prst="rect">
            <a:avLst/>
          </a:prstGeom>
          <a:noFill/>
          <a:ln/>
        </p:spPr>
        <p:txBody>
          <a:bodyPr wrap="square" lIns="0" tIns="0" rIns="0" bIns="0" rtlCol="0" anchor="ctr"/>
          <a:lstStyle/>
          <a:p>
            <a:pPr indent="0" marL="0">
              <a:buNone/>
            </a:pPr>
            <a:r>
              <a:rPr lang="en-US" sz="1400" b="1" dirty="0">
                <a:solidFill>
                  <a:srgbClr val="C77C1E"/>
                </a:solidFill>
              </a:rPr>
              <a:t>Votes are entities, not counters</a:t>
            </a:r>
            <a:endParaRPr lang="en-US" sz="1400" dirty="0"/>
          </a:p>
        </p:txBody>
      </p:sp>
      <p:sp>
        <p:nvSpPr>
          <p:cNvPr id="37" name="Text 35"/>
          <p:cNvSpPr txBox="1"/>
          <p:nvPr/>
        </p:nvSpPr>
        <p:spPr>
          <a:xfrm>
            <a:off x="841248" y="4480560"/>
            <a:ext cx="4855464" cy="731520"/>
          </a:xfrm>
          <a:prstGeom prst="rect">
            <a:avLst/>
          </a:prstGeom>
          <a:noFill/>
          <a:ln/>
        </p:spPr>
        <p:txBody>
          <a:bodyPr wrap="square" lIns="0" tIns="0" rIns="0" bIns="0" rtlCol="0" anchor="ctr"/>
          <a:lstStyle/>
          <a:p>
            <a:pPr indent="0" marL="0">
              <a:lnSpc>
                <a:spcPts val="1600"/>
              </a:lnSpc>
              <a:buNone/>
            </a:pPr>
            <a:r>
              <a:rPr lang="en-US" sz="1200" dirty="0">
                <a:solidFill>
                  <a:srgbClr val="D5E2F0"/>
                </a:solidFill>
              </a:rPr>
              <a:t>A uniqueness constraint on (voter, target) makes double voting impossible at the storage layer rather than in code any path can forget.</a:t>
            </a:r>
            <a:endParaRPr lang="en-US" sz="1200" dirty="0"/>
          </a:p>
        </p:txBody>
      </p:sp>
      <p:sp>
        <p:nvSpPr>
          <p:cNvPr id="38" name="dmdec-1"/>
          <p:cNvSpPr/>
          <p:nvPr/>
        </p:nvSpPr>
        <p:spPr>
          <a:xfrm>
            <a:off x="6190488" y="3931920"/>
            <a:ext cx="5404104" cy="1371600"/>
          </a:xfrm>
          <a:prstGeom prst="roundRect">
            <a:avLst>
              <a:gd name="adj" fmla="val 4667"/>
            </a:avLst>
          </a:prstGeom>
          <a:solidFill>
            <a:srgbClr val="0F3057"/>
          </a:solidFill>
          <a:ln w="12700">
            <a:solidFill>
              <a:srgbClr val="0F3057"/>
            </a:solidFill>
            <a:prstDash val="solid"/>
          </a:ln>
        </p:spPr>
      </p:sp>
      <p:sp>
        <p:nvSpPr>
          <p:cNvPr id="39" name="Text 37"/>
          <p:cNvSpPr txBox="1"/>
          <p:nvPr/>
        </p:nvSpPr>
        <p:spPr>
          <a:xfrm>
            <a:off x="6464808" y="4096512"/>
            <a:ext cx="4855464" cy="365760"/>
          </a:xfrm>
          <a:prstGeom prst="rect">
            <a:avLst/>
          </a:prstGeom>
          <a:noFill/>
          <a:ln/>
        </p:spPr>
        <p:txBody>
          <a:bodyPr wrap="square" lIns="0" tIns="0" rIns="0" bIns="0" rtlCol="0" anchor="ctr"/>
          <a:lstStyle/>
          <a:p>
            <a:pPr indent="0" marL="0">
              <a:buNone/>
            </a:pPr>
            <a:r>
              <a:rPr lang="en-US" sz="1400" b="1" dirty="0">
                <a:solidFill>
                  <a:srgbClr val="C77C1E"/>
                </a:solidFill>
              </a:rPr>
              <a:t>Entitlement is a record, not a flag</a:t>
            </a:r>
            <a:endParaRPr lang="en-US" sz="1400" dirty="0"/>
          </a:p>
        </p:txBody>
      </p:sp>
      <p:sp>
        <p:nvSpPr>
          <p:cNvPr id="40" name="Text 38"/>
          <p:cNvSpPr txBox="1"/>
          <p:nvPr/>
        </p:nvSpPr>
        <p:spPr>
          <a:xfrm>
            <a:off x="6464808" y="4480560"/>
            <a:ext cx="4855464" cy="731520"/>
          </a:xfrm>
          <a:prstGeom prst="rect">
            <a:avLst/>
          </a:prstGeom>
          <a:noFill/>
          <a:ln/>
        </p:spPr>
        <p:txBody>
          <a:bodyPr wrap="square" lIns="0" tIns="0" rIns="0" bIns="0" rtlCol="0" anchor="ctr"/>
          <a:lstStyle/>
          <a:p>
            <a:pPr indent="0" marL="0">
              <a:lnSpc>
                <a:spcPts val="1600"/>
              </a:lnSpc>
              <a:buNone/>
            </a:pPr>
            <a:r>
              <a:rPr lang="en-US" sz="1200" dirty="0">
                <a:solidFill>
                  <a:srgbClr val="D5E2F0"/>
                </a:solidFill>
              </a:rPr>
              <a:t>Access is determined by the existence of a purchase row — which also yields an auditable record of who bought what, when.</a:t>
            </a:r>
            <a:endParaRPr lang="en-US" sz="1200" dirty="0"/>
          </a:p>
        </p:txBody>
      </p:sp>
      <p:sp>
        <p:nvSpPr>
          <p:cNvPr id="41" name="Text 39"/>
          <p:cNvSpPr txBox="1"/>
          <p:nvPr/>
        </p:nvSpPr>
        <p:spPr>
          <a:xfrm>
            <a:off x="566928" y="5440680"/>
            <a:ext cx="11027664" cy="365760"/>
          </a:xfrm>
          <a:prstGeom prst="rect">
            <a:avLst/>
          </a:prstGeom>
          <a:noFill/>
          <a:ln/>
        </p:spPr>
        <p:txBody>
          <a:bodyPr wrap="square" rtlCol="0" anchor="ctr"/>
          <a:lstStyle/>
          <a:p>
            <a:pPr indent="0" marL="0">
              <a:buNone/>
            </a:pPr>
            <a:r>
              <a:rPr lang="en-US" sz="1250" i="1" dirty="0">
                <a:solidFill>
                  <a:schemeClr val="accent6"/>
                </a:solidFill>
              </a:rPr>
              <a:t>Declared in a single 476-line Prisma schema. The database is never altered by hand — every change is a reviewed, version-controlled migration.</a:t>
            </a:r>
            <a:endParaRPr lang="en-US" sz="1250" dirty="0"/>
          </a:p>
        </p:txBody>
      </p:sp>
      <p:sp>
        <p:nvSpPr>
          <p:cNvPr id="25" name="Slide Number Placeholder 0"/>
          <p:cNvSpPr>
            <a:spLocks noGrp="1"/>
          </p:cNvSpPr>
          <p:nvPr>
            <p:ph type="sldNum" sz="quarter" idx="4294967295"/>
          </p:nvPr>
        </p:nvSpPr>
        <p:spPr>
          <a:xfrm>
            <a:off x="11430000" y="6327648"/>
            <a:ext cx="45720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64748B"/>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566928" y="2377440"/>
            <a:ext cx="1828800" cy="822960"/>
          </a:xfrm>
          <a:prstGeom prst="rect">
            <a:avLst/>
          </a:prstGeom>
          <a:noFill/>
          <a:ln/>
        </p:spPr>
        <p:txBody>
          <a:bodyPr wrap="square" rtlCol="0"/>
          <a:lstStyle/>
          <a:p>
            <a:pPr indent="0" marL="0">
              <a:buNone/>
            </a:pPr>
            <a:r>
              <a:rPr lang="en-US" sz="5800" b="1" dirty="0">
                <a:solidFill>
                  <a:srgbClr val="C77C1E"/>
                </a:solidFill>
              </a:rPr>
              <a:t>02</a:t>
            </a:r>
            <a:endParaRPr lang="en-US" sz="5800" dirty="0"/>
          </a:p>
        </p:txBody>
      </p:sp>
      <p:sp>
        <p:nvSpPr>
          <p:cNvPr id="3" name="Text 0"/>
          <p:cNvSpPr/>
          <p:nvPr>
            <p:ph idx="101" type="body" hasCustomPrompt="1"/>
          </p:nvPr>
        </p:nvSpPr>
        <p:spPr>
          <a:xfrm>
            <a:off x="566928" y="3200400"/>
            <a:ext cx="11027664" cy="868680"/>
          </a:xfrm>
          <a:prstGeom prst="rect">
            <a:avLst/>
          </a:prstGeom>
          <a:noFill/>
          <a:ln/>
        </p:spPr>
        <p:txBody>
          <a:bodyPr wrap="square" rtlCol="0"/>
          <a:lstStyle/>
          <a:p>
            <a:pPr indent="0" marL="0">
              <a:buNone/>
            </a:pPr>
            <a:r>
              <a:rPr lang="en-US" sz="3800" b="1" dirty="0">
                <a:solidFill>
                  <a:srgbClr val="FFFFFF"/>
                </a:solidFill>
              </a:rPr>
              <a:t>Implementation</a:t>
            </a:r>
            <a:endParaRPr lang="en-US" sz="3800" dirty="0"/>
          </a:p>
        </p:txBody>
      </p:sp>
      <p:sp>
        <p:nvSpPr>
          <p:cNvPr id="4" name="Text 0"/>
          <p:cNvSpPr/>
          <p:nvPr>
            <p:ph idx="102" type="body" hasCustomPrompt="1"/>
          </p:nvPr>
        </p:nvSpPr>
        <p:spPr>
          <a:xfrm>
            <a:off x="566928" y="4069080"/>
            <a:ext cx="8686800" cy="731520"/>
          </a:xfrm>
          <a:prstGeom prst="rect">
            <a:avLst/>
          </a:prstGeom>
          <a:noFill/>
          <a:ln/>
        </p:spPr>
        <p:txBody>
          <a:bodyPr wrap="square" rtlCol="0"/>
          <a:lstStyle/>
          <a:p>
            <a:pPr indent="0" marL="0">
              <a:buNone/>
            </a:pPr>
            <a:r>
              <a:rPr lang="en-US" sz="1500" dirty="0">
                <a:solidFill>
                  <a:srgbClr val="B9CCE4"/>
                </a:solidFill>
              </a:rPr>
              <a:t>Three problems where the local context forced a design a textbook would not have produced</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566928" y="384048"/>
            <a:ext cx="11027664" cy="713232"/>
          </a:xfrm>
          <a:prstGeom prst="rect">
            <a:avLst/>
          </a:prstGeom>
          <a:noFill/>
          <a:ln/>
        </p:spPr>
        <p:txBody>
          <a:bodyPr wrap="square" rtlCol="0"/>
          <a:lstStyle/>
          <a:p>
            <a:pPr indent="0" marL="0">
              <a:buNone/>
            </a:pPr>
            <a:r>
              <a:rPr lang="en-US" sz="3200" b="1" dirty="0">
                <a:solidFill>
                  <a:srgbClr val="0F3057"/>
                </a:solidFill>
              </a:rPr>
              <a:t>Payment integrity — the browser is an observer, not the authority</a:t>
            </a:r>
            <a:endParaRPr lang="en-US" sz="3200" dirty="0"/>
          </a:p>
        </p:txBody>
      </p:sp>
      <p:sp>
        <p:nvSpPr>
          <p:cNvPr id="3" name="Text 1"/>
          <p:cNvSpPr txBox="1"/>
          <p:nvPr/>
        </p:nvSpPr>
        <p:spPr>
          <a:xfrm>
            <a:off x="566928" y="1097280"/>
            <a:ext cx="11027664" cy="502920"/>
          </a:xfrm>
          <a:prstGeom prst="rect">
            <a:avLst/>
          </a:prstGeom>
          <a:noFill/>
          <a:ln/>
        </p:spPr>
        <p:txBody>
          <a:bodyPr wrap="square" rtlCol="0" anchor="ctr"/>
          <a:lstStyle/>
          <a:p>
            <a:pPr indent="0" marL="0">
              <a:lnSpc>
                <a:spcPts val="2000"/>
              </a:lnSpc>
              <a:buNone/>
            </a:pPr>
            <a:r>
              <a:rPr lang="en-US" sz="1400" dirty="0">
                <a:solidFill>
                  <a:schemeClr val="tx1"/>
                </a:solidFill>
              </a:rPr>
              <a:t>Mobile money settles asynchronously and may never respond at all. A design in which the browser reports the outcome works under demonstration conditions and fails in exactly the circumstances students actually meet.</a:t>
            </a:r>
            <a:endParaRPr lang="en-US" sz="1400" dirty="0"/>
          </a:p>
        </p:txBody>
      </p:sp>
      <p:sp>
        <p:nvSpPr>
          <p:cNvPr id="4" name="pay-0"/>
          <p:cNvSpPr/>
          <p:nvPr/>
        </p:nvSpPr>
        <p:spPr>
          <a:xfrm>
            <a:off x="566928" y="1783080"/>
            <a:ext cx="2674620" cy="1920240"/>
          </a:xfrm>
          <a:prstGeom prst="roundRect">
            <a:avLst>
              <a:gd name="adj" fmla="val 3333"/>
            </a:avLst>
          </a:prstGeom>
          <a:solidFill>
            <a:schemeClr val="bg2"/>
          </a:solidFill>
          <a:ln w="12700">
            <a:solidFill>
              <a:srgbClr val="DCE5EF"/>
            </a:solidFill>
            <a:prstDash val="solid"/>
          </a:ln>
          <a:effectLst>
            <a:outerShdw sx="100000" sy="100000" kx="0" ky="0" algn="bl" rotWithShape="0" blurRad="127000" dist="25400" dir="5400000">
              <a:srgbClr val="0F3057">
                <a:alpha val="10000"/>
              </a:srgbClr>
            </a:outerShdw>
          </a:effectLst>
        </p:spPr>
      </p:sp>
      <p:sp>
        <p:nvSpPr>
          <p:cNvPr id="5" name="disc-1"/>
          <p:cNvSpPr/>
          <p:nvPr/>
        </p:nvSpPr>
        <p:spPr>
          <a:xfrm>
            <a:off x="804672" y="2011680"/>
            <a:ext cx="402336" cy="402336"/>
          </a:xfrm>
          <a:prstGeom prst="ellipse">
            <a:avLst/>
          </a:prstGeom>
          <a:solidFill>
            <a:schemeClr val="accent1"/>
          </a:solidFill>
          <a:ln w="12700">
            <a:solidFill>
              <a:schemeClr val="accent1"/>
            </a:solidFill>
            <a:prstDash val="solid"/>
          </a:ln>
        </p:spPr>
      </p:sp>
      <p:sp>
        <p:nvSpPr>
          <p:cNvPr id="6" name="Text 4"/>
          <p:cNvSpPr txBox="1"/>
          <p:nvPr/>
        </p:nvSpPr>
        <p:spPr>
          <a:xfrm>
            <a:off x="804672" y="20116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7" name="Text 5"/>
          <p:cNvSpPr txBox="1"/>
          <p:nvPr/>
        </p:nvSpPr>
        <p:spPr>
          <a:xfrm>
            <a:off x="804672" y="2523744"/>
            <a:ext cx="2208276" cy="475488"/>
          </a:xfrm>
          <a:prstGeom prst="rect">
            <a:avLst/>
          </a:prstGeom>
          <a:noFill/>
          <a:ln/>
        </p:spPr>
        <p:txBody>
          <a:bodyPr wrap="square" lIns="0" tIns="0" rIns="0" bIns="0" rtlCol="0" anchor="ctr"/>
          <a:lstStyle/>
          <a:p>
            <a:pPr indent="0" marL="0">
              <a:lnSpc>
                <a:spcPts val="1700"/>
              </a:lnSpc>
              <a:buNone/>
            </a:pPr>
            <a:r>
              <a:rPr lang="en-US" sz="1350" b="1" dirty="0">
                <a:solidFill>
                  <a:schemeClr val="tx2"/>
                </a:solidFill>
              </a:rPr>
              <a:t>Price resolved server-side</a:t>
            </a:r>
            <a:endParaRPr lang="en-US" sz="1350" dirty="0"/>
          </a:p>
        </p:txBody>
      </p:sp>
      <p:sp>
        <p:nvSpPr>
          <p:cNvPr id="8" name="Text 6"/>
          <p:cNvSpPr txBox="1"/>
          <p:nvPr/>
        </p:nvSpPr>
        <p:spPr>
          <a:xfrm>
            <a:off x="804672" y="3017520"/>
            <a:ext cx="2208276" cy="621792"/>
          </a:xfrm>
          <a:prstGeom prst="rect">
            <a:avLst/>
          </a:prstGeom>
          <a:noFill/>
          <a:ln/>
        </p:spPr>
        <p:txBody>
          <a:bodyPr wrap="square" lIns="0" tIns="0" rIns="0" bIns="0" rtlCol="0" anchor="ctr"/>
          <a:lstStyle/>
          <a:p>
            <a:pPr indent="0" marL="0">
              <a:lnSpc>
                <a:spcPts val="1500"/>
              </a:lnSpc>
              <a:buNone/>
            </a:pPr>
            <a:r>
              <a:rPr lang="en-US" sz="1150" dirty="0">
                <a:solidFill>
                  <a:schemeClr val="accent6"/>
                </a:solidFill>
              </a:rPr>
              <a:t>The client never sends an amount. Every charge is read from the database when the transaction is created.</a:t>
            </a:r>
            <a:endParaRPr lang="en-US" sz="1150" dirty="0"/>
          </a:p>
        </p:txBody>
      </p:sp>
      <p:sp>
        <p:nvSpPr>
          <p:cNvPr id="9" name="pay-1"/>
          <p:cNvSpPr/>
          <p:nvPr/>
        </p:nvSpPr>
        <p:spPr>
          <a:xfrm>
            <a:off x="3406140" y="1783080"/>
            <a:ext cx="2674620" cy="1920240"/>
          </a:xfrm>
          <a:prstGeom prst="roundRect">
            <a:avLst>
              <a:gd name="adj" fmla="val 3333"/>
            </a:avLst>
          </a:prstGeom>
          <a:solidFill>
            <a:schemeClr val="bg2"/>
          </a:solidFill>
          <a:ln w="12700">
            <a:solidFill>
              <a:srgbClr val="DCE5EF"/>
            </a:solidFill>
            <a:prstDash val="solid"/>
          </a:ln>
          <a:effectLst>
            <a:outerShdw sx="100000" sy="100000" kx="0" ky="0" algn="bl" rotWithShape="0" blurRad="127000" dist="25400" dir="5400000">
              <a:srgbClr val="0F3057">
                <a:alpha val="10000"/>
              </a:srgbClr>
            </a:outerShdw>
          </a:effectLst>
        </p:spPr>
      </p:sp>
      <p:sp>
        <p:nvSpPr>
          <p:cNvPr id="10" name="disc-2"/>
          <p:cNvSpPr/>
          <p:nvPr/>
        </p:nvSpPr>
        <p:spPr>
          <a:xfrm>
            <a:off x="3643884" y="2011680"/>
            <a:ext cx="402336" cy="402336"/>
          </a:xfrm>
          <a:prstGeom prst="ellipse">
            <a:avLst/>
          </a:prstGeom>
          <a:solidFill>
            <a:schemeClr val="accent1"/>
          </a:solidFill>
          <a:ln w="12700">
            <a:solidFill>
              <a:schemeClr val="accent1"/>
            </a:solidFill>
            <a:prstDash val="solid"/>
          </a:ln>
        </p:spPr>
      </p:sp>
      <p:sp>
        <p:nvSpPr>
          <p:cNvPr id="11" name="Text 9"/>
          <p:cNvSpPr txBox="1"/>
          <p:nvPr/>
        </p:nvSpPr>
        <p:spPr>
          <a:xfrm>
            <a:off x="3643884" y="20116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2" name="Text 10"/>
          <p:cNvSpPr txBox="1"/>
          <p:nvPr/>
        </p:nvSpPr>
        <p:spPr>
          <a:xfrm>
            <a:off x="3643884" y="2523744"/>
            <a:ext cx="2208276" cy="475488"/>
          </a:xfrm>
          <a:prstGeom prst="rect">
            <a:avLst/>
          </a:prstGeom>
          <a:noFill/>
          <a:ln/>
        </p:spPr>
        <p:txBody>
          <a:bodyPr wrap="square" lIns="0" tIns="0" rIns="0" bIns="0" rtlCol="0" anchor="ctr"/>
          <a:lstStyle/>
          <a:p>
            <a:pPr indent="0" marL="0">
              <a:lnSpc>
                <a:spcPts val="1700"/>
              </a:lnSpc>
              <a:buNone/>
            </a:pPr>
            <a:r>
              <a:rPr lang="en-US" sz="1350" b="1" dirty="0">
                <a:solidFill>
                  <a:schemeClr val="tx2"/>
                </a:solidFill>
              </a:rPr>
              <a:t>Asynchronous collect</a:t>
            </a:r>
            <a:endParaRPr lang="en-US" sz="1350" dirty="0"/>
          </a:p>
        </p:txBody>
      </p:sp>
      <p:sp>
        <p:nvSpPr>
          <p:cNvPr id="13" name="Text 11"/>
          <p:cNvSpPr txBox="1"/>
          <p:nvPr/>
        </p:nvSpPr>
        <p:spPr>
          <a:xfrm>
            <a:off x="3643884" y="3017520"/>
            <a:ext cx="2208276" cy="621792"/>
          </a:xfrm>
          <a:prstGeom prst="rect">
            <a:avLst/>
          </a:prstGeom>
          <a:noFill/>
          <a:ln/>
        </p:spPr>
        <p:txBody>
          <a:bodyPr wrap="square" lIns="0" tIns="0" rIns="0" bIns="0" rtlCol="0" anchor="ctr"/>
          <a:lstStyle/>
          <a:p>
            <a:pPr indent="0" marL="0">
              <a:lnSpc>
                <a:spcPts val="1500"/>
              </a:lnSpc>
              <a:buNone/>
            </a:pPr>
            <a:r>
              <a:rPr lang="en-US" sz="1150" dirty="0">
                <a:solidFill>
                  <a:schemeClr val="accent6"/>
                </a:solidFill>
              </a:rPr>
              <a:t>The HTTP call returns immediately; it does not block for the length of the USSD interaction.</a:t>
            </a:r>
            <a:endParaRPr lang="en-US" sz="1150" dirty="0"/>
          </a:p>
        </p:txBody>
      </p:sp>
      <p:sp>
        <p:nvSpPr>
          <p:cNvPr id="14" name="pay-2"/>
          <p:cNvSpPr/>
          <p:nvPr/>
        </p:nvSpPr>
        <p:spPr>
          <a:xfrm>
            <a:off x="6245352" y="1783080"/>
            <a:ext cx="2674620" cy="1920240"/>
          </a:xfrm>
          <a:prstGeom prst="roundRect">
            <a:avLst>
              <a:gd name="adj" fmla="val 3333"/>
            </a:avLst>
          </a:prstGeom>
          <a:solidFill>
            <a:schemeClr val="bg2"/>
          </a:solidFill>
          <a:ln w="12700">
            <a:solidFill>
              <a:srgbClr val="DCE5EF"/>
            </a:solidFill>
            <a:prstDash val="solid"/>
          </a:ln>
          <a:effectLst>
            <a:outerShdw sx="100000" sy="100000" kx="0" ky="0" algn="bl" rotWithShape="0" blurRad="127000" dist="25400" dir="5400000">
              <a:srgbClr val="0F3057">
                <a:alpha val="10000"/>
              </a:srgbClr>
            </a:outerShdw>
          </a:effectLst>
        </p:spPr>
      </p:sp>
      <p:sp>
        <p:nvSpPr>
          <p:cNvPr id="15" name="disc-3"/>
          <p:cNvSpPr/>
          <p:nvPr/>
        </p:nvSpPr>
        <p:spPr>
          <a:xfrm>
            <a:off x="6483096" y="2011680"/>
            <a:ext cx="402336" cy="402336"/>
          </a:xfrm>
          <a:prstGeom prst="ellipse">
            <a:avLst/>
          </a:prstGeom>
          <a:solidFill>
            <a:schemeClr val="accent1"/>
          </a:solidFill>
          <a:ln w="12700">
            <a:solidFill>
              <a:schemeClr val="accent1"/>
            </a:solidFill>
            <a:prstDash val="solid"/>
          </a:ln>
        </p:spPr>
      </p:sp>
      <p:sp>
        <p:nvSpPr>
          <p:cNvPr id="16" name="Text 14"/>
          <p:cNvSpPr txBox="1"/>
          <p:nvPr/>
        </p:nvSpPr>
        <p:spPr>
          <a:xfrm>
            <a:off x="6483096" y="20116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7" name="Text 15"/>
          <p:cNvSpPr txBox="1"/>
          <p:nvPr/>
        </p:nvSpPr>
        <p:spPr>
          <a:xfrm>
            <a:off x="6483096" y="2523744"/>
            <a:ext cx="2208276" cy="475488"/>
          </a:xfrm>
          <a:prstGeom prst="rect">
            <a:avLst/>
          </a:prstGeom>
          <a:noFill/>
          <a:ln/>
        </p:spPr>
        <p:txBody>
          <a:bodyPr wrap="square" lIns="0" tIns="0" rIns="0" bIns="0" rtlCol="0" anchor="ctr"/>
          <a:lstStyle/>
          <a:p>
            <a:pPr indent="0" marL="0">
              <a:lnSpc>
                <a:spcPts val="1700"/>
              </a:lnSpc>
              <a:buNone/>
            </a:pPr>
            <a:r>
              <a:rPr lang="en-US" sz="1350" b="1" dirty="0">
                <a:solidFill>
                  <a:schemeClr val="tx2"/>
                </a:solidFill>
              </a:rPr>
              <a:t>Poll, then reconcile</a:t>
            </a:r>
            <a:endParaRPr lang="en-US" sz="1350" dirty="0"/>
          </a:p>
        </p:txBody>
      </p:sp>
      <p:sp>
        <p:nvSpPr>
          <p:cNvPr id="18" name="Text 16"/>
          <p:cNvSpPr txBox="1"/>
          <p:nvPr/>
        </p:nvSpPr>
        <p:spPr>
          <a:xfrm>
            <a:off x="6483096" y="3017520"/>
            <a:ext cx="2208276" cy="621792"/>
          </a:xfrm>
          <a:prstGeom prst="rect">
            <a:avLst/>
          </a:prstGeom>
          <a:noFill/>
          <a:ln/>
        </p:spPr>
        <p:txBody>
          <a:bodyPr wrap="square" lIns="0" tIns="0" rIns="0" bIns="0" rtlCol="0" anchor="ctr"/>
          <a:lstStyle/>
          <a:p>
            <a:pPr indent="0" marL="0">
              <a:lnSpc>
                <a:spcPts val="1500"/>
              </a:lnSpc>
              <a:buNone/>
            </a:pPr>
            <a:r>
              <a:rPr lang="en-US" sz="1150" dirty="0">
                <a:solidFill>
                  <a:schemeClr val="accent6"/>
                </a:solidFill>
              </a:rPr>
              <a:t>The browser polls every 3s for up to 3 minutes. A background sweep settles whatever the browser stopped watching.</a:t>
            </a:r>
            <a:endParaRPr lang="en-US" sz="1150" dirty="0"/>
          </a:p>
        </p:txBody>
      </p:sp>
      <p:sp>
        <p:nvSpPr>
          <p:cNvPr id="19" name="pay-3"/>
          <p:cNvSpPr/>
          <p:nvPr/>
        </p:nvSpPr>
        <p:spPr>
          <a:xfrm>
            <a:off x="9084564" y="1783080"/>
            <a:ext cx="2674620" cy="1920240"/>
          </a:xfrm>
          <a:prstGeom prst="roundRect">
            <a:avLst>
              <a:gd name="adj" fmla="val 3333"/>
            </a:avLst>
          </a:prstGeom>
          <a:solidFill>
            <a:schemeClr val="bg2"/>
          </a:solidFill>
          <a:ln w="12700">
            <a:solidFill>
              <a:srgbClr val="DCE5EF"/>
            </a:solidFill>
            <a:prstDash val="solid"/>
          </a:ln>
          <a:effectLst>
            <a:outerShdw sx="100000" sy="100000" kx="0" ky="0" algn="bl" rotWithShape="0" blurRad="127000" dist="25400" dir="5400000">
              <a:srgbClr val="0F3057">
                <a:alpha val="10000"/>
              </a:srgbClr>
            </a:outerShdw>
          </a:effectLst>
        </p:spPr>
      </p:sp>
      <p:sp>
        <p:nvSpPr>
          <p:cNvPr id="20" name="disc-4"/>
          <p:cNvSpPr/>
          <p:nvPr/>
        </p:nvSpPr>
        <p:spPr>
          <a:xfrm>
            <a:off x="9322308" y="2011680"/>
            <a:ext cx="402336" cy="402336"/>
          </a:xfrm>
          <a:prstGeom prst="ellipse">
            <a:avLst/>
          </a:prstGeom>
          <a:solidFill>
            <a:schemeClr val="accent1"/>
          </a:solidFill>
          <a:ln w="12700">
            <a:solidFill>
              <a:schemeClr val="accent1"/>
            </a:solidFill>
            <a:prstDash val="solid"/>
          </a:ln>
        </p:spPr>
      </p:sp>
      <p:sp>
        <p:nvSpPr>
          <p:cNvPr id="21" name="Text 19"/>
          <p:cNvSpPr txBox="1"/>
          <p:nvPr/>
        </p:nvSpPr>
        <p:spPr>
          <a:xfrm>
            <a:off x="9322308" y="20116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2" name="Text 20"/>
          <p:cNvSpPr txBox="1"/>
          <p:nvPr/>
        </p:nvSpPr>
        <p:spPr>
          <a:xfrm>
            <a:off x="9322308" y="2523744"/>
            <a:ext cx="2208276" cy="475488"/>
          </a:xfrm>
          <a:prstGeom prst="rect">
            <a:avLst/>
          </a:prstGeom>
          <a:noFill/>
          <a:ln/>
        </p:spPr>
        <p:txBody>
          <a:bodyPr wrap="square" lIns="0" tIns="0" rIns="0" bIns="0" rtlCol="0" anchor="ctr"/>
          <a:lstStyle/>
          <a:p>
            <a:pPr indent="0" marL="0">
              <a:lnSpc>
                <a:spcPts val="1700"/>
              </a:lnSpc>
              <a:buNone/>
            </a:pPr>
            <a:r>
              <a:rPr lang="en-US" sz="1350" b="1" dirty="0">
                <a:solidFill>
                  <a:schemeClr val="tx2"/>
                </a:solidFill>
              </a:rPr>
              <a:t>Idempotent granting</a:t>
            </a:r>
            <a:endParaRPr lang="en-US" sz="1350" dirty="0"/>
          </a:p>
        </p:txBody>
      </p:sp>
      <p:sp>
        <p:nvSpPr>
          <p:cNvPr id="23" name="Text 21"/>
          <p:cNvSpPr txBox="1"/>
          <p:nvPr/>
        </p:nvSpPr>
        <p:spPr>
          <a:xfrm>
            <a:off x="9322308" y="3017520"/>
            <a:ext cx="2208276" cy="621792"/>
          </a:xfrm>
          <a:prstGeom prst="rect">
            <a:avLst/>
          </a:prstGeom>
          <a:noFill/>
          <a:ln/>
        </p:spPr>
        <p:txBody>
          <a:bodyPr wrap="square" lIns="0" tIns="0" rIns="0" bIns="0" rtlCol="0" anchor="ctr"/>
          <a:lstStyle/>
          <a:p>
            <a:pPr indent="0" marL="0">
              <a:lnSpc>
                <a:spcPts val="1500"/>
              </a:lnSpc>
              <a:buNone/>
            </a:pPr>
            <a:r>
              <a:rPr lang="en-US" sz="1150" dirty="0">
                <a:solidFill>
                  <a:schemeClr val="accent6"/>
                </a:solidFill>
              </a:rPr>
              <a:t>Poll and reconciler may both see success. A conditional status update means exactly one performs the grant.</a:t>
            </a:r>
            <a:endParaRPr lang="en-US" sz="1150" dirty="0"/>
          </a:p>
        </p:txBody>
      </p:sp>
      <p:sp>
        <p:nvSpPr>
          <p:cNvPr id="24" name="cancelbox"/>
          <p:cNvSpPr/>
          <p:nvPr/>
        </p:nvSpPr>
        <p:spPr>
          <a:xfrm>
            <a:off x="566928" y="3886200"/>
            <a:ext cx="11027664" cy="987552"/>
          </a:xfrm>
          <a:prstGeom prst="roundRect">
            <a:avLst>
              <a:gd name="adj" fmla="val 6481"/>
            </a:avLst>
          </a:prstGeom>
          <a:solidFill>
            <a:srgbClr val="EAF3F0"/>
          </a:solidFill>
          <a:ln w="12700">
            <a:solidFill>
              <a:srgbClr val="B8D8CE"/>
            </a:solidFill>
            <a:prstDash val="solid"/>
          </a:ln>
        </p:spPr>
      </p:sp>
      <p:sp>
        <p:nvSpPr>
          <p:cNvPr id="25" name="Text 23"/>
          <p:cNvSpPr txBox="1"/>
          <p:nvPr/>
        </p:nvSpPr>
        <p:spPr>
          <a:xfrm>
            <a:off x="841248" y="4023360"/>
            <a:ext cx="10479024" cy="731520"/>
          </a:xfrm>
          <a:prstGeom prst="rect">
            <a:avLst/>
          </a:prstGeom>
          <a:noFill/>
          <a:ln/>
        </p:spPr>
        <p:txBody>
          <a:bodyPr wrap="square" rtlCol="0" anchor="ctr"/>
          <a:lstStyle/>
          <a:p>
            <a:pPr indent="0" marL="0">
              <a:lnSpc>
                <a:spcPts val="1700"/>
              </a:lnSpc>
              <a:buNone/>
            </a:pPr>
            <a:r>
              <a:rPr lang="en-US" sz="1250" b="1" dirty="0">
                <a:solidFill>
                  <a:srgbClr val="2E7D62"/>
                </a:solidFill>
              </a:rPr>
              <a:t>Cancellation asks the provider first.  </a:t>
            </a:r>
            <a:pPr indent="0" marL="0">
              <a:lnSpc>
                <a:spcPts val="1700"/>
              </a:lnSpc>
              <a:buNone/>
            </a:pPr>
            <a:r>
              <a:rPr lang="en-US" sz="1250" dirty="0">
                <a:solidFill>
                  <a:srgbClr val="10172A"/>
                </a:solidFill>
              </a:rPr>
              <a:t>A payment can succeed between the moment a user decides to cancel and the moment the request arrives. If the provider reports success, the order is completed and access granted — nobody pays and walks away empty-handed. Only an absent reference cancels outright.</a:t>
            </a:r>
            <a:endParaRPr lang="en-US" sz="1250" dirty="0"/>
          </a:p>
        </p:txBody>
      </p:sp>
      <p:sp>
        <p:nvSpPr>
          <p:cNvPr id="26" name="emdash"/>
          <p:cNvSpPr/>
          <p:nvPr/>
        </p:nvSpPr>
        <p:spPr>
          <a:xfrm>
            <a:off x="566928" y="5029200"/>
            <a:ext cx="11027664" cy="1143000"/>
          </a:xfrm>
          <a:prstGeom prst="roundRect">
            <a:avLst>
              <a:gd name="adj" fmla="val 5600"/>
            </a:avLst>
          </a:prstGeom>
          <a:solidFill>
            <a:srgbClr val="FDF3E8"/>
          </a:solidFill>
          <a:ln w="12700">
            <a:solidFill>
              <a:srgbClr val="E8C9A0"/>
            </a:solidFill>
            <a:prstDash val="solid"/>
          </a:ln>
        </p:spPr>
      </p:sp>
      <p:sp>
        <p:nvSpPr>
          <p:cNvPr id="27" name="Text 25"/>
          <p:cNvSpPr txBox="1"/>
          <p:nvPr/>
        </p:nvSpPr>
        <p:spPr>
          <a:xfrm>
            <a:off x="841248" y="5138928"/>
            <a:ext cx="10479024" cy="914400"/>
          </a:xfrm>
          <a:prstGeom prst="rect">
            <a:avLst/>
          </a:prstGeom>
          <a:noFill/>
          <a:ln/>
        </p:spPr>
        <p:txBody>
          <a:bodyPr wrap="square" rtlCol="0" anchor="ctr"/>
          <a:lstStyle/>
          <a:p>
            <a:pPr indent="0" marL="0">
              <a:lnSpc>
                <a:spcPts val="1600"/>
              </a:lnSpc>
              <a:buNone/>
            </a:pPr>
            <a:r>
              <a:rPr lang="en-US" sz="1200" b="1" dirty="0">
                <a:solidFill>
                  <a:srgbClr val="C77C1E"/>
                </a:solidFill>
              </a:rPr>
              <a:t>A defect worth reporting:  </a:t>
            </a:r>
            <a:pPr indent="0" marL="0">
              <a:lnSpc>
                <a:spcPts val="1600"/>
              </a:lnSpc>
              <a:buNone/>
            </a:pPr>
            <a:r>
              <a:rPr lang="en-US" sz="1200" dirty="0">
                <a:solidFill>
                  <a:srgbClr val="10172A"/>
                </a:solidFill>
              </a:rPr>
              <a:t>the provider signs each request over the serialised body. Any character above U+007F causes rejection with “Bad signature” — pointing at the credentials, not the payload. One typographic dash in a note title broke every purchase of that note while others succeeded, so the fault looked intermittent. I diagnosed the credentials first and had to write a diagnostic endpoint to prove the deployed keys were byte-identical before looking at the payload.</a:t>
            </a:r>
            <a:endParaRPr lang="en-US" sz="1200" dirty="0"/>
          </a:p>
        </p:txBody>
      </p:sp>
      <p:sp>
        <p:nvSpPr>
          <p:cNvPr id="25" name="Slide Number Placeholder 0"/>
          <p:cNvSpPr>
            <a:spLocks noGrp="1"/>
          </p:cNvSpPr>
          <p:nvPr>
            <p:ph type="sldNum" sz="quarter" idx="4294967295"/>
          </p:nvPr>
        </p:nvSpPr>
        <p:spPr>
          <a:xfrm>
            <a:off x="11430000" y="6327648"/>
            <a:ext cx="45720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64748B"/>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66928" y="384048"/>
            <a:ext cx="11027664" cy="713232"/>
          </a:xfrm>
          <a:prstGeom prst="rect">
            <a:avLst/>
          </a:prstGeom>
          <a:noFill/>
          <a:ln/>
        </p:spPr>
        <p:txBody>
          <a:bodyPr wrap="square" rtlCol="0"/>
          <a:lstStyle/>
          <a:p>
            <a:pPr indent="0" marL="0">
              <a:buNone/>
            </a:pPr>
            <a:r>
              <a:rPr lang="en-US" sz="3200" b="1" dirty="0">
                <a:solidFill>
                  <a:srgbClr val="0F3057"/>
                </a:solidFill>
              </a:rPr>
              <a:t>Content protection, and the one measurement that moved</a:t>
            </a:r>
            <a:endParaRPr lang="en-US" sz="3200" dirty="0"/>
          </a:p>
        </p:txBody>
      </p:sp>
      <p:sp>
        <p:nvSpPr>
          <p:cNvPr id="3" name="freeflow"/>
          <p:cNvSpPr/>
          <p:nvPr/>
        </p:nvSpPr>
        <p:spPr>
          <a:xfrm>
            <a:off x="566928" y="1188720"/>
            <a:ext cx="5376672" cy="2286000"/>
          </a:xfrm>
          <a:prstGeom prst="roundRect">
            <a:avLst>
              <a:gd name="adj" fmla="val 2800"/>
            </a:avLst>
          </a:prstGeom>
          <a:solidFill>
            <a:srgbClr val="FFFFFF"/>
          </a:solidFill>
          <a:ln w="12700">
            <a:solidFill>
              <a:srgbClr val="DCE5EF"/>
            </a:solidFill>
            <a:prstDash val="solid"/>
          </a:ln>
          <a:effectLst>
            <a:outerShdw sx="100000" sy="100000" kx="0" ky="0" algn="bl" rotWithShape="0" blurRad="127000" dist="25400" dir="5400000">
              <a:srgbClr val="0F3057">
                <a:alpha val="10000"/>
              </a:srgbClr>
            </a:outerShdw>
          </a:effectLst>
        </p:spPr>
      </p:sp>
      <p:sp>
        <p:nvSpPr>
          <p:cNvPr id="4" name="Text 2"/>
          <p:cNvSpPr txBox="1"/>
          <p:nvPr/>
        </p:nvSpPr>
        <p:spPr>
          <a:xfrm>
            <a:off x="859536" y="1371600"/>
            <a:ext cx="3657600" cy="365760"/>
          </a:xfrm>
          <a:prstGeom prst="rect">
            <a:avLst/>
          </a:prstGeom>
          <a:noFill/>
          <a:ln/>
        </p:spPr>
        <p:txBody>
          <a:bodyPr wrap="square" lIns="0" tIns="0" rIns="0" bIns="0" rtlCol="0" anchor="ctr"/>
          <a:lstStyle/>
          <a:p>
            <a:pPr indent="0" marL="0">
              <a:buNone/>
            </a:pPr>
            <a:r>
              <a:rPr lang="en-US" sz="1600" b="1" dirty="0">
                <a:solidFill>
                  <a:schemeClr val="accent4"/>
                </a:solidFill>
              </a:rPr>
              <a:t>Free content — redirect</a:t>
            </a:r>
            <a:endParaRPr lang="en-US" sz="1600" dirty="0"/>
          </a:p>
        </p:txBody>
      </p:sp>
      <p:sp>
        <p:nvSpPr>
          <p:cNvPr id="5" name="Text 3"/>
          <p:cNvSpPr txBox="1"/>
          <p:nvPr/>
        </p:nvSpPr>
        <p:spPr>
          <a:xfrm>
            <a:off x="859536" y="1783080"/>
            <a:ext cx="4782312" cy="731520"/>
          </a:xfrm>
          <a:prstGeom prst="rect">
            <a:avLst/>
          </a:prstGeom>
          <a:noFill/>
          <a:ln/>
        </p:spPr>
        <p:txBody>
          <a:bodyPr wrap="square" lIns="0" tIns="0" rIns="0" bIns="0" rtlCol="0" anchor="ctr"/>
          <a:lstStyle/>
          <a:p>
            <a:pPr indent="0" marL="0">
              <a:lnSpc>
                <a:spcPts val="1700"/>
              </a:lnSpc>
              <a:buNone/>
            </a:pPr>
            <a:r>
              <a:rPr lang="en-US" sz="1250" dirty="0">
                <a:solidFill>
                  <a:schemeClr val="tx1"/>
                </a:solidFill>
              </a:rPr>
              <a:t>Not proxied. The server responds with a redirect to the CDN, so the file never passes through a constrained application process.</a:t>
            </a:r>
            <a:endParaRPr lang="en-US" sz="1250" dirty="0"/>
          </a:p>
        </p:txBody>
      </p:sp>
      <p:sp>
        <p:nvSpPr>
          <p:cNvPr id="6" name="Text 4"/>
          <p:cNvSpPr txBox="1"/>
          <p:nvPr/>
        </p:nvSpPr>
        <p:spPr>
          <a:xfrm>
            <a:off x="859536" y="2606040"/>
            <a:ext cx="4782312" cy="365760"/>
          </a:xfrm>
          <a:prstGeom prst="rect">
            <a:avLst/>
          </a:prstGeom>
          <a:noFill/>
          <a:ln/>
        </p:spPr>
        <p:txBody>
          <a:bodyPr wrap="square" lIns="0" tIns="0" rIns="0" bIns="0" rtlCol="0" anchor="ctr"/>
          <a:lstStyle/>
          <a:p>
            <a:pPr indent="0" marL="0">
              <a:buNone/>
            </a:pPr>
            <a:r>
              <a:rPr lang="en-US" sz="1200" b="1" dirty="0">
                <a:solidFill>
                  <a:schemeClr val="accent1"/>
                </a:solidFill>
                <a:latin typeface="Consolas" pitchFamily="34" charset="0"/>
                <a:ea typeface="Consolas" pitchFamily="34" charset="-122"/>
                <a:cs typeface="Consolas" pitchFamily="34" charset="-120"/>
              </a:rPr>
              <a:t>Client  →  API  →  302  →  CDN  →  Client</a:t>
            </a:r>
            <a:endParaRPr lang="en-US" sz="1200" dirty="0"/>
          </a:p>
        </p:txBody>
      </p:sp>
      <p:sp>
        <p:nvSpPr>
          <p:cNvPr id="7" name="Text 5"/>
          <p:cNvSpPr txBox="1"/>
          <p:nvPr/>
        </p:nvSpPr>
        <p:spPr>
          <a:xfrm>
            <a:off x="859536" y="2971800"/>
            <a:ext cx="4782312" cy="320040"/>
          </a:xfrm>
          <a:prstGeom prst="rect">
            <a:avLst/>
          </a:prstGeom>
          <a:noFill/>
          <a:ln/>
        </p:spPr>
        <p:txBody>
          <a:bodyPr wrap="square" lIns="0" tIns="0" rIns="0" bIns="0" rtlCol="0" anchor="ctr"/>
          <a:lstStyle/>
          <a:p>
            <a:pPr indent="0" marL="0">
              <a:buNone/>
            </a:pPr>
            <a:r>
              <a:rPr lang="en-US" sz="1150" i="1" dirty="0">
                <a:solidFill>
                  <a:schemeClr val="accent6"/>
                </a:solidFill>
              </a:rPr>
              <a:t>The application server leaves the data path entirely.</a:t>
            </a:r>
            <a:endParaRPr lang="en-US" sz="1150" dirty="0"/>
          </a:p>
        </p:txBody>
      </p:sp>
      <p:sp>
        <p:nvSpPr>
          <p:cNvPr id="8" name="paidflow"/>
          <p:cNvSpPr/>
          <p:nvPr/>
        </p:nvSpPr>
        <p:spPr>
          <a:xfrm>
            <a:off x="6217920" y="1188720"/>
            <a:ext cx="5376672" cy="2286000"/>
          </a:xfrm>
          <a:prstGeom prst="roundRect">
            <a:avLst>
              <a:gd name="adj" fmla="val 2800"/>
            </a:avLst>
          </a:prstGeom>
          <a:solidFill>
            <a:srgbClr val="FFFFFF"/>
          </a:solidFill>
          <a:ln w="12700">
            <a:solidFill>
              <a:srgbClr val="DCE5EF"/>
            </a:solidFill>
            <a:prstDash val="solid"/>
          </a:ln>
          <a:effectLst>
            <a:outerShdw sx="100000" sy="100000" kx="0" ky="0" algn="bl" rotWithShape="0" blurRad="127000" dist="25400" dir="5400000">
              <a:srgbClr val="0F3057">
                <a:alpha val="10000"/>
              </a:srgbClr>
            </a:outerShdw>
          </a:effectLst>
        </p:spPr>
      </p:sp>
      <p:sp>
        <p:nvSpPr>
          <p:cNvPr id="9" name="Text 7"/>
          <p:cNvSpPr txBox="1"/>
          <p:nvPr/>
        </p:nvSpPr>
        <p:spPr>
          <a:xfrm>
            <a:off x="6510528" y="1371600"/>
            <a:ext cx="3657600" cy="365760"/>
          </a:xfrm>
          <a:prstGeom prst="rect">
            <a:avLst/>
          </a:prstGeom>
          <a:noFill/>
          <a:ln/>
        </p:spPr>
        <p:txBody>
          <a:bodyPr wrap="square" lIns="0" tIns="0" rIns="0" bIns="0" rtlCol="0" anchor="ctr"/>
          <a:lstStyle/>
          <a:p>
            <a:pPr indent="0" marL="0">
              <a:buNone/>
            </a:pPr>
            <a:r>
              <a:rPr lang="en-US" sz="1600" b="1" dirty="0">
                <a:solidFill>
                  <a:schemeClr val="accent5"/>
                </a:solidFill>
              </a:rPr>
              <a:t>Paid content — gated</a:t>
            </a:r>
            <a:endParaRPr lang="en-US" sz="1600" dirty="0"/>
          </a:p>
        </p:txBody>
      </p:sp>
      <p:sp>
        <p:nvSpPr>
          <p:cNvPr id="10" name="Text 8"/>
          <p:cNvSpPr txBox="1"/>
          <p:nvPr/>
        </p:nvSpPr>
        <p:spPr>
          <a:xfrm>
            <a:off x="6510528" y="1783080"/>
            <a:ext cx="4782312" cy="731520"/>
          </a:xfrm>
          <a:prstGeom prst="rect">
            <a:avLst/>
          </a:prstGeom>
          <a:noFill/>
          <a:ln/>
        </p:spPr>
        <p:txBody>
          <a:bodyPr wrap="square" lIns="0" tIns="0" rIns="0" bIns="0" rtlCol="0" anchor="ctr"/>
          <a:lstStyle/>
          <a:p>
            <a:pPr indent="0" marL="0">
              <a:lnSpc>
                <a:spcPts val="1700"/>
              </a:lnSpc>
              <a:buNone/>
            </a:pPr>
            <a:r>
              <a:rPr lang="en-US" sz="1250" dirty="0">
                <a:solidFill>
                  <a:schemeClr val="tx1"/>
                </a:solidFill>
              </a:rPr>
              <a:t>Stored under authenticated delivery, unreachable from a plain URL. A short-lived signed URL is issued only after confirming an entitlement row exists.</a:t>
            </a:r>
            <a:endParaRPr lang="en-US" sz="1250" dirty="0"/>
          </a:p>
        </p:txBody>
      </p:sp>
      <p:sp>
        <p:nvSpPr>
          <p:cNvPr id="11" name="Text 9"/>
          <p:cNvSpPr txBox="1"/>
          <p:nvPr/>
        </p:nvSpPr>
        <p:spPr>
          <a:xfrm>
            <a:off x="6510528" y="2606040"/>
            <a:ext cx="4782312" cy="365760"/>
          </a:xfrm>
          <a:prstGeom prst="rect">
            <a:avLst/>
          </a:prstGeom>
          <a:noFill/>
          <a:ln/>
        </p:spPr>
        <p:txBody>
          <a:bodyPr wrap="square" lIns="0" tIns="0" rIns="0" bIns="0" rtlCol="0" anchor="ctr"/>
          <a:lstStyle/>
          <a:p>
            <a:pPr indent="0" marL="0">
              <a:buNone/>
            </a:pPr>
            <a:r>
              <a:rPr lang="en-US" sz="1200" b="1" dirty="0">
                <a:solidFill>
                  <a:schemeClr val="accent5"/>
                </a:solidFill>
                <a:latin typeface="Consolas" pitchFamily="34" charset="0"/>
                <a:ea typeface="Consolas" pitchFamily="34" charset="-122"/>
                <a:cs typeface="Consolas" pitchFamily="34" charset="-120"/>
              </a:rPr>
              <a:t>Request  →  check purchase  →  sign  →  expiring URL</a:t>
            </a:r>
            <a:endParaRPr lang="en-US" sz="1200" dirty="0"/>
          </a:p>
        </p:txBody>
      </p:sp>
      <p:sp>
        <p:nvSpPr>
          <p:cNvPr id="12" name="Text 10"/>
          <p:cNvSpPr txBox="1"/>
          <p:nvPr/>
        </p:nvSpPr>
        <p:spPr>
          <a:xfrm>
            <a:off x="6510528" y="2971800"/>
            <a:ext cx="4782312" cy="320040"/>
          </a:xfrm>
          <a:prstGeom prst="rect">
            <a:avLst/>
          </a:prstGeom>
          <a:noFill/>
          <a:ln/>
        </p:spPr>
        <p:txBody>
          <a:bodyPr wrap="square" lIns="0" tIns="0" rIns="0" bIns="0" rtlCol="0" anchor="ctr"/>
          <a:lstStyle/>
          <a:p>
            <a:pPr indent="0" marL="0">
              <a:buNone/>
            </a:pPr>
            <a:r>
              <a:rPr lang="en-US" sz="1150" i="1" dirty="0">
                <a:solidFill>
                  <a:schemeClr val="accent6"/>
                </a:solidFill>
              </a:rPr>
              <a:t>Legacy local files sit under a directory the static mount refuses outright.</a:t>
            </a:r>
            <a:endParaRPr lang="en-US" sz="1150" dirty="0"/>
          </a:p>
        </p:txBody>
      </p:sp>
      <p:graphicFrame>
        <p:nvGraphicFramePr>
          <p:cNvPr id="13" name="Chart 0" descr=""/>
          <p:cNvGraphicFramePr/>
          <p:nvPr/>
        </p:nvGraphicFramePr>
        <p:xfrm>
          <a:off x="566928" y="3703320"/>
          <a:ext cx="6062472" cy="2240280"/>
        </p:xfrm>
        <a:graphic xmlns:a="http://schemas.openxmlformats.org/drawingml/2006/main">
          <a:graphicData uri="http://schemas.openxmlformats.org/drawingml/2006/chart">
            <c:chart xmlns:c="http://schemas.openxmlformats.org/drawingml/2006/chart" r:id="rId1"/>
          </a:graphicData>
        </a:graphic>
      </p:graphicFrame>
      <p:sp>
        <p:nvSpPr>
          <p:cNvPr id="14" name="measnote"/>
          <p:cNvSpPr/>
          <p:nvPr/>
        </p:nvSpPr>
        <p:spPr>
          <a:xfrm>
            <a:off x="6766560" y="3703320"/>
            <a:ext cx="4828032" cy="2240280"/>
          </a:xfrm>
          <a:prstGeom prst="roundRect">
            <a:avLst>
              <a:gd name="adj" fmla="val 2857"/>
            </a:avLst>
          </a:prstGeom>
          <a:solidFill>
            <a:srgbClr val="0F3057"/>
          </a:solidFill>
          <a:ln w="12700">
            <a:solidFill>
              <a:srgbClr val="0F3057"/>
            </a:solidFill>
            <a:prstDash val="solid"/>
          </a:ln>
        </p:spPr>
      </p:sp>
      <p:sp>
        <p:nvSpPr>
          <p:cNvPr id="15" name="Text 12"/>
          <p:cNvSpPr txBox="1"/>
          <p:nvPr/>
        </p:nvSpPr>
        <p:spPr>
          <a:xfrm>
            <a:off x="7040880" y="3913632"/>
            <a:ext cx="4279392" cy="347472"/>
          </a:xfrm>
          <a:prstGeom prst="rect">
            <a:avLst/>
          </a:prstGeom>
          <a:noFill/>
          <a:ln/>
        </p:spPr>
        <p:txBody>
          <a:bodyPr wrap="square" lIns="0" tIns="0" rIns="0" bIns="0" rtlCol="0" anchor="ctr"/>
          <a:lstStyle/>
          <a:p>
            <a:pPr indent="0" marL="0">
              <a:buNone/>
            </a:pPr>
            <a:r>
              <a:rPr lang="en-US" sz="1500" b="1" dirty="0">
                <a:solidFill>
                  <a:srgbClr val="C77C1E"/>
                </a:solidFill>
              </a:rPr>
              <a:t>Read the 300 carefully</a:t>
            </a:r>
            <a:endParaRPr lang="en-US" sz="1500" dirty="0"/>
          </a:p>
        </p:txBody>
      </p:sp>
      <p:sp>
        <p:nvSpPr>
          <p:cNvPr id="16" name="Text 13"/>
          <p:cNvSpPr txBox="1"/>
          <p:nvPr/>
        </p:nvSpPr>
        <p:spPr>
          <a:xfrm>
            <a:off x="7040880" y="4315968"/>
            <a:ext cx="4279392" cy="1463040"/>
          </a:xfrm>
          <a:prstGeom prst="rect">
            <a:avLst/>
          </a:prstGeom>
          <a:noFill/>
          <a:ln/>
        </p:spPr>
        <p:txBody>
          <a:bodyPr wrap="square" lIns="0" tIns="0" rIns="0" bIns="0" rtlCol="0" anchor="ctr"/>
          <a:lstStyle/>
          <a:p>
            <a:pPr indent="0" marL="0">
              <a:lnSpc>
                <a:spcPts val="1600"/>
              </a:lnSpc>
              <a:buNone/>
            </a:pPr>
            <a:r>
              <a:rPr lang="en-US" sz="1200" dirty="0">
                <a:solidFill>
                  <a:srgbClr val="D5E2F0"/>
                </a:solidFill>
              </a:rPr>
              <a:t>300 seconds is not a completion time — it is the client timeout. The transfer did not finish. The honest statement is that the file was undeliverable before the change and took 31 seconds after it, on the same connection.</a:t>
            </a:r>
            <a:endParaRPr lang="en-US" sz="1200" dirty="0"/>
          </a:p>
          <a:p>
            <a:pPr indent="0" marL="0">
              <a:lnSpc>
                <a:spcPts val="1600"/>
              </a:lnSpc>
              <a:buNone/>
            </a:pPr>
            <a:endParaRPr lang="en-US" sz="1200" dirty="0"/>
          </a:p>
          <a:p>
            <a:pPr indent="0" marL="0">
              <a:lnSpc>
                <a:spcPts val="1600"/>
              </a:lnSpc>
              <a:buNone/>
            </a:pPr>
            <a:r>
              <a:rPr lang="en-US" sz="1200" dirty="0">
                <a:solidFill>
                  <a:srgbClr val="D5E2F0"/>
                </a:solidFill>
              </a:rPr>
              <a:t>The improvement comes from removing a constrained single process from the data path, not from any change to the file.</a:t>
            </a:r>
            <a:endParaRPr lang="en-US" sz="1200" dirty="0"/>
          </a:p>
        </p:txBody>
      </p:sp>
      <p:sp>
        <p:nvSpPr>
          <p:cNvPr id="25" name="Slide Number Placeholder 0"/>
          <p:cNvSpPr>
            <a:spLocks noGrp="1"/>
          </p:cNvSpPr>
          <p:nvPr>
            <p:ph type="sldNum" sz="quarter" idx="4294967295"/>
          </p:nvPr>
        </p:nvSpPr>
        <p:spPr>
          <a:xfrm>
            <a:off x="11430000" y="6327648"/>
            <a:ext cx="45720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64748B"/>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66928" y="384048"/>
            <a:ext cx="11027664" cy="713232"/>
          </a:xfrm>
          <a:prstGeom prst="rect">
            <a:avLst/>
          </a:prstGeom>
          <a:noFill/>
          <a:ln/>
        </p:spPr>
        <p:txBody>
          <a:bodyPr wrap="square" rtlCol="0"/>
          <a:lstStyle/>
          <a:p>
            <a:pPr indent="0" marL="0">
              <a:buNone/>
            </a:pPr>
            <a:r>
              <a:rPr lang="en-US" sz="3200" b="1" dirty="0">
                <a:solidFill>
                  <a:srgbClr val="0F3057"/>
                </a:solidFill>
              </a:rPr>
              <a:t>Bilingual interface, and surviving a sleeping server</a:t>
            </a:r>
            <a:endParaRPr lang="en-US" sz="3200" dirty="0"/>
          </a:p>
        </p:txBody>
      </p:sp>
      <p:sp>
        <p:nvSpPr>
          <p:cNvPr id="3" name="i18n"/>
          <p:cNvSpPr/>
          <p:nvPr/>
        </p:nvSpPr>
        <p:spPr>
          <a:xfrm>
            <a:off x="566928" y="1170432"/>
            <a:ext cx="5376672" cy="2240280"/>
          </a:xfrm>
          <a:prstGeom prst="roundRect">
            <a:avLst>
              <a:gd name="adj" fmla="val 2857"/>
            </a:avLst>
          </a:prstGeom>
          <a:solidFill>
            <a:schemeClr val="bg2"/>
          </a:solidFill>
          <a:ln w="12700">
            <a:solidFill>
              <a:srgbClr val="DCE5EF"/>
            </a:solidFill>
            <a:prstDash val="solid"/>
          </a:ln>
          <a:effectLst>
            <a:outerShdw sx="100000" sy="100000" kx="0" ky="0" algn="bl" rotWithShape="0" blurRad="127000" dist="25400" dir="5400000">
              <a:srgbClr val="0F3057">
                <a:alpha val="10000"/>
              </a:srgbClr>
            </a:outerShdw>
          </a:effectLst>
        </p:spPr>
      </p:sp>
      <p:sp>
        <p:nvSpPr>
          <p:cNvPr id="4" name="Text 2"/>
          <p:cNvSpPr txBox="1"/>
          <p:nvPr/>
        </p:nvSpPr>
        <p:spPr>
          <a:xfrm>
            <a:off x="859536" y="1353312"/>
            <a:ext cx="4782312" cy="365760"/>
          </a:xfrm>
          <a:prstGeom prst="rect">
            <a:avLst/>
          </a:prstGeom>
          <a:noFill/>
          <a:ln/>
        </p:spPr>
        <p:txBody>
          <a:bodyPr wrap="square" lIns="0" tIns="0" rIns="0" bIns="0" rtlCol="0" anchor="ctr"/>
          <a:lstStyle/>
          <a:p>
            <a:pPr indent="0" marL="0">
              <a:buNone/>
            </a:pPr>
            <a:r>
              <a:rPr lang="en-US" sz="1600" b="1" dirty="0">
                <a:solidFill>
                  <a:schemeClr val="tx2"/>
                </a:solidFill>
              </a:rPr>
              <a:t>English and French — 1,228 keys each</a:t>
            </a:r>
            <a:endParaRPr lang="en-US" sz="1600" dirty="0"/>
          </a:p>
        </p:txBody>
      </p:sp>
      <p:sp>
        <p:nvSpPr>
          <p:cNvPr id="5" name="Text 3"/>
          <p:cNvSpPr txBox="1"/>
          <p:nvPr/>
        </p:nvSpPr>
        <p:spPr>
          <a:xfrm>
            <a:off x="859536" y="1783080"/>
            <a:ext cx="4782312" cy="438912"/>
          </a:xfrm>
          <a:prstGeom prst="rect">
            <a:avLst/>
          </a:prstGeom>
          <a:noFill/>
          <a:ln/>
        </p:spPr>
        <p:txBody>
          <a:bodyPr wrap="square" lIns="0" tIns="0" rIns="0" bIns="0" rtlCol="0" anchor="ctr"/>
          <a:lstStyle/>
          <a:p>
            <a:pPr marL="342900" indent="-342900">
              <a:lnSpc>
                <a:spcPts val="1500"/>
              </a:lnSpc>
              <a:buSzPct val="100000"/>
              <a:buChar char="•"/>
            </a:pPr>
            <a:r>
              <a:rPr lang="en-US" sz="1200" dirty="0">
                <a:solidFill>
                  <a:schemeClr val="tx1"/>
                </a:solidFill>
              </a:rPr>
              <a:t>Detection order: stored choice, then browser, then document</a:t>
            </a:r>
            <a:endParaRPr lang="en-US" sz="1200" dirty="0"/>
          </a:p>
        </p:txBody>
      </p:sp>
      <p:sp>
        <p:nvSpPr>
          <p:cNvPr id="6" name="Text 4"/>
          <p:cNvSpPr txBox="1"/>
          <p:nvPr/>
        </p:nvSpPr>
        <p:spPr>
          <a:xfrm>
            <a:off x="859536" y="2258568"/>
            <a:ext cx="4782312" cy="438912"/>
          </a:xfrm>
          <a:prstGeom prst="rect">
            <a:avLst/>
          </a:prstGeom>
          <a:noFill/>
          <a:ln/>
        </p:spPr>
        <p:txBody>
          <a:bodyPr wrap="square" lIns="0" tIns="0" rIns="0" bIns="0" rtlCol="0" anchor="ctr"/>
          <a:lstStyle/>
          <a:p>
            <a:pPr marL="342900" indent="-342900">
              <a:lnSpc>
                <a:spcPts val="1500"/>
              </a:lnSpc>
              <a:buSzPct val="100000"/>
              <a:buChar char="•"/>
            </a:pPr>
            <a:r>
              <a:rPr lang="en-US" sz="1200" dirty="0">
                <a:solidFill>
                  <a:schemeClr val="tx1"/>
                </a:solidFill>
              </a:rPr>
              <a:t>fr-CM and fr-FR both resolve to fr — without this, Cameroonian browsers reporting a region would silently get English</a:t>
            </a:r>
            <a:endParaRPr lang="en-US" sz="1200" dirty="0"/>
          </a:p>
        </p:txBody>
      </p:sp>
      <p:sp>
        <p:nvSpPr>
          <p:cNvPr id="7" name="Text 5"/>
          <p:cNvSpPr txBox="1"/>
          <p:nvPr/>
        </p:nvSpPr>
        <p:spPr>
          <a:xfrm>
            <a:off x="859536" y="2734056"/>
            <a:ext cx="4782312" cy="438912"/>
          </a:xfrm>
          <a:prstGeom prst="rect">
            <a:avLst/>
          </a:prstGeom>
          <a:noFill/>
          <a:ln/>
        </p:spPr>
        <p:txBody>
          <a:bodyPr wrap="square" lIns="0" tIns="0" rIns="0" bIns="0" rtlCol="0" anchor="ctr"/>
          <a:lstStyle/>
          <a:p>
            <a:pPr marL="342900" indent="-342900">
              <a:lnSpc>
                <a:spcPts val="1500"/>
              </a:lnSpc>
              <a:buSzPct val="100000"/>
              <a:buChar char="•"/>
            </a:pPr>
            <a:r>
              <a:rPr lang="en-US" sz="1200" dirty="0">
                <a:solidFill>
                  <a:schemeClr val="tx1"/>
                </a:solidFill>
              </a:rPr>
              <a:t>Plurals use real plural categories, not an appended letter</a:t>
            </a:r>
            <a:endParaRPr lang="en-US" sz="1200" dirty="0"/>
          </a:p>
        </p:txBody>
      </p:sp>
      <p:sp>
        <p:nvSpPr>
          <p:cNvPr id="8" name="i18nrule"/>
          <p:cNvSpPr/>
          <p:nvPr/>
        </p:nvSpPr>
        <p:spPr>
          <a:xfrm>
            <a:off x="566928" y="3547872"/>
            <a:ext cx="5376672" cy="1417320"/>
          </a:xfrm>
          <a:prstGeom prst="roundRect">
            <a:avLst>
              <a:gd name="adj" fmla="val 4516"/>
            </a:avLst>
          </a:prstGeom>
          <a:solidFill>
            <a:srgbClr val="FDF3E8"/>
          </a:solidFill>
          <a:ln w="12700">
            <a:solidFill>
              <a:srgbClr val="E8C9A0"/>
            </a:solidFill>
            <a:prstDash val="solid"/>
          </a:ln>
        </p:spPr>
      </p:sp>
      <p:sp>
        <p:nvSpPr>
          <p:cNvPr id="9" name="Text 7"/>
          <p:cNvSpPr txBox="1"/>
          <p:nvPr/>
        </p:nvSpPr>
        <p:spPr>
          <a:xfrm>
            <a:off x="841248" y="3657600"/>
            <a:ext cx="4828032" cy="1188720"/>
          </a:xfrm>
          <a:prstGeom prst="rect">
            <a:avLst/>
          </a:prstGeom>
          <a:noFill/>
          <a:ln/>
        </p:spPr>
        <p:txBody>
          <a:bodyPr wrap="square" rtlCol="0" anchor="ctr"/>
          <a:lstStyle/>
          <a:p>
            <a:pPr indent="0" marL="0">
              <a:lnSpc>
                <a:spcPts val="1600"/>
              </a:lnSpc>
              <a:buNone/>
            </a:pPr>
            <a:r>
              <a:rPr lang="en-US" sz="1200" b="1" dirty="0">
                <a:solidFill>
                  <a:srgbClr val="C77C1E"/>
                </a:solidFill>
              </a:rPr>
              <a:t>The rule that mattered:  </a:t>
            </a:r>
            <a:pPr indent="0" marL="0">
              <a:lnSpc>
                <a:spcPts val="1600"/>
              </a:lnSpc>
              <a:buNone/>
            </a:pPr>
            <a:r>
              <a:rPr lang="en-US" sz="1200" dirty="0">
                <a:solidFill>
                  <a:srgbClr val="10172A"/>
                </a:solidFill>
              </a:rPr>
              <a:t>values that are stored or searched stay English; only labels translate. Translating a stored subject would mean a French tutor’s “Mathématiques” never matching an English student’s search — a silent partition of the user base, with no error.</a:t>
            </a:r>
            <a:endParaRPr lang="en-US" sz="1200" dirty="0"/>
          </a:p>
        </p:txBody>
      </p:sp>
      <p:sp>
        <p:nvSpPr>
          <p:cNvPr id="10" name="resil"/>
          <p:cNvSpPr/>
          <p:nvPr/>
        </p:nvSpPr>
        <p:spPr>
          <a:xfrm>
            <a:off x="6217920" y="1170432"/>
            <a:ext cx="5376672" cy="2240280"/>
          </a:xfrm>
          <a:prstGeom prst="roundRect">
            <a:avLst>
              <a:gd name="adj" fmla="val 2857"/>
            </a:avLst>
          </a:prstGeom>
          <a:solidFill>
            <a:schemeClr val="bg2"/>
          </a:solidFill>
          <a:ln w="12700">
            <a:solidFill>
              <a:srgbClr val="DCE5EF"/>
            </a:solidFill>
            <a:prstDash val="solid"/>
          </a:ln>
          <a:effectLst>
            <a:outerShdw sx="100000" sy="100000" kx="0" ky="0" algn="bl" rotWithShape="0" blurRad="127000" dist="25400" dir="5400000">
              <a:srgbClr val="0F3057">
                <a:alpha val="10000"/>
              </a:srgbClr>
            </a:outerShdw>
          </a:effectLst>
        </p:spPr>
      </p:sp>
      <p:sp>
        <p:nvSpPr>
          <p:cNvPr id="11" name="Text 9"/>
          <p:cNvSpPr txBox="1"/>
          <p:nvPr/>
        </p:nvSpPr>
        <p:spPr>
          <a:xfrm>
            <a:off x="6510528" y="1353312"/>
            <a:ext cx="4782312" cy="365760"/>
          </a:xfrm>
          <a:prstGeom prst="rect">
            <a:avLst/>
          </a:prstGeom>
          <a:noFill/>
          <a:ln/>
        </p:spPr>
        <p:txBody>
          <a:bodyPr wrap="square" lIns="0" tIns="0" rIns="0" bIns="0" rtlCol="0" anchor="ctr"/>
          <a:lstStyle/>
          <a:p>
            <a:pPr indent="0" marL="0">
              <a:buNone/>
            </a:pPr>
            <a:r>
              <a:rPr lang="en-US" sz="1600" b="1" dirty="0">
                <a:solidFill>
                  <a:schemeClr val="tx2"/>
                </a:solidFill>
              </a:rPr>
              <a:t>Cold starts on a free tier</a:t>
            </a:r>
            <a:endParaRPr lang="en-US" sz="1600" dirty="0"/>
          </a:p>
        </p:txBody>
      </p:sp>
      <p:sp>
        <p:nvSpPr>
          <p:cNvPr id="12" name="Text 10"/>
          <p:cNvSpPr txBox="1"/>
          <p:nvPr/>
        </p:nvSpPr>
        <p:spPr>
          <a:xfrm>
            <a:off x="6510528" y="1783080"/>
            <a:ext cx="4782312" cy="438912"/>
          </a:xfrm>
          <a:prstGeom prst="rect">
            <a:avLst/>
          </a:prstGeom>
          <a:noFill/>
          <a:ln/>
        </p:spPr>
        <p:txBody>
          <a:bodyPr wrap="square" lIns="0" tIns="0" rIns="0" bIns="0" rtlCol="0" anchor="ctr"/>
          <a:lstStyle/>
          <a:p>
            <a:pPr marL="342900" indent="-342900">
              <a:lnSpc>
                <a:spcPts val="1500"/>
              </a:lnSpc>
              <a:buSzPct val="100000"/>
              <a:buChar char="•"/>
            </a:pPr>
            <a:r>
              <a:rPr lang="en-US" sz="1200" dirty="0">
                <a:solidFill>
                  <a:schemeClr val="tx1"/>
                </a:solidFill>
              </a:rPr>
              <a:t>The server sleeps after ~15 minutes idle; the first request is usually lost while it boots</a:t>
            </a:r>
            <a:endParaRPr lang="en-US" sz="1200" dirty="0"/>
          </a:p>
        </p:txBody>
      </p:sp>
      <p:sp>
        <p:nvSpPr>
          <p:cNvPr id="13" name="Text 11"/>
          <p:cNvSpPr txBox="1"/>
          <p:nvPr/>
        </p:nvSpPr>
        <p:spPr>
          <a:xfrm>
            <a:off x="6510528" y="2258568"/>
            <a:ext cx="4782312" cy="438912"/>
          </a:xfrm>
          <a:prstGeom prst="rect">
            <a:avLst/>
          </a:prstGeom>
          <a:noFill/>
          <a:ln/>
        </p:spPr>
        <p:txBody>
          <a:bodyPr wrap="square" lIns="0" tIns="0" rIns="0" bIns="0" rtlCol="0" anchor="ctr"/>
          <a:lstStyle/>
          <a:p>
            <a:pPr marL="342900" indent="-342900">
              <a:lnSpc>
                <a:spcPts val="1500"/>
              </a:lnSpc>
              <a:buSzPct val="100000"/>
              <a:buChar char="•"/>
            </a:pPr>
            <a:r>
              <a:rPr lang="en-US" sz="1200" dirty="0">
                <a:solidFill>
                  <a:schemeClr val="tx1"/>
                </a:solidFill>
              </a:rPr>
              <a:t>Only requests that got no response at all are retried — twice, 4 seconds apart</a:t>
            </a:r>
            <a:endParaRPr lang="en-US" sz="1200" dirty="0"/>
          </a:p>
        </p:txBody>
      </p:sp>
      <p:sp>
        <p:nvSpPr>
          <p:cNvPr id="14" name="Text 12"/>
          <p:cNvSpPr txBox="1"/>
          <p:nvPr/>
        </p:nvSpPr>
        <p:spPr>
          <a:xfrm>
            <a:off x="6510528" y="2734056"/>
            <a:ext cx="4782312" cy="438912"/>
          </a:xfrm>
          <a:prstGeom prst="rect">
            <a:avLst/>
          </a:prstGeom>
          <a:noFill/>
          <a:ln/>
        </p:spPr>
        <p:txBody>
          <a:bodyPr wrap="square" lIns="0" tIns="0" rIns="0" bIns="0" rtlCol="0" anchor="ctr"/>
          <a:lstStyle/>
          <a:p>
            <a:pPr marL="342900" indent="-342900">
              <a:lnSpc>
                <a:spcPts val="1500"/>
              </a:lnSpc>
              <a:buSzPct val="100000"/>
              <a:buChar char="•"/>
            </a:pPr>
            <a:r>
              <a:rPr lang="en-US" sz="1200" dirty="0">
                <a:solidFill>
                  <a:schemeClr val="tx1"/>
                </a:solidFill>
              </a:rPr>
              <a:t>Anything the server answered, including a 500, is never retried: repeating a POST it did process could duplicate the effect</a:t>
            </a:r>
            <a:endParaRPr lang="en-US" sz="1200" dirty="0"/>
          </a:p>
        </p:txBody>
      </p:sp>
      <p:sp>
        <p:nvSpPr>
          <p:cNvPr id="15" name="pwa"/>
          <p:cNvSpPr/>
          <p:nvPr/>
        </p:nvSpPr>
        <p:spPr>
          <a:xfrm>
            <a:off x="6217920" y="3547872"/>
            <a:ext cx="5376672" cy="1417320"/>
          </a:xfrm>
          <a:prstGeom prst="roundRect">
            <a:avLst>
              <a:gd name="adj" fmla="val 4516"/>
            </a:avLst>
          </a:prstGeom>
          <a:solidFill>
            <a:srgbClr val="EAF3F0"/>
          </a:solidFill>
          <a:ln w="12700">
            <a:solidFill>
              <a:srgbClr val="B8D8CE"/>
            </a:solidFill>
            <a:prstDash val="solid"/>
          </a:ln>
        </p:spPr>
      </p:sp>
      <p:sp>
        <p:nvSpPr>
          <p:cNvPr id="16" name="Text 14"/>
          <p:cNvSpPr txBox="1"/>
          <p:nvPr/>
        </p:nvSpPr>
        <p:spPr>
          <a:xfrm>
            <a:off x="6492240" y="3657600"/>
            <a:ext cx="4828032" cy="1188720"/>
          </a:xfrm>
          <a:prstGeom prst="rect">
            <a:avLst/>
          </a:prstGeom>
          <a:noFill/>
          <a:ln/>
        </p:spPr>
        <p:txBody>
          <a:bodyPr wrap="square" rtlCol="0" anchor="ctr"/>
          <a:lstStyle/>
          <a:p>
            <a:pPr indent="0" marL="0">
              <a:lnSpc>
                <a:spcPts val="1600"/>
              </a:lnSpc>
              <a:buNone/>
            </a:pPr>
            <a:r>
              <a:rPr lang="en-US" sz="1200" b="1" dirty="0">
                <a:solidFill>
                  <a:srgbClr val="2E7D62"/>
                </a:solidFill>
              </a:rPr>
              <a:t>Caching is per resource class, not uniform.  </a:t>
            </a:r>
            <a:pPr indent="0" marL="0">
              <a:lnSpc>
                <a:spcPts val="1600"/>
              </a:lnSpc>
              <a:buNone/>
            </a:pPr>
            <a:r>
              <a:rPr lang="en-US" sz="1200" dirty="0">
                <a:solidFill>
                  <a:srgbClr val="10172A"/>
                </a:solidFill>
              </a:rPr>
              <a:t>Listings are readable offline. Authentication, payments, messages and tutor rates are never cached — serving any of those stale would be actively harmful, not merely unhelpful.</a:t>
            </a:r>
            <a:endParaRPr lang="en-US" sz="1200" dirty="0"/>
          </a:p>
        </p:txBody>
      </p:sp>
      <p:sp>
        <p:nvSpPr>
          <p:cNvPr id="17" name="Text 15"/>
          <p:cNvSpPr txBox="1"/>
          <p:nvPr/>
        </p:nvSpPr>
        <p:spPr>
          <a:xfrm>
            <a:off x="566928" y="5166360"/>
            <a:ext cx="11027664" cy="640080"/>
          </a:xfrm>
          <a:prstGeom prst="rect">
            <a:avLst/>
          </a:prstGeom>
          <a:noFill/>
          <a:ln/>
        </p:spPr>
        <p:txBody>
          <a:bodyPr wrap="square" rtlCol="0" anchor="ctr"/>
          <a:lstStyle/>
          <a:p>
            <a:pPr indent="0" marL="0">
              <a:lnSpc>
                <a:spcPts val="1700"/>
              </a:lnSpc>
              <a:buNone/>
            </a:pPr>
            <a:r>
              <a:rPr lang="en-US" sz="1250" i="1" dirty="0">
                <a:solidFill>
                  <a:schemeClr val="accent6"/>
                </a:solidFill>
              </a:rPr>
              <a:t>A checker runs on every build: it fails on a key missing from either language, mismatched placeholders, an incomplete plural family, or a key used in code but never defined. It found two pages I believed were finished but which still rendered English.</a:t>
            </a:r>
            <a:endParaRPr lang="en-US" sz="1250" dirty="0"/>
          </a:p>
        </p:txBody>
      </p:sp>
      <p:sp>
        <p:nvSpPr>
          <p:cNvPr id="25" name="Slide Number Placeholder 0"/>
          <p:cNvSpPr>
            <a:spLocks noGrp="1"/>
          </p:cNvSpPr>
          <p:nvPr>
            <p:ph type="sldNum" sz="quarter" idx="4294967295"/>
          </p:nvPr>
        </p:nvSpPr>
        <p:spPr>
          <a:xfrm>
            <a:off x="11430000" y="6327648"/>
            <a:ext cx="45720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64748B"/>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566928" y="2377440"/>
            <a:ext cx="1828800" cy="822960"/>
          </a:xfrm>
          <a:prstGeom prst="rect">
            <a:avLst/>
          </a:prstGeom>
          <a:noFill/>
          <a:ln/>
        </p:spPr>
        <p:txBody>
          <a:bodyPr wrap="square" rtlCol="0"/>
          <a:lstStyle/>
          <a:p>
            <a:pPr indent="0" marL="0">
              <a:buNone/>
            </a:pPr>
            <a:r>
              <a:rPr lang="en-US" sz="5800" b="1" dirty="0">
                <a:solidFill>
                  <a:srgbClr val="C77C1E"/>
                </a:solidFill>
              </a:rPr>
              <a:t>03</a:t>
            </a:r>
            <a:endParaRPr lang="en-US" sz="5800" dirty="0"/>
          </a:p>
        </p:txBody>
      </p:sp>
      <p:sp>
        <p:nvSpPr>
          <p:cNvPr id="3" name="Text 0"/>
          <p:cNvSpPr/>
          <p:nvPr>
            <p:ph idx="101" type="body" hasCustomPrompt="1"/>
          </p:nvPr>
        </p:nvSpPr>
        <p:spPr>
          <a:xfrm>
            <a:off x="566928" y="3200400"/>
            <a:ext cx="11027664" cy="868680"/>
          </a:xfrm>
          <a:prstGeom prst="rect">
            <a:avLst/>
          </a:prstGeom>
          <a:noFill/>
          <a:ln/>
        </p:spPr>
        <p:txBody>
          <a:bodyPr wrap="square" rtlCol="0"/>
          <a:lstStyle/>
          <a:p>
            <a:pPr indent="0" marL="0">
              <a:buNone/>
            </a:pPr>
            <a:r>
              <a:rPr lang="en-US" sz="3800" b="1" dirty="0">
                <a:solidFill>
                  <a:srgbClr val="FFFFFF"/>
                </a:solidFill>
              </a:rPr>
              <a:t>Testing and results</a:t>
            </a:r>
            <a:endParaRPr lang="en-US" sz="3800" dirty="0"/>
          </a:p>
        </p:txBody>
      </p:sp>
      <p:sp>
        <p:nvSpPr>
          <p:cNvPr id="4" name="Text 0"/>
          <p:cNvSpPr/>
          <p:nvPr>
            <p:ph idx="102" type="body" hasCustomPrompt="1"/>
          </p:nvPr>
        </p:nvSpPr>
        <p:spPr>
          <a:xfrm>
            <a:off x="566928" y="4069080"/>
            <a:ext cx="8686800" cy="731520"/>
          </a:xfrm>
          <a:prstGeom prst="rect">
            <a:avLst/>
          </a:prstGeom>
          <a:noFill/>
          <a:ln/>
        </p:spPr>
        <p:txBody>
          <a:bodyPr wrap="square" rtlCol="0"/>
          <a:lstStyle/>
          <a:p>
            <a:pPr indent="0" marL="0">
              <a:buNone/>
            </a:pPr>
            <a:r>
              <a:rPr lang="en-US" sz="1500" dirty="0">
                <a:solidFill>
                  <a:srgbClr val="B9CCE4"/>
                </a:solidFill>
              </a:rPr>
              <a:t>What I verified, how I verified it, and what it did not cover</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566928" y="384048"/>
            <a:ext cx="11027664" cy="713232"/>
          </a:xfrm>
          <a:prstGeom prst="rect">
            <a:avLst/>
          </a:prstGeom>
          <a:noFill/>
          <a:ln/>
        </p:spPr>
        <p:txBody>
          <a:bodyPr wrap="square" rtlCol="0"/>
          <a:lstStyle/>
          <a:p>
            <a:pPr indent="0" marL="0">
              <a:buNone/>
            </a:pPr>
            <a:r>
              <a:rPr lang="en-US" sz="3200" b="1" dirty="0">
                <a:solidFill>
                  <a:srgbClr val="0F3057"/>
                </a:solidFill>
              </a:rPr>
              <a:t>Verification — four mechanisms, and one that is missing</a:t>
            </a:r>
            <a:endParaRPr lang="en-US" sz="3200" dirty="0"/>
          </a:p>
        </p:txBody>
      </p:sp>
      <p:sp>
        <p:nvSpPr>
          <p:cNvPr id="3" name="mech-0"/>
          <p:cNvSpPr/>
          <p:nvPr/>
        </p:nvSpPr>
        <p:spPr>
          <a:xfrm>
            <a:off x="566928" y="1188720"/>
            <a:ext cx="2683764" cy="1828800"/>
          </a:xfrm>
          <a:prstGeom prst="roundRect">
            <a:avLst>
              <a:gd name="adj" fmla="val 3500"/>
            </a:avLst>
          </a:prstGeom>
          <a:solidFill>
            <a:schemeClr val="bg2"/>
          </a:solidFill>
          <a:ln w="12700">
            <a:solidFill>
              <a:srgbClr val="DCE5EF"/>
            </a:solidFill>
            <a:prstDash val="solid"/>
          </a:ln>
          <a:effectLst>
            <a:outerShdw sx="100000" sy="100000" kx="0" ky="0" algn="bl" rotWithShape="0" blurRad="127000" dist="25400" dir="5400000">
              <a:srgbClr val="0F3057">
                <a:alpha val="10000"/>
              </a:srgbClr>
            </a:outerShdw>
          </a:effectLst>
        </p:spPr>
      </p:sp>
      <p:sp>
        <p:nvSpPr>
          <p:cNvPr id="4" name="disc-1"/>
          <p:cNvSpPr/>
          <p:nvPr/>
        </p:nvSpPr>
        <p:spPr>
          <a:xfrm>
            <a:off x="804672" y="1408176"/>
            <a:ext cx="384048" cy="384048"/>
          </a:xfrm>
          <a:prstGeom prst="ellipse">
            <a:avLst/>
          </a:prstGeom>
          <a:solidFill>
            <a:schemeClr val="accent1"/>
          </a:solidFill>
          <a:ln w="12700">
            <a:solidFill>
              <a:schemeClr val="accent1"/>
            </a:solidFill>
            <a:prstDash val="solid"/>
          </a:ln>
        </p:spPr>
      </p:sp>
      <p:sp>
        <p:nvSpPr>
          <p:cNvPr id="5" name="Text 3"/>
          <p:cNvSpPr txBox="1"/>
          <p:nvPr/>
        </p:nvSpPr>
        <p:spPr>
          <a:xfrm>
            <a:off x="804672" y="14081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6" name="Text 4"/>
          <p:cNvSpPr txBox="1"/>
          <p:nvPr/>
        </p:nvSpPr>
        <p:spPr>
          <a:xfrm>
            <a:off x="804672" y="1883664"/>
            <a:ext cx="2208276" cy="347472"/>
          </a:xfrm>
          <a:prstGeom prst="rect">
            <a:avLst/>
          </a:prstGeom>
          <a:noFill/>
          <a:ln/>
        </p:spPr>
        <p:txBody>
          <a:bodyPr wrap="square" lIns="0" tIns="0" rIns="0" bIns="0" rtlCol="0" anchor="ctr"/>
          <a:lstStyle/>
          <a:p>
            <a:pPr indent="0" marL="0">
              <a:buNone/>
            </a:pPr>
            <a:r>
              <a:rPr lang="en-US" sz="1450" b="1" dirty="0">
                <a:solidFill>
                  <a:schemeClr val="tx2"/>
                </a:solidFill>
              </a:rPr>
              <a:t>Static analysis</a:t>
            </a:r>
            <a:endParaRPr lang="en-US" sz="1450" dirty="0"/>
          </a:p>
        </p:txBody>
      </p:sp>
      <p:sp>
        <p:nvSpPr>
          <p:cNvPr id="7" name="Text 5"/>
          <p:cNvSpPr txBox="1"/>
          <p:nvPr/>
        </p:nvSpPr>
        <p:spPr>
          <a:xfrm>
            <a:off x="804672" y="2249424"/>
            <a:ext cx="2208276" cy="685800"/>
          </a:xfrm>
          <a:prstGeom prst="rect">
            <a:avLst/>
          </a:prstGeom>
          <a:noFill/>
          <a:ln/>
        </p:spPr>
        <p:txBody>
          <a:bodyPr wrap="square" lIns="0" tIns="0" rIns="0" bIns="0" rtlCol="0" anchor="ctr"/>
          <a:lstStyle/>
          <a:p>
            <a:pPr indent="0" marL="0">
              <a:lnSpc>
                <a:spcPts val="1500"/>
              </a:lnSpc>
              <a:buNone/>
            </a:pPr>
            <a:r>
              <a:rPr lang="en-US" sz="1150" dirty="0">
                <a:solidFill>
                  <a:schemeClr val="accent6"/>
                </a:solidFill>
              </a:rPr>
              <a:t>ESLint with React Hooks rules. Baseline of 42 errors held constant — no change may increase it.</a:t>
            </a:r>
            <a:endParaRPr lang="en-US" sz="1150" dirty="0"/>
          </a:p>
        </p:txBody>
      </p:sp>
      <p:sp>
        <p:nvSpPr>
          <p:cNvPr id="8" name="mech-1"/>
          <p:cNvSpPr/>
          <p:nvPr/>
        </p:nvSpPr>
        <p:spPr>
          <a:xfrm>
            <a:off x="3396996" y="1188720"/>
            <a:ext cx="2683764" cy="1828800"/>
          </a:xfrm>
          <a:prstGeom prst="roundRect">
            <a:avLst>
              <a:gd name="adj" fmla="val 3500"/>
            </a:avLst>
          </a:prstGeom>
          <a:solidFill>
            <a:schemeClr val="bg2"/>
          </a:solidFill>
          <a:ln w="12700">
            <a:solidFill>
              <a:srgbClr val="DCE5EF"/>
            </a:solidFill>
            <a:prstDash val="solid"/>
          </a:ln>
          <a:effectLst>
            <a:outerShdw sx="100000" sy="100000" kx="0" ky="0" algn="bl" rotWithShape="0" blurRad="127000" dist="25400" dir="5400000">
              <a:srgbClr val="0F3057">
                <a:alpha val="10000"/>
              </a:srgbClr>
            </a:outerShdw>
          </a:effectLst>
        </p:spPr>
      </p:sp>
      <p:sp>
        <p:nvSpPr>
          <p:cNvPr id="9" name="disc-2"/>
          <p:cNvSpPr/>
          <p:nvPr/>
        </p:nvSpPr>
        <p:spPr>
          <a:xfrm>
            <a:off x="3634740" y="1408176"/>
            <a:ext cx="384048" cy="384048"/>
          </a:xfrm>
          <a:prstGeom prst="ellipse">
            <a:avLst/>
          </a:prstGeom>
          <a:solidFill>
            <a:schemeClr val="accent1"/>
          </a:solidFill>
          <a:ln w="12700">
            <a:solidFill>
              <a:schemeClr val="accent1"/>
            </a:solidFill>
            <a:prstDash val="solid"/>
          </a:ln>
        </p:spPr>
      </p:sp>
      <p:sp>
        <p:nvSpPr>
          <p:cNvPr id="10" name="Text 8"/>
          <p:cNvSpPr txBox="1"/>
          <p:nvPr/>
        </p:nvSpPr>
        <p:spPr>
          <a:xfrm>
            <a:off x="3634740" y="14081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9"/>
          <p:cNvSpPr txBox="1"/>
          <p:nvPr/>
        </p:nvSpPr>
        <p:spPr>
          <a:xfrm>
            <a:off x="3634740" y="1883664"/>
            <a:ext cx="2208276" cy="347472"/>
          </a:xfrm>
          <a:prstGeom prst="rect">
            <a:avLst/>
          </a:prstGeom>
          <a:noFill/>
          <a:ln/>
        </p:spPr>
        <p:txBody>
          <a:bodyPr wrap="square" lIns="0" tIns="0" rIns="0" bIns="0" rtlCol="0" anchor="ctr"/>
          <a:lstStyle/>
          <a:p>
            <a:pPr indent="0" marL="0">
              <a:buNone/>
            </a:pPr>
            <a:r>
              <a:rPr lang="en-US" sz="1450" b="1" dirty="0">
                <a:solidFill>
                  <a:schemeClr val="tx2"/>
                </a:solidFill>
              </a:rPr>
              <a:t>Production build</a:t>
            </a:r>
            <a:endParaRPr lang="en-US" sz="1450" dirty="0"/>
          </a:p>
        </p:txBody>
      </p:sp>
      <p:sp>
        <p:nvSpPr>
          <p:cNvPr id="12" name="Text 10"/>
          <p:cNvSpPr txBox="1"/>
          <p:nvPr/>
        </p:nvSpPr>
        <p:spPr>
          <a:xfrm>
            <a:off x="3634740" y="2249424"/>
            <a:ext cx="2208276" cy="685800"/>
          </a:xfrm>
          <a:prstGeom prst="rect">
            <a:avLst/>
          </a:prstGeom>
          <a:noFill/>
          <a:ln/>
        </p:spPr>
        <p:txBody>
          <a:bodyPr wrap="square" lIns="0" tIns="0" rIns="0" bIns="0" rtlCol="0" anchor="ctr"/>
          <a:lstStyle/>
          <a:p>
            <a:pPr indent="0" marL="0">
              <a:lnSpc>
                <a:spcPts val="1500"/>
              </a:lnSpc>
              <a:buNone/>
            </a:pPr>
            <a:r>
              <a:rPr lang="en-US" sz="1150" dirty="0">
                <a:solidFill>
                  <a:schemeClr val="accent6"/>
                </a:solidFill>
              </a:rPr>
              <a:t>Treated as the real gate. A mistyped design token resolves silently in development and fails the build.</a:t>
            </a:r>
            <a:endParaRPr lang="en-US" sz="1150" dirty="0"/>
          </a:p>
        </p:txBody>
      </p:sp>
      <p:sp>
        <p:nvSpPr>
          <p:cNvPr id="13" name="mech-2"/>
          <p:cNvSpPr/>
          <p:nvPr/>
        </p:nvSpPr>
        <p:spPr>
          <a:xfrm>
            <a:off x="6227064" y="1188720"/>
            <a:ext cx="2683764" cy="1828800"/>
          </a:xfrm>
          <a:prstGeom prst="roundRect">
            <a:avLst>
              <a:gd name="adj" fmla="val 3500"/>
            </a:avLst>
          </a:prstGeom>
          <a:solidFill>
            <a:schemeClr val="bg2"/>
          </a:solidFill>
          <a:ln w="12700">
            <a:solidFill>
              <a:srgbClr val="DCE5EF"/>
            </a:solidFill>
            <a:prstDash val="solid"/>
          </a:ln>
          <a:effectLst>
            <a:outerShdw sx="100000" sy="100000" kx="0" ky="0" algn="bl" rotWithShape="0" blurRad="127000" dist="25400" dir="5400000">
              <a:srgbClr val="0F3057">
                <a:alpha val="10000"/>
              </a:srgbClr>
            </a:outerShdw>
          </a:effectLst>
        </p:spPr>
      </p:sp>
      <p:sp>
        <p:nvSpPr>
          <p:cNvPr id="14" name="disc-3"/>
          <p:cNvSpPr/>
          <p:nvPr/>
        </p:nvSpPr>
        <p:spPr>
          <a:xfrm>
            <a:off x="6464808" y="1408176"/>
            <a:ext cx="384048" cy="384048"/>
          </a:xfrm>
          <a:prstGeom prst="ellipse">
            <a:avLst/>
          </a:prstGeom>
          <a:solidFill>
            <a:schemeClr val="accent1"/>
          </a:solidFill>
          <a:ln w="12700">
            <a:solidFill>
              <a:schemeClr val="accent1"/>
            </a:solidFill>
            <a:prstDash val="solid"/>
          </a:ln>
        </p:spPr>
      </p:sp>
      <p:sp>
        <p:nvSpPr>
          <p:cNvPr id="15" name="Text 13"/>
          <p:cNvSpPr txBox="1"/>
          <p:nvPr/>
        </p:nvSpPr>
        <p:spPr>
          <a:xfrm>
            <a:off x="6464808" y="14081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6" name="Text 14"/>
          <p:cNvSpPr txBox="1"/>
          <p:nvPr/>
        </p:nvSpPr>
        <p:spPr>
          <a:xfrm>
            <a:off x="6464808" y="1883664"/>
            <a:ext cx="2208276" cy="347472"/>
          </a:xfrm>
          <a:prstGeom prst="rect">
            <a:avLst/>
          </a:prstGeom>
          <a:noFill/>
          <a:ln/>
        </p:spPr>
        <p:txBody>
          <a:bodyPr wrap="square" lIns="0" tIns="0" rIns="0" bIns="0" rtlCol="0" anchor="ctr"/>
          <a:lstStyle/>
          <a:p>
            <a:pPr indent="0" marL="0">
              <a:buNone/>
            </a:pPr>
            <a:r>
              <a:rPr lang="en-US" sz="1450" b="1" dirty="0">
                <a:solidFill>
                  <a:schemeClr val="tx2"/>
                </a:solidFill>
              </a:rPr>
              <a:t>Locale checker</a:t>
            </a:r>
            <a:endParaRPr lang="en-US" sz="1450" dirty="0"/>
          </a:p>
        </p:txBody>
      </p:sp>
      <p:sp>
        <p:nvSpPr>
          <p:cNvPr id="17" name="Text 15"/>
          <p:cNvSpPr txBox="1"/>
          <p:nvPr/>
        </p:nvSpPr>
        <p:spPr>
          <a:xfrm>
            <a:off x="6464808" y="2249424"/>
            <a:ext cx="2208276" cy="685800"/>
          </a:xfrm>
          <a:prstGeom prst="rect">
            <a:avLst/>
          </a:prstGeom>
          <a:noFill/>
          <a:ln/>
        </p:spPr>
        <p:txBody>
          <a:bodyPr wrap="square" lIns="0" tIns="0" rIns="0" bIns="0" rtlCol="0" anchor="ctr"/>
          <a:lstStyle/>
          <a:p>
            <a:pPr indent="0" marL="0">
              <a:lnSpc>
                <a:spcPts val="1500"/>
              </a:lnSpc>
              <a:buNone/>
            </a:pPr>
            <a:r>
              <a:rPr lang="en-US" sz="1150" dirty="0">
                <a:solidFill>
                  <a:schemeClr val="accent6"/>
                </a:solidFill>
              </a:rPr>
              <a:t>Fails on missing keys, mismatched placeholders, incomplete plurals, undefined references.</a:t>
            </a:r>
            <a:endParaRPr lang="en-US" sz="1150" dirty="0"/>
          </a:p>
        </p:txBody>
      </p:sp>
      <p:sp>
        <p:nvSpPr>
          <p:cNvPr id="18" name="mech-3"/>
          <p:cNvSpPr/>
          <p:nvPr/>
        </p:nvSpPr>
        <p:spPr>
          <a:xfrm>
            <a:off x="9057132" y="1188720"/>
            <a:ext cx="2683764" cy="1828800"/>
          </a:xfrm>
          <a:prstGeom prst="roundRect">
            <a:avLst>
              <a:gd name="adj" fmla="val 3500"/>
            </a:avLst>
          </a:prstGeom>
          <a:solidFill>
            <a:schemeClr val="bg2"/>
          </a:solidFill>
          <a:ln w="12700">
            <a:solidFill>
              <a:srgbClr val="DCE5EF"/>
            </a:solidFill>
            <a:prstDash val="solid"/>
          </a:ln>
          <a:effectLst>
            <a:outerShdw sx="100000" sy="100000" kx="0" ky="0" algn="bl" rotWithShape="0" blurRad="127000" dist="25400" dir="5400000">
              <a:srgbClr val="0F3057">
                <a:alpha val="10000"/>
              </a:srgbClr>
            </a:outerShdw>
          </a:effectLst>
        </p:spPr>
      </p:sp>
      <p:sp>
        <p:nvSpPr>
          <p:cNvPr id="19" name="disc-4"/>
          <p:cNvSpPr/>
          <p:nvPr/>
        </p:nvSpPr>
        <p:spPr>
          <a:xfrm>
            <a:off x="9294876" y="1408176"/>
            <a:ext cx="384048" cy="384048"/>
          </a:xfrm>
          <a:prstGeom prst="ellipse">
            <a:avLst/>
          </a:prstGeom>
          <a:solidFill>
            <a:schemeClr val="accent1"/>
          </a:solidFill>
          <a:ln w="12700">
            <a:solidFill>
              <a:schemeClr val="accent1"/>
            </a:solidFill>
            <a:prstDash val="solid"/>
          </a:ln>
        </p:spPr>
      </p:sp>
      <p:sp>
        <p:nvSpPr>
          <p:cNvPr id="20" name="Text 18"/>
          <p:cNvSpPr txBox="1"/>
          <p:nvPr/>
        </p:nvSpPr>
        <p:spPr>
          <a:xfrm>
            <a:off x="9294876" y="140817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1" name="Text 19"/>
          <p:cNvSpPr txBox="1"/>
          <p:nvPr/>
        </p:nvSpPr>
        <p:spPr>
          <a:xfrm>
            <a:off x="9294876" y="1883664"/>
            <a:ext cx="2208276" cy="347472"/>
          </a:xfrm>
          <a:prstGeom prst="rect">
            <a:avLst/>
          </a:prstGeom>
          <a:noFill/>
          <a:ln/>
        </p:spPr>
        <p:txBody>
          <a:bodyPr wrap="square" lIns="0" tIns="0" rIns="0" bIns="0" rtlCol="0" anchor="ctr"/>
          <a:lstStyle/>
          <a:p>
            <a:pPr indent="0" marL="0">
              <a:buNone/>
            </a:pPr>
            <a:r>
              <a:rPr lang="en-US" sz="1450" b="1" dirty="0">
                <a:solidFill>
                  <a:schemeClr val="tx2"/>
                </a:solidFill>
              </a:rPr>
              <a:t>Manual test cases</a:t>
            </a:r>
            <a:endParaRPr lang="en-US" sz="1450" dirty="0"/>
          </a:p>
        </p:txBody>
      </p:sp>
      <p:sp>
        <p:nvSpPr>
          <p:cNvPr id="22" name="Text 20"/>
          <p:cNvSpPr txBox="1"/>
          <p:nvPr/>
        </p:nvSpPr>
        <p:spPr>
          <a:xfrm>
            <a:off x="9294876" y="2249424"/>
            <a:ext cx="2208276" cy="685800"/>
          </a:xfrm>
          <a:prstGeom prst="rect">
            <a:avLst/>
          </a:prstGeom>
          <a:noFill/>
          <a:ln/>
        </p:spPr>
        <p:txBody>
          <a:bodyPr wrap="square" lIns="0" tIns="0" rIns="0" bIns="0" rtlCol="0" anchor="ctr"/>
          <a:lstStyle/>
          <a:p>
            <a:pPr indent="0" marL="0">
              <a:lnSpc>
                <a:spcPts val="1500"/>
              </a:lnSpc>
              <a:buNone/>
            </a:pPr>
            <a:r>
              <a:rPr lang="en-US" sz="1150" dirty="0">
                <a:solidFill>
                  <a:schemeClr val="accent6"/>
                </a:solidFill>
              </a:rPr>
              <a:t>20 structured cases against the deployed system, each exercised in both languages and both themes.</a:t>
            </a:r>
            <a:endParaRPr lang="en-US" sz="1150" dirty="0"/>
          </a:p>
        </p:txBody>
      </p:sp>
      <p:sp>
        <p:nvSpPr>
          <p:cNvPr id="23" name="notests"/>
          <p:cNvSpPr/>
          <p:nvPr/>
        </p:nvSpPr>
        <p:spPr>
          <a:xfrm>
            <a:off x="566928" y="3200400"/>
            <a:ext cx="11027664" cy="1234440"/>
          </a:xfrm>
          <a:prstGeom prst="roundRect">
            <a:avLst>
              <a:gd name="adj" fmla="val 5185"/>
            </a:avLst>
          </a:prstGeom>
          <a:solidFill>
            <a:srgbClr val="FBEDED"/>
          </a:solidFill>
          <a:ln w="12700">
            <a:solidFill>
              <a:srgbClr val="E0B4B4"/>
            </a:solidFill>
            <a:prstDash val="solid"/>
          </a:ln>
        </p:spPr>
      </p:sp>
      <p:sp>
        <p:nvSpPr>
          <p:cNvPr id="24" name="Text 22"/>
          <p:cNvSpPr txBox="1"/>
          <p:nvPr/>
        </p:nvSpPr>
        <p:spPr>
          <a:xfrm>
            <a:off x="859536" y="3328416"/>
            <a:ext cx="10387584" cy="365760"/>
          </a:xfrm>
          <a:prstGeom prst="rect">
            <a:avLst/>
          </a:prstGeom>
          <a:noFill/>
          <a:ln/>
        </p:spPr>
        <p:txBody>
          <a:bodyPr wrap="square" lIns="0" tIns="0" rIns="0" bIns="0" rtlCol="0" anchor="ctr"/>
          <a:lstStyle/>
          <a:p>
            <a:pPr indent="0" marL="0">
              <a:buNone/>
            </a:pPr>
            <a:r>
              <a:rPr lang="en-US" sz="1600" b="1" dirty="0">
                <a:solidFill>
                  <a:srgbClr val="A63A3A"/>
                </a:solidFill>
              </a:rPr>
              <a:t>There is no automated regression test suite</a:t>
            </a:r>
            <a:endParaRPr lang="en-US" sz="1600" dirty="0"/>
          </a:p>
        </p:txBody>
      </p:sp>
      <p:sp>
        <p:nvSpPr>
          <p:cNvPr id="25" name="Text 23"/>
          <p:cNvSpPr txBox="1"/>
          <p:nvPr/>
        </p:nvSpPr>
        <p:spPr>
          <a:xfrm>
            <a:off x="859536" y="3712464"/>
            <a:ext cx="10387584" cy="640080"/>
          </a:xfrm>
          <a:prstGeom prst="rect">
            <a:avLst/>
          </a:prstGeom>
          <a:noFill/>
          <a:ln/>
        </p:spPr>
        <p:txBody>
          <a:bodyPr wrap="square" lIns="0" tIns="0" rIns="0" bIns="0" rtlCol="0" anchor="ctr"/>
          <a:lstStyle/>
          <a:p>
            <a:pPr indent="0" marL="0">
              <a:lnSpc>
                <a:spcPts val="1700"/>
              </a:lnSpc>
              <a:buNone/>
            </a:pPr>
            <a:r>
              <a:rPr lang="en-US" sz="1250" dirty="0">
                <a:solidFill>
                  <a:schemeClr val="tx1"/>
                </a:solidFill>
              </a:rPr>
              <a:t>No unit, integration or end-to-end framework is configured; no test runner appears in either package manifest. Behaviour was verified by ad-hoc scripts written for a specific change and by manual execution of test cases. The scripts were not retained as a maintained suite. This is the single most significant deficiency of the work, and it is stated as such in the report rather than left for you to find.</a:t>
            </a:r>
            <a:endParaRPr lang="en-US" sz="1250" dirty="0"/>
          </a:p>
        </p:txBody>
      </p:sp>
      <p:sp>
        <p:nvSpPr>
          <p:cNvPr id="26" name="Text 24"/>
          <p:cNvSpPr txBox="1"/>
          <p:nvPr/>
        </p:nvSpPr>
        <p:spPr>
          <a:xfrm>
            <a:off x="566928" y="4617720"/>
            <a:ext cx="11027664" cy="320040"/>
          </a:xfrm>
          <a:prstGeom prst="rect">
            <a:avLst/>
          </a:prstGeom>
          <a:noFill/>
          <a:ln/>
        </p:spPr>
        <p:txBody>
          <a:bodyPr wrap="square" rtlCol="0" anchor="ctr"/>
          <a:lstStyle/>
          <a:p>
            <a:pPr indent="0" marL="0">
              <a:buNone/>
            </a:pPr>
            <a:r>
              <a:rPr lang="en-US" sz="1400" b="1" dirty="0">
                <a:solidFill>
                  <a:schemeClr val="tx2"/>
                </a:solidFill>
              </a:rPr>
              <a:t>What the defect record shows</a:t>
            </a:r>
            <a:endParaRPr lang="en-US" sz="1400" dirty="0"/>
          </a:p>
        </p:txBody>
      </p:sp>
      <p:sp>
        <p:nvSpPr>
          <p:cNvPr id="27" name="dr-0"/>
          <p:cNvSpPr/>
          <p:nvPr/>
        </p:nvSpPr>
        <p:spPr>
          <a:xfrm>
            <a:off x="566928" y="4983480"/>
            <a:ext cx="5404104" cy="1005840"/>
          </a:xfrm>
          <a:prstGeom prst="roundRect">
            <a:avLst>
              <a:gd name="adj" fmla="val 6364"/>
            </a:avLst>
          </a:prstGeom>
          <a:solidFill>
            <a:schemeClr val="bg2"/>
          </a:solidFill>
          <a:ln w="12700">
            <a:solidFill>
              <a:srgbClr val="DCE5EF"/>
            </a:solidFill>
            <a:prstDash val="solid"/>
          </a:ln>
        </p:spPr>
      </p:sp>
      <p:sp>
        <p:nvSpPr>
          <p:cNvPr id="28" name="Text 26"/>
          <p:cNvSpPr txBox="1"/>
          <p:nvPr/>
        </p:nvSpPr>
        <p:spPr>
          <a:xfrm>
            <a:off x="822960" y="5084064"/>
            <a:ext cx="4892040" cy="292608"/>
          </a:xfrm>
          <a:prstGeom prst="rect">
            <a:avLst/>
          </a:prstGeom>
          <a:noFill/>
          <a:ln/>
        </p:spPr>
        <p:txBody>
          <a:bodyPr wrap="square" lIns="0" tIns="0" rIns="0" bIns="0" rtlCol="0" anchor="ctr"/>
          <a:lstStyle/>
          <a:p>
            <a:pPr indent="0" marL="0">
              <a:buNone/>
            </a:pPr>
            <a:r>
              <a:rPr lang="en-US" sz="1300" b="1" dirty="0">
                <a:solidFill>
                  <a:schemeClr val="accent4"/>
                </a:solidFill>
              </a:rPr>
              <a:t>Caught before deployment</a:t>
            </a:r>
            <a:endParaRPr lang="en-US" sz="1300" dirty="0"/>
          </a:p>
        </p:txBody>
      </p:sp>
      <p:sp>
        <p:nvSpPr>
          <p:cNvPr id="29" name="Text 27"/>
          <p:cNvSpPr txBox="1"/>
          <p:nvPr/>
        </p:nvSpPr>
        <p:spPr>
          <a:xfrm>
            <a:off x="822960" y="5394960"/>
            <a:ext cx="4892040" cy="502920"/>
          </a:xfrm>
          <a:prstGeom prst="rect">
            <a:avLst/>
          </a:prstGeom>
          <a:noFill/>
          <a:ln/>
        </p:spPr>
        <p:txBody>
          <a:bodyPr wrap="square" lIns="0" tIns="0" rIns="0" bIns="0" rtlCol="0" anchor="ctr"/>
          <a:lstStyle/>
          <a:p>
            <a:pPr indent="0" marL="0">
              <a:lnSpc>
                <a:spcPts val="1500"/>
              </a:lnSpc>
              <a:buNone/>
            </a:pPr>
            <a:r>
              <a:rPr lang="en-US" sz="1150" dirty="0">
                <a:solidFill>
                  <a:schemeClr val="tx1"/>
                </a:solidFill>
              </a:rPr>
              <a:t>Every fault for which a mechanical check existed — the build, the linter, the locale checker — was caught by it.</a:t>
            </a:r>
            <a:endParaRPr lang="en-US" sz="1150" dirty="0"/>
          </a:p>
        </p:txBody>
      </p:sp>
      <p:sp>
        <p:nvSpPr>
          <p:cNvPr id="30" name="dr-1"/>
          <p:cNvSpPr/>
          <p:nvPr/>
        </p:nvSpPr>
        <p:spPr>
          <a:xfrm>
            <a:off x="6190488" y="4983480"/>
            <a:ext cx="5404104" cy="1005840"/>
          </a:xfrm>
          <a:prstGeom prst="roundRect">
            <a:avLst>
              <a:gd name="adj" fmla="val 6364"/>
            </a:avLst>
          </a:prstGeom>
          <a:solidFill>
            <a:schemeClr val="bg2"/>
          </a:solidFill>
          <a:ln w="12700">
            <a:solidFill>
              <a:srgbClr val="DCE5EF"/>
            </a:solidFill>
            <a:prstDash val="solid"/>
          </a:ln>
        </p:spPr>
      </p:sp>
      <p:sp>
        <p:nvSpPr>
          <p:cNvPr id="31" name="Text 29"/>
          <p:cNvSpPr txBox="1"/>
          <p:nvPr/>
        </p:nvSpPr>
        <p:spPr>
          <a:xfrm>
            <a:off x="6446520" y="5084064"/>
            <a:ext cx="4892040" cy="292608"/>
          </a:xfrm>
          <a:prstGeom prst="rect">
            <a:avLst/>
          </a:prstGeom>
          <a:noFill/>
          <a:ln/>
        </p:spPr>
        <p:txBody>
          <a:bodyPr wrap="square" lIns="0" tIns="0" rIns="0" bIns="0" rtlCol="0" anchor="ctr"/>
          <a:lstStyle/>
          <a:p>
            <a:pPr indent="0" marL="0">
              <a:buNone/>
            </a:pPr>
            <a:r>
              <a:rPr lang="en-US" sz="1300" b="1" dirty="0">
                <a:solidFill>
                  <a:schemeClr val="accent5"/>
                </a:solidFill>
              </a:rPr>
              <a:t>Reached a visible state</a:t>
            </a:r>
            <a:endParaRPr lang="en-US" sz="1300" dirty="0"/>
          </a:p>
        </p:txBody>
      </p:sp>
      <p:sp>
        <p:nvSpPr>
          <p:cNvPr id="32" name="Text 30"/>
          <p:cNvSpPr txBox="1"/>
          <p:nvPr/>
        </p:nvSpPr>
        <p:spPr>
          <a:xfrm>
            <a:off x="6446520" y="5394960"/>
            <a:ext cx="4892040" cy="502920"/>
          </a:xfrm>
          <a:prstGeom prst="rect">
            <a:avLst/>
          </a:prstGeom>
          <a:noFill/>
          <a:ln/>
        </p:spPr>
        <p:txBody>
          <a:bodyPr wrap="square" lIns="0" tIns="0" rIns="0" bIns="0" rtlCol="0" anchor="ctr"/>
          <a:lstStyle/>
          <a:p>
            <a:pPr indent="0" marL="0">
              <a:lnSpc>
                <a:spcPts val="1500"/>
              </a:lnSpc>
              <a:buNone/>
            </a:pPr>
            <a:r>
              <a:rPr lang="en-US" sz="1150" dirty="0">
                <a:solidFill>
                  <a:schemeClr val="tx1"/>
                </a:solidFill>
              </a:rPr>
              <a:t>Two server errors and a layout fault, all in areas where no automated signal existed. All found by a person using the interface.</a:t>
            </a:r>
            <a:endParaRPr lang="en-US" sz="1150" dirty="0"/>
          </a:p>
        </p:txBody>
      </p:sp>
      <p:sp>
        <p:nvSpPr>
          <p:cNvPr id="25" name="Slide Number Placeholder 0"/>
          <p:cNvSpPr>
            <a:spLocks noGrp="1"/>
          </p:cNvSpPr>
          <p:nvPr>
            <p:ph type="sldNum" sz="quarter" idx="4294967295"/>
          </p:nvPr>
        </p:nvSpPr>
        <p:spPr>
          <a:xfrm>
            <a:off x="11430000" y="6327648"/>
            <a:ext cx="45720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64748B"/>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566928" y="384048"/>
            <a:ext cx="11027664" cy="713232"/>
          </a:xfrm>
          <a:prstGeom prst="rect">
            <a:avLst/>
          </a:prstGeom>
          <a:noFill/>
          <a:ln/>
        </p:spPr>
        <p:txBody>
          <a:bodyPr wrap="square" rtlCol="0"/>
          <a:lstStyle/>
          <a:p>
            <a:pPr indent="0" marL="0">
              <a:buNone/>
            </a:pPr>
            <a:r>
              <a:rPr lang="en-US" sz="3200" b="1" dirty="0">
                <a:solidFill>
                  <a:srgbClr val="0F3057"/>
                </a:solidFill>
              </a:rPr>
              <a:t>Defects found — including the ones I diagnosed wrongly</a:t>
            </a:r>
            <a:endParaRPr lang="en-US" sz="3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66928" y="1280160"/>
          <a:ext cx="11027664" cy="914400"/>
        </p:xfrm>
        <a:graphic>
          <a:graphicData uri="http://schemas.openxmlformats.org/drawingml/2006/table">
            <a:tbl>
              <a:tblPr/>
              <a:tblGrid>
                <a:gridCol w="3200400"/>
                <a:gridCol w="1600200"/>
                <a:gridCol w="6227064"/>
              </a:tblGrid>
              <a:tr h="0">
                <a:tc>
                  <a:txBody>
                    <a:bodyPr/>
                    <a:lstStyle/>
                    <a:p>
                      <a:pPr indent="0" marL="0">
                        <a:buNone/>
                      </a:pPr>
                      <a:r>
                        <a:rPr lang="en-US" sz="1150" b="1" dirty="0">
                          <a:solidFill>
                            <a:srgbClr val="FFFFFF"/>
                          </a:solidFill>
                        </a:rPr>
                        <a:t>Defect</a:t>
                      </a:r>
                      <a:endParaRPr lang="en-US" sz="11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0F3057"/>
                    </a:solidFill>
                  </a:tcPr>
                </a:tc>
                <a:tc>
                  <a:txBody>
                    <a:bodyPr/>
                    <a:lstStyle/>
                    <a:p>
                      <a:pPr indent="0" marL="0">
                        <a:buNone/>
                      </a:pPr>
                      <a:r>
                        <a:rPr lang="en-US" sz="1150" b="1" dirty="0">
                          <a:solidFill>
                            <a:srgbClr val="FFFFFF"/>
                          </a:solidFill>
                        </a:rPr>
                        <a:t>Found by</a:t>
                      </a:r>
                      <a:endParaRPr lang="en-US" sz="11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0F3057"/>
                    </a:solidFill>
                  </a:tcPr>
                </a:tc>
                <a:tc>
                  <a:txBody>
                    <a:bodyPr/>
                    <a:lstStyle/>
                    <a:p>
                      <a:pPr indent="0" marL="0">
                        <a:buNone/>
                      </a:pPr>
                      <a:r>
                        <a:rPr lang="en-US" sz="1150" b="1" dirty="0">
                          <a:solidFill>
                            <a:srgbClr val="FFFFFF"/>
                          </a:solidFill>
                        </a:rPr>
                        <a:t>Cause and resolution</a:t>
                      </a:r>
                      <a:endParaRPr lang="en-US" sz="11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0F3057"/>
                    </a:solidFill>
                  </a:tcPr>
                </a:tc>
              </a:tr>
              <a:tr h="0">
                <a:tc>
                  <a:txBody>
                    <a:bodyPr/>
                    <a:lstStyle/>
                    <a:p>
                      <a:pPr indent="0" marL="0">
                        <a:buNone/>
                      </a:pPr>
                      <a:r>
                        <a:rPr lang="en-US" sz="1150" b="1" dirty="0">
                          <a:solidFill>
                            <a:srgbClr val="10172A"/>
                          </a:solidFill>
                        </a:rPr>
                        <a:t>Every tutor application returned a server error</a:t>
                      </a:r>
                      <a:endParaRPr lang="en-US" sz="11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150" dirty="0">
                          <a:solidFill>
                            <a:srgbClr val="10172A"/>
                          </a:solidFill>
                        </a:rPr>
                        <a:t>Manual testing</a:t>
                      </a:r>
                      <a:endParaRPr lang="en-US" sz="11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150" dirty="0">
                          <a:solidFill>
                            <a:srgbClr val="10172A"/>
                          </a:solidFill>
                        </a:rPr>
                        <a:t>The insert named a column that had been renamed. Affected the route from creation.</a:t>
                      </a:r>
                      <a:endParaRPr lang="en-US" sz="11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0172A"/>
                          </a:solidFill>
                        </a:rPr>
                        <a:t>Trust endpoint returned a server error</a:t>
                      </a:r>
                      <a:endParaRPr lang="en-US" sz="11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2F6FA"/>
                    </a:solidFill>
                  </a:tcPr>
                </a:tc>
                <a:tc>
                  <a:txBody>
                    <a:bodyPr/>
                    <a:lstStyle/>
                    <a:p>
                      <a:pPr indent="0" marL="0">
                        <a:buNone/>
                      </a:pPr>
                      <a:r>
                        <a:rPr lang="en-US" sz="1150" dirty="0">
                          <a:solidFill>
                            <a:srgbClr val="10172A"/>
                          </a:solidFill>
                        </a:rPr>
                        <a:t>Manual testing</a:t>
                      </a:r>
                      <a:endParaRPr lang="en-US" sz="11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2F6FA"/>
                    </a:solidFill>
                  </a:tcPr>
                </a:tc>
                <a:tc>
                  <a:txBody>
                    <a:bodyPr/>
                    <a:lstStyle/>
                    <a:p>
                      <a:pPr indent="0" marL="0">
                        <a:buNone/>
                      </a:pPr>
                      <a:r>
                        <a:rPr lang="en-US" sz="1150" dirty="0">
                          <a:solidFill>
                            <a:srgbClr val="10172A"/>
                          </a:solidFill>
                        </a:rPr>
                        <a:t>A module was never imported. Syntax checking passed — the reference resolves only at execution. My ad-hoc check asserted on the wrong call and reported a false pass.</a:t>
                      </a:r>
                      <a:endParaRPr lang="en-US" sz="11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2F6FA"/>
                    </a:solidFill>
                  </a:tcPr>
                </a:tc>
              </a:tr>
              <a:tr h="0">
                <a:tc>
                  <a:txBody>
                    <a:bodyPr/>
                    <a:lstStyle/>
                    <a:p>
                      <a:pPr indent="0" marL="0">
                        <a:buNone/>
                      </a:pPr>
                      <a:r>
                        <a:rPr lang="en-US" sz="1150" b="1" dirty="0">
                          <a:solidFill>
                            <a:srgbClr val="10172A"/>
                          </a:solidFill>
                        </a:rPr>
                        <a:t>All purchases of one note rejected</a:t>
                      </a:r>
                      <a:endParaRPr lang="en-US" sz="11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150" dirty="0">
                          <a:solidFill>
                            <a:srgbClr val="10172A"/>
                          </a:solidFill>
                        </a:rPr>
                        <a:t>Manual testing</a:t>
                      </a:r>
                      <a:endParaRPr lang="en-US" sz="11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150" dirty="0">
                          <a:solidFill>
                            <a:srgbClr val="10172A"/>
                          </a:solidFill>
                        </a:rPr>
                        <a:t>A typographic dash put a non-ASCII character in the signed body. I suspected the credentials first and had to write a diagnostic to exclude them.</a:t>
                      </a:r>
                      <a:endParaRPr lang="en-US" sz="11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0172A"/>
                          </a:solidFill>
                        </a:rPr>
                        <a:t>Notification panel rendered 106 px wide on mobile</a:t>
                      </a:r>
                      <a:endParaRPr lang="en-US" sz="11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2F6FA"/>
                    </a:solidFill>
                  </a:tcPr>
                </a:tc>
                <a:tc>
                  <a:txBody>
                    <a:bodyPr/>
                    <a:lstStyle/>
                    <a:p>
                      <a:pPr indent="0" marL="0">
                        <a:buNone/>
                      </a:pPr>
                      <a:r>
                        <a:rPr lang="en-US" sz="1150" dirty="0">
                          <a:solidFill>
                            <a:srgbClr val="10172A"/>
                          </a:solidFill>
                        </a:rPr>
                        <a:t>Visual inspection</a:t>
                      </a:r>
                      <a:endParaRPr lang="en-US" sz="11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2F6FA"/>
                    </a:solidFill>
                  </a:tcPr>
                </a:tc>
                <a:tc>
                  <a:txBody>
                    <a:bodyPr/>
                    <a:lstStyle/>
                    <a:p>
                      <a:pPr indent="0" marL="0">
                        <a:buNone/>
                      </a:pPr>
                      <a:r>
                        <a:rPr lang="en-US" sz="1150" dirty="0">
                          <a:solidFill>
                            <a:srgbClr val="10172A"/>
                          </a:solidFill>
                        </a:rPr>
                        <a:t>A fixed-position element resolved against a transformed ancestor. An automated check had reported it “inside the viewport” — true, and useless.</a:t>
                      </a:r>
                      <a:endParaRPr lang="en-US" sz="11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2F6FA"/>
                    </a:solidFill>
                  </a:tcPr>
                </a:tc>
              </a:tr>
              <a:tr h="0">
                <a:tc>
                  <a:txBody>
                    <a:bodyPr/>
                    <a:lstStyle/>
                    <a:p>
                      <a:pPr indent="0" marL="0">
                        <a:buNone/>
                      </a:pPr>
                      <a:r>
                        <a:rPr lang="en-US" sz="1150" b="1" dirty="0">
                          <a:solidFill>
                            <a:srgbClr val="10172A"/>
                          </a:solidFill>
                        </a:rPr>
                        <a:t>Login controls still in English</a:t>
                      </a:r>
                      <a:endParaRPr lang="en-US" sz="11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150" dirty="0">
                          <a:solidFill>
                            <a:srgbClr val="10172A"/>
                          </a:solidFill>
                        </a:rPr>
                        <a:t>Locale checker</a:t>
                      </a:r>
                      <a:endParaRPr lang="en-US" sz="11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c>
                  <a:txBody>
                    <a:bodyPr/>
                    <a:lstStyle/>
                    <a:p>
                      <a:pPr indent="0" marL="0">
                        <a:buNone/>
                      </a:pPr>
                      <a:r>
                        <a:rPr lang="en-US" sz="1150" dirty="0">
                          <a:solidFill>
                            <a:srgbClr val="10172A"/>
                          </a:solidFill>
                        </a:rPr>
                        <a:t>Keys defined but never referenced on a page believed complete.</a:t>
                      </a:r>
                      <a:endParaRPr lang="en-US" sz="11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FFFFF"/>
                    </a:solidFill>
                  </a:tcPr>
                </a:tc>
              </a:tr>
              <a:tr h="0">
                <a:tc>
                  <a:txBody>
                    <a:bodyPr/>
                    <a:lstStyle/>
                    <a:p>
                      <a:pPr indent="0" marL="0">
                        <a:buNone/>
                      </a:pPr>
                      <a:r>
                        <a:rPr lang="en-US" sz="1150" b="1" dirty="0">
                          <a:solidFill>
                            <a:srgbClr val="10172A"/>
                          </a:solidFill>
                        </a:rPr>
                        <a:t>Policy documents named a dead contact address</a:t>
                      </a:r>
                      <a:endParaRPr lang="en-US" sz="11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2F6FA"/>
                    </a:solidFill>
                  </a:tcPr>
                </a:tc>
                <a:tc>
                  <a:txBody>
                    <a:bodyPr/>
                    <a:lstStyle/>
                    <a:p>
                      <a:pPr indent="0" marL="0">
                        <a:buNone/>
                      </a:pPr>
                      <a:r>
                        <a:rPr lang="en-US" sz="1150" dirty="0">
                          <a:solidFill>
                            <a:srgbClr val="10172A"/>
                          </a:solidFill>
                        </a:rPr>
                        <a:t>Review</a:t>
                      </a:r>
                      <a:endParaRPr lang="en-US" sz="11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2F6FA"/>
                    </a:solidFill>
                  </a:tcPr>
                </a:tc>
                <a:tc>
                  <a:txBody>
                    <a:bodyPr/>
                    <a:lstStyle/>
                    <a:p>
                      <a:pPr indent="0" marL="0">
                        <a:buNone/>
                      </a:pPr>
                      <a:r>
                        <a:rPr lang="en-US" sz="1150" dirty="0">
                          <a:solidFill>
                            <a:srgbClr val="10172A"/>
                          </a:solidFill>
                        </a:rPr>
                        <a:t>Data-subject requests were directed to a domain not under our control. Every such request would have bounced.</a:t>
                      </a:r>
                      <a:endParaRPr lang="en-US" sz="1150" dirty="0"/>
                    </a:p>
                  </a:txBody>
                  <a:tcPr marL="91440" marR="91440" marT="45720" marB="45720" anchor="ctr">
                    <a:lnL w="12700" cap="flat" cmpd="sng" algn="ctr">
                      <a:solidFill>
                        <a:srgbClr val="DCE5EF"/>
                      </a:solidFill>
                      <a:prstDash val="solid"/>
                      <a:round/>
                      <a:headEnd type="none" w="med" len="med"/>
                      <a:tailEnd type="none" w="med" len="med"/>
                    </a:lnL>
                    <a:lnR w="12700" cap="flat" cmpd="sng" algn="ctr">
                      <a:solidFill>
                        <a:srgbClr val="DCE5EF"/>
                      </a:solidFill>
                      <a:prstDash val="solid"/>
                      <a:round/>
                      <a:headEnd type="none" w="med" len="med"/>
                      <a:tailEnd type="none" w="med" len="med"/>
                    </a:lnR>
                    <a:lnT w="12700" cap="flat" cmpd="sng" algn="ctr">
                      <a:solidFill>
                        <a:srgbClr val="DCE5EF"/>
                      </a:solidFill>
                      <a:prstDash val="solid"/>
                      <a:round/>
                      <a:headEnd type="none" w="med" len="med"/>
                      <a:tailEnd type="none" w="med" len="med"/>
                    </a:lnT>
                    <a:lnB w="12700" cap="flat" cmpd="sng" algn="ctr">
                      <a:solidFill>
                        <a:srgbClr val="DCE5EF"/>
                      </a:solidFill>
                      <a:prstDash val="solid"/>
                      <a:round/>
                      <a:headEnd type="none" w="med" len="med"/>
                      <a:tailEnd type="none" w="med" len="med"/>
                    </a:lnB>
                    <a:solidFill>
                      <a:srgbClr val="F2F6FA"/>
                    </a:solidFill>
                  </a:tcPr>
                </a:tc>
              </a:tr>
            </a:tbl>
          </a:graphicData>
        </a:graphic>
      </p:graphicFrame>
      <p:sp>
        <p:nvSpPr>
          <p:cNvPr id="4" name="Text 1"/>
          <p:cNvSpPr txBox="1"/>
          <p:nvPr/>
        </p:nvSpPr>
        <p:spPr>
          <a:xfrm>
            <a:off x="566928" y="4224528"/>
            <a:ext cx="11027664" cy="365760"/>
          </a:xfrm>
          <a:prstGeom prst="rect">
            <a:avLst/>
          </a:prstGeom>
          <a:noFill/>
          <a:ln/>
        </p:spPr>
        <p:txBody>
          <a:bodyPr wrap="square" rtlCol="0" anchor="ctr"/>
          <a:lstStyle/>
          <a:p>
            <a:pPr indent="0" marL="0">
              <a:buNone/>
            </a:pPr>
            <a:r>
              <a:rPr lang="en-US" sz="1250" i="1" dirty="0">
                <a:solidFill>
                  <a:schemeClr val="accent6"/>
                </a:solidFill>
              </a:rPr>
              <a:t>Reported in full, including those arising from an incorrect first diagnosis — the detection mechanism is as instructive as the fault.</a:t>
            </a:r>
            <a:endParaRPr lang="en-US" sz="1250" dirty="0"/>
          </a:p>
        </p:txBody>
      </p:sp>
      <p:sp>
        <p:nvSpPr>
          <p:cNvPr id="25" name="Slide Number Placeholder 0"/>
          <p:cNvSpPr>
            <a:spLocks noGrp="1"/>
          </p:cNvSpPr>
          <p:nvPr>
            <p:ph type="sldNum" sz="quarter" idx="4294967295"/>
          </p:nvPr>
        </p:nvSpPr>
        <p:spPr>
          <a:xfrm>
            <a:off x="11430000" y="6327648"/>
            <a:ext cx="45720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64748B"/>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566928" y="384048"/>
            <a:ext cx="11027664" cy="713232"/>
          </a:xfrm>
          <a:prstGeom prst="rect">
            <a:avLst/>
          </a:prstGeom>
          <a:noFill/>
          <a:ln/>
        </p:spPr>
        <p:txBody>
          <a:bodyPr wrap="square" rtlCol="0"/>
          <a:lstStyle/>
          <a:p>
            <a:pPr indent="0" marL="0">
              <a:buNone/>
            </a:pPr>
            <a:r>
              <a:rPr lang="en-US" sz="3200" b="1" dirty="0">
                <a:solidFill>
                  <a:srgbClr val="0F3057"/>
                </a:solidFill>
              </a:rPr>
              <a:t>Objectives against evidence</a:t>
            </a:r>
            <a:endParaRPr lang="en-US" sz="3200" dirty="0"/>
          </a:p>
        </p:txBody>
      </p:sp>
      <p:sp>
        <p:nvSpPr>
          <p:cNvPr id="3" name="res-0"/>
          <p:cNvSpPr/>
          <p:nvPr/>
        </p:nvSpPr>
        <p:spPr>
          <a:xfrm>
            <a:off x="566928" y="1188720"/>
            <a:ext cx="3602736" cy="713232"/>
          </a:xfrm>
          <a:prstGeom prst="roundRect">
            <a:avLst>
              <a:gd name="adj" fmla="val 8974"/>
            </a:avLst>
          </a:prstGeom>
          <a:solidFill>
            <a:srgbClr val="EAF3F0"/>
          </a:solidFill>
          <a:ln w="12700">
            <a:solidFill>
              <a:srgbClr val="B8D8CE"/>
            </a:solidFill>
            <a:prstDash val="solid"/>
          </a:ln>
        </p:spPr>
      </p:sp>
      <p:sp>
        <p:nvSpPr>
          <p:cNvPr id="4" name="Text 2"/>
          <p:cNvSpPr txBox="1"/>
          <p:nvPr/>
        </p:nvSpPr>
        <p:spPr>
          <a:xfrm>
            <a:off x="768096" y="1344168"/>
            <a:ext cx="365760" cy="402336"/>
          </a:xfrm>
          <a:prstGeom prst="rect">
            <a:avLst/>
          </a:prstGeom>
          <a:noFill/>
          <a:ln/>
        </p:spPr>
        <p:txBody>
          <a:bodyPr wrap="square" lIns="0" tIns="0" rIns="0" bIns="0" rtlCol="0" anchor="ctr"/>
          <a:lstStyle/>
          <a:p>
            <a:pPr algn="ctr" indent="0" marL="0">
              <a:buNone/>
            </a:pPr>
            <a:r>
              <a:rPr lang="en-US" sz="1900" b="1" dirty="0">
                <a:solidFill>
                  <a:srgbClr val="2E7D62"/>
                </a:solidFill>
              </a:rPr>
              <a:t>✓</a:t>
            </a:r>
            <a:endParaRPr lang="en-US" sz="1900" dirty="0"/>
          </a:p>
        </p:txBody>
      </p:sp>
      <p:sp>
        <p:nvSpPr>
          <p:cNvPr id="5" name="Text 3"/>
          <p:cNvSpPr txBox="1"/>
          <p:nvPr/>
        </p:nvSpPr>
        <p:spPr>
          <a:xfrm>
            <a:off x="1170432" y="1261872"/>
            <a:ext cx="640080" cy="274320"/>
          </a:xfrm>
          <a:prstGeom prst="rect">
            <a:avLst/>
          </a:prstGeom>
          <a:noFill/>
          <a:ln/>
        </p:spPr>
        <p:txBody>
          <a:bodyPr wrap="square" lIns="0" tIns="0" rIns="0" bIns="0" rtlCol="0" anchor="ctr"/>
          <a:lstStyle/>
          <a:p>
            <a:pPr indent="0" marL="0">
              <a:buNone/>
            </a:pPr>
            <a:r>
              <a:rPr lang="en-US" sz="1150" b="1" dirty="0">
                <a:solidFill>
                  <a:schemeClr val="accent6"/>
                </a:solidFill>
              </a:rPr>
              <a:t>O1</a:t>
            </a:r>
            <a:endParaRPr lang="en-US" sz="1150" dirty="0"/>
          </a:p>
        </p:txBody>
      </p:sp>
      <p:sp>
        <p:nvSpPr>
          <p:cNvPr id="6" name="Text 4"/>
          <p:cNvSpPr txBox="1"/>
          <p:nvPr/>
        </p:nvSpPr>
        <p:spPr>
          <a:xfrm>
            <a:off x="1170432" y="1499616"/>
            <a:ext cx="2761488" cy="347472"/>
          </a:xfrm>
          <a:prstGeom prst="rect">
            <a:avLst/>
          </a:prstGeom>
          <a:noFill/>
          <a:ln/>
        </p:spPr>
        <p:txBody>
          <a:bodyPr wrap="square" lIns="0" tIns="0" rIns="0" bIns="0" rtlCol="0" anchor="ctr"/>
          <a:lstStyle/>
          <a:p>
            <a:pPr indent="0" marL="0">
              <a:buNone/>
            </a:pPr>
            <a:r>
              <a:rPr lang="en-US" sz="1250" b="1" dirty="0">
                <a:solidFill>
                  <a:schemeClr val="tx2"/>
                </a:solidFill>
              </a:rPr>
              <a:t>Requirements and review</a:t>
            </a:r>
            <a:endParaRPr lang="en-US" sz="1250" dirty="0"/>
          </a:p>
        </p:txBody>
      </p:sp>
      <p:sp>
        <p:nvSpPr>
          <p:cNvPr id="7" name="res-1"/>
          <p:cNvSpPr/>
          <p:nvPr/>
        </p:nvSpPr>
        <p:spPr>
          <a:xfrm>
            <a:off x="4315968" y="1188720"/>
            <a:ext cx="3602736" cy="713232"/>
          </a:xfrm>
          <a:prstGeom prst="roundRect">
            <a:avLst>
              <a:gd name="adj" fmla="val 8974"/>
            </a:avLst>
          </a:prstGeom>
          <a:solidFill>
            <a:srgbClr val="EAF3F0"/>
          </a:solidFill>
          <a:ln w="12700">
            <a:solidFill>
              <a:srgbClr val="B8D8CE"/>
            </a:solidFill>
            <a:prstDash val="solid"/>
          </a:ln>
        </p:spPr>
      </p:sp>
      <p:sp>
        <p:nvSpPr>
          <p:cNvPr id="8" name="Text 6"/>
          <p:cNvSpPr txBox="1"/>
          <p:nvPr/>
        </p:nvSpPr>
        <p:spPr>
          <a:xfrm>
            <a:off x="4517136" y="1344168"/>
            <a:ext cx="365760" cy="402336"/>
          </a:xfrm>
          <a:prstGeom prst="rect">
            <a:avLst/>
          </a:prstGeom>
          <a:noFill/>
          <a:ln/>
        </p:spPr>
        <p:txBody>
          <a:bodyPr wrap="square" lIns="0" tIns="0" rIns="0" bIns="0" rtlCol="0" anchor="ctr"/>
          <a:lstStyle/>
          <a:p>
            <a:pPr algn="ctr" indent="0" marL="0">
              <a:buNone/>
            </a:pPr>
            <a:r>
              <a:rPr lang="en-US" sz="1900" b="1" dirty="0">
                <a:solidFill>
                  <a:srgbClr val="2E7D62"/>
                </a:solidFill>
              </a:rPr>
              <a:t>✓</a:t>
            </a:r>
            <a:endParaRPr lang="en-US" sz="1900" dirty="0"/>
          </a:p>
        </p:txBody>
      </p:sp>
      <p:sp>
        <p:nvSpPr>
          <p:cNvPr id="9" name="Text 7"/>
          <p:cNvSpPr txBox="1"/>
          <p:nvPr/>
        </p:nvSpPr>
        <p:spPr>
          <a:xfrm>
            <a:off x="4919472" y="1261872"/>
            <a:ext cx="640080" cy="274320"/>
          </a:xfrm>
          <a:prstGeom prst="rect">
            <a:avLst/>
          </a:prstGeom>
          <a:noFill/>
          <a:ln/>
        </p:spPr>
        <p:txBody>
          <a:bodyPr wrap="square" lIns="0" tIns="0" rIns="0" bIns="0" rtlCol="0" anchor="ctr"/>
          <a:lstStyle/>
          <a:p>
            <a:pPr indent="0" marL="0">
              <a:buNone/>
            </a:pPr>
            <a:r>
              <a:rPr lang="en-US" sz="1150" b="1" dirty="0">
                <a:solidFill>
                  <a:schemeClr val="accent6"/>
                </a:solidFill>
              </a:rPr>
              <a:t>O2</a:t>
            </a:r>
            <a:endParaRPr lang="en-US" sz="1150" dirty="0"/>
          </a:p>
        </p:txBody>
      </p:sp>
      <p:sp>
        <p:nvSpPr>
          <p:cNvPr id="10" name="Text 8"/>
          <p:cNvSpPr txBox="1"/>
          <p:nvPr/>
        </p:nvSpPr>
        <p:spPr>
          <a:xfrm>
            <a:off x="4919472" y="1499616"/>
            <a:ext cx="2761488" cy="347472"/>
          </a:xfrm>
          <a:prstGeom prst="rect">
            <a:avLst/>
          </a:prstGeom>
          <a:noFill/>
          <a:ln/>
        </p:spPr>
        <p:txBody>
          <a:bodyPr wrap="square" lIns="0" tIns="0" rIns="0" bIns="0" rtlCol="0" anchor="ctr"/>
          <a:lstStyle/>
          <a:p>
            <a:pPr indent="0" marL="0">
              <a:buNone/>
            </a:pPr>
            <a:r>
              <a:rPr lang="en-US" sz="1250" b="1" dirty="0">
                <a:solidFill>
                  <a:schemeClr val="tx2"/>
                </a:solidFill>
              </a:rPr>
              <a:t>Architecture and data model</a:t>
            </a:r>
            <a:endParaRPr lang="en-US" sz="1250" dirty="0"/>
          </a:p>
        </p:txBody>
      </p:sp>
      <p:sp>
        <p:nvSpPr>
          <p:cNvPr id="11" name="res-2"/>
          <p:cNvSpPr/>
          <p:nvPr/>
        </p:nvSpPr>
        <p:spPr>
          <a:xfrm>
            <a:off x="8065008" y="1188720"/>
            <a:ext cx="3602736" cy="713232"/>
          </a:xfrm>
          <a:prstGeom prst="roundRect">
            <a:avLst>
              <a:gd name="adj" fmla="val 8974"/>
            </a:avLst>
          </a:prstGeom>
          <a:solidFill>
            <a:srgbClr val="EAF3F0"/>
          </a:solidFill>
          <a:ln w="12700">
            <a:solidFill>
              <a:srgbClr val="B8D8CE"/>
            </a:solidFill>
            <a:prstDash val="solid"/>
          </a:ln>
        </p:spPr>
      </p:sp>
      <p:sp>
        <p:nvSpPr>
          <p:cNvPr id="12" name="Text 10"/>
          <p:cNvSpPr txBox="1"/>
          <p:nvPr/>
        </p:nvSpPr>
        <p:spPr>
          <a:xfrm>
            <a:off x="8266176" y="1344168"/>
            <a:ext cx="365760" cy="402336"/>
          </a:xfrm>
          <a:prstGeom prst="rect">
            <a:avLst/>
          </a:prstGeom>
          <a:noFill/>
          <a:ln/>
        </p:spPr>
        <p:txBody>
          <a:bodyPr wrap="square" lIns="0" tIns="0" rIns="0" bIns="0" rtlCol="0" anchor="ctr"/>
          <a:lstStyle/>
          <a:p>
            <a:pPr algn="ctr" indent="0" marL="0">
              <a:buNone/>
            </a:pPr>
            <a:r>
              <a:rPr lang="en-US" sz="1900" b="1" dirty="0">
                <a:solidFill>
                  <a:srgbClr val="2E7D62"/>
                </a:solidFill>
              </a:rPr>
              <a:t>✓</a:t>
            </a:r>
            <a:endParaRPr lang="en-US" sz="1900" dirty="0"/>
          </a:p>
        </p:txBody>
      </p:sp>
      <p:sp>
        <p:nvSpPr>
          <p:cNvPr id="13" name="Text 11"/>
          <p:cNvSpPr txBox="1"/>
          <p:nvPr/>
        </p:nvSpPr>
        <p:spPr>
          <a:xfrm>
            <a:off x="8668512" y="1261872"/>
            <a:ext cx="640080" cy="274320"/>
          </a:xfrm>
          <a:prstGeom prst="rect">
            <a:avLst/>
          </a:prstGeom>
          <a:noFill/>
          <a:ln/>
        </p:spPr>
        <p:txBody>
          <a:bodyPr wrap="square" lIns="0" tIns="0" rIns="0" bIns="0" rtlCol="0" anchor="ctr"/>
          <a:lstStyle/>
          <a:p>
            <a:pPr indent="0" marL="0">
              <a:buNone/>
            </a:pPr>
            <a:r>
              <a:rPr lang="en-US" sz="1150" b="1" dirty="0">
                <a:solidFill>
                  <a:schemeClr val="accent6"/>
                </a:solidFill>
              </a:rPr>
              <a:t>O3</a:t>
            </a:r>
            <a:endParaRPr lang="en-US" sz="1150" dirty="0"/>
          </a:p>
        </p:txBody>
      </p:sp>
      <p:sp>
        <p:nvSpPr>
          <p:cNvPr id="14" name="Text 12"/>
          <p:cNvSpPr txBox="1"/>
          <p:nvPr/>
        </p:nvSpPr>
        <p:spPr>
          <a:xfrm>
            <a:off x="8668512" y="1499616"/>
            <a:ext cx="2761488" cy="347472"/>
          </a:xfrm>
          <a:prstGeom prst="rect">
            <a:avLst/>
          </a:prstGeom>
          <a:noFill/>
          <a:ln/>
        </p:spPr>
        <p:txBody>
          <a:bodyPr wrap="square" lIns="0" tIns="0" rIns="0" bIns="0" rtlCol="0" anchor="ctr"/>
          <a:lstStyle/>
          <a:p>
            <a:pPr indent="0" marL="0">
              <a:buNone/>
            </a:pPr>
            <a:r>
              <a:rPr lang="en-US" sz="1250" b="1" dirty="0">
                <a:solidFill>
                  <a:schemeClr val="tx2"/>
                </a:solidFill>
              </a:rPr>
              <a:t>Groups, notes, Q&amp;A</a:t>
            </a:r>
            <a:endParaRPr lang="en-US" sz="1250" dirty="0"/>
          </a:p>
        </p:txBody>
      </p:sp>
      <p:sp>
        <p:nvSpPr>
          <p:cNvPr id="15" name="res-3"/>
          <p:cNvSpPr/>
          <p:nvPr/>
        </p:nvSpPr>
        <p:spPr>
          <a:xfrm>
            <a:off x="566928" y="2029968"/>
            <a:ext cx="3602736" cy="713232"/>
          </a:xfrm>
          <a:prstGeom prst="roundRect">
            <a:avLst>
              <a:gd name="adj" fmla="val 8974"/>
            </a:avLst>
          </a:prstGeom>
          <a:solidFill>
            <a:srgbClr val="EAF3F0"/>
          </a:solidFill>
          <a:ln w="12700">
            <a:solidFill>
              <a:srgbClr val="B8D8CE"/>
            </a:solidFill>
            <a:prstDash val="solid"/>
          </a:ln>
        </p:spPr>
      </p:sp>
      <p:sp>
        <p:nvSpPr>
          <p:cNvPr id="16" name="Text 14"/>
          <p:cNvSpPr txBox="1"/>
          <p:nvPr/>
        </p:nvSpPr>
        <p:spPr>
          <a:xfrm>
            <a:off x="768096" y="2185416"/>
            <a:ext cx="365760" cy="402336"/>
          </a:xfrm>
          <a:prstGeom prst="rect">
            <a:avLst/>
          </a:prstGeom>
          <a:noFill/>
          <a:ln/>
        </p:spPr>
        <p:txBody>
          <a:bodyPr wrap="square" lIns="0" tIns="0" rIns="0" bIns="0" rtlCol="0" anchor="ctr"/>
          <a:lstStyle/>
          <a:p>
            <a:pPr algn="ctr" indent="0" marL="0">
              <a:buNone/>
            </a:pPr>
            <a:r>
              <a:rPr lang="en-US" sz="1900" b="1" dirty="0">
                <a:solidFill>
                  <a:srgbClr val="2E7D62"/>
                </a:solidFill>
              </a:rPr>
              <a:t>✓</a:t>
            </a:r>
            <a:endParaRPr lang="en-US" sz="1900" dirty="0"/>
          </a:p>
        </p:txBody>
      </p:sp>
      <p:sp>
        <p:nvSpPr>
          <p:cNvPr id="17" name="Text 15"/>
          <p:cNvSpPr txBox="1"/>
          <p:nvPr/>
        </p:nvSpPr>
        <p:spPr>
          <a:xfrm>
            <a:off x="1170432" y="2103120"/>
            <a:ext cx="640080" cy="274320"/>
          </a:xfrm>
          <a:prstGeom prst="rect">
            <a:avLst/>
          </a:prstGeom>
          <a:noFill/>
          <a:ln/>
        </p:spPr>
        <p:txBody>
          <a:bodyPr wrap="square" lIns="0" tIns="0" rIns="0" bIns="0" rtlCol="0" anchor="ctr"/>
          <a:lstStyle/>
          <a:p>
            <a:pPr indent="0" marL="0">
              <a:buNone/>
            </a:pPr>
            <a:r>
              <a:rPr lang="en-US" sz="1150" b="1" dirty="0">
                <a:solidFill>
                  <a:schemeClr val="accent6"/>
                </a:solidFill>
              </a:rPr>
              <a:t>O4</a:t>
            </a:r>
            <a:endParaRPr lang="en-US" sz="1150" dirty="0"/>
          </a:p>
        </p:txBody>
      </p:sp>
      <p:sp>
        <p:nvSpPr>
          <p:cNvPr id="18" name="Text 16"/>
          <p:cNvSpPr txBox="1"/>
          <p:nvPr/>
        </p:nvSpPr>
        <p:spPr>
          <a:xfrm>
            <a:off x="1170432" y="2340864"/>
            <a:ext cx="2761488" cy="347472"/>
          </a:xfrm>
          <a:prstGeom prst="rect">
            <a:avLst/>
          </a:prstGeom>
          <a:noFill/>
          <a:ln/>
        </p:spPr>
        <p:txBody>
          <a:bodyPr wrap="square" lIns="0" tIns="0" rIns="0" bIns="0" rtlCol="0" anchor="ctr"/>
          <a:lstStyle/>
          <a:p>
            <a:pPr indent="0" marL="0">
              <a:buNone/>
            </a:pPr>
            <a:r>
              <a:rPr lang="en-US" sz="1250" b="1" dirty="0">
                <a:solidFill>
                  <a:schemeClr val="tx2"/>
                </a:solidFill>
              </a:rPr>
              <a:t>Tutoring marketplace</a:t>
            </a:r>
            <a:endParaRPr lang="en-US" sz="1250" dirty="0"/>
          </a:p>
        </p:txBody>
      </p:sp>
      <p:sp>
        <p:nvSpPr>
          <p:cNvPr id="19" name="res-4"/>
          <p:cNvSpPr/>
          <p:nvPr/>
        </p:nvSpPr>
        <p:spPr>
          <a:xfrm>
            <a:off x="4315968" y="2029968"/>
            <a:ext cx="3602736" cy="713232"/>
          </a:xfrm>
          <a:prstGeom prst="roundRect">
            <a:avLst>
              <a:gd name="adj" fmla="val 8974"/>
            </a:avLst>
          </a:prstGeom>
          <a:solidFill>
            <a:srgbClr val="EAF3F0"/>
          </a:solidFill>
          <a:ln w="12700">
            <a:solidFill>
              <a:srgbClr val="B8D8CE"/>
            </a:solidFill>
            <a:prstDash val="solid"/>
          </a:ln>
        </p:spPr>
      </p:sp>
      <p:sp>
        <p:nvSpPr>
          <p:cNvPr id="20" name="Text 18"/>
          <p:cNvSpPr txBox="1"/>
          <p:nvPr/>
        </p:nvSpPr>
        <p:spPr>
          <a:xfrm>
            <a:off x="4517136" y="2185416"/>
            <a:ext cx="365760" cy="402336"/>
          </a:xfrm>
          <a:prstGeom prst="rect">
            <a:avLst/>
          </a:prstGeom>
          <a:noFill/>
          <a:ln/>
        </p:spPr>
        <p:txBody>
          <a:bodyPr wrap="square" lIns="0" tIns="0" rIns="0" bIns="0" rtlCol="0" anchor="ctr"/>
          <a:lstStyle/>
          <a:p>
            <a:pPr algn="ctr" indent="0" marL="0">
              <a:buNone/>
            </a:pPr>
            <a:r>
              <a:rPr lang="en-US" sz="1900" b="1" dirty="0">
                <a:solidFill>
                  <a:srgbClr val="2E7D62"/>
                </a:solidFill>
              </a:rPr>
              <a:t>✓</a:t>
            </a:r>
            <a:endParaRPr lang="en-US" sz="1900" dirty="0"/>
          </a:p>
        </p:txBody>
      </p:sp>
      <p:sp>
        <p:nvSpPr>
          <p:cNvPr id="21" name="Text 19"/>
          <p:cNvSpPr txBox="1"/>
          <p:nvPr/>
        </p:nvSpPr>
        <p:spPr>
          <a:xfrm>
            <a:off x="4919472" y="2103120"/>
            <a:ext cx="640080" cy="274320"/>
          </a:xfrm>
          <a:prstGeom prst="rect">
            <a:avLst/>
          </a:prstGeom>
          <a:noFill/>
          <a:ln/>
        </p:spPr>
        <p:txBody>
          <a:bodyPr wrap="square" lIns="0" tIns="0" rIns="0" bIns="0" rtlCol="0" anchor="ctr"/>
          <a:lstStyle/>
          <a:p>
            <a:pPr indent="0" marL="0">
              <a:buNone/>
            </a:pPr>
            <a:r>
              <a:rPr lang="en-US" sz="1150" b="1" dirty="0">
                <a:solidFill>
                  <a:schemeClr val="accent6"/>
                </a:solidFill>
              </a:rPr>
              <a:t>O5</a:t>
            </a:r>
            <a:endParaRPr lang="en-US" sz="1150" dirty="0"/>
          </a:p>
        </p:txBody>
      </p:sp>
      <p:sp>
        <p:nvSpPr>
          <p:cNvPr id="22" name="Text 20"/>
          <p:cNvSpPr txBox="1"/>
          <p:nvPr/>
        </p:nvSpPr>
        <p:spPr>
          <a:xfrm>
            <a:off x="4919472" y="2340864"/>
            <a:ext cx="2761488" cy="347472"/>
          </a:xfrm>
          <a:prstGeom prst="rect">
            <a:avLst/>
          </a:prstGeom>
          <a:noFill/>
          <a:ln/>
        </p:spPr>
        <p:txBody>
          <a:bodyPr wrap="square" lIns="0" tIns="0" rIns="0" bIns="0" rtlCol="0" anchor="ctr"/>
          <a:lstStyle/>
          <a:p>
            <a:pPr indent="0" marL="0">
              <a:buNone/>
            </a:pPr>
            <a:r>
              <a:rPr lang="en-US" sz="1250" b="1" dirty="0">
                <a:solidFill>
                  <a:schemeClr val="tx2"/>
                </a:solidFill>
              </a:rPr>
              <a:t>Mobile money settlement</a:t>
            </a:r>
            <a:endParaRPr lang="en-US" sz="1250" dirty="0"/>
          </a:p>
        </p:txBody>
      </p:sp>
      <p:sp>
        <p:nvSpPr>
          <p:cNvPr id="23" name="res-5"/>
          <p:cNvSpPr/>
          <p:nvPr/>
        </p:nvSpPr>
        <p:spPr>
          <a:xfrm>
            <a:off x="8065008" y="2029968"/>
            <a:ext cx="3602736" cy="713232"/>
          </a:xfrm>
          <a:prstGeom prst="roundRect">
            <a:avLst>
              <a:gd name="adj" fmla="val 8974"/>
            </a:avLst>
          </a:prstGeom>
          <a:solidFill>
            <a:srgbClr val="EAF3F0"/>
          </a:solidFill>
          <a:ln w="12700">
            <a:solidFill>
              <a:srgbClr val="B8D8CE"/>
            </a:solidFill>
            <a:prstDash val="solid"/>
          </a:ln>
        </p:spPr>
      </p:sp>
      <p:sp>
        <p:nvSpPr>
          <p:cNvPr id="24" name="Text 22"/>
          <p:cNvSpPr txBox="1"/>
          <p:nvPr/>
        </p:nvSpPr>
        <p:spPr>
          <a:xfrm>
            <a:off x="8266176" y="2185416"/>
            <a:ext cx="365760" cy="402336"/>
          </a:xfrm>
          <a:prstGeom prst="rect">
            <a:avLst/>
          </a:prstGeom>
          <a:noFill/>
          <a:ln/>
        </p:spPr>
        <p:txBody>
          <a:bodyPr wrap="square" lIns="0" tIns="0" rIns="0" bIns="0" rtlCol="0" anchor="ctr"/>
          <a:lstStyle/>
          <a:p>
            <a:pPr algn="ctr" indent="0" marL="0">
              <a:buNone/>
            </a:pPr>
            <a:r>
              <a:rPr lang="en-US" sz="1900" b="1" dirty="0">
                <a:solidFill>
                  <a:srgbClr val="2E7D62"/>
                </a:solidFill>
              </a:rPr>
              <a:t>✓</a:t>
            </a:r>
            <a:endParaRPr lang="en-US" sz="1900" dirty="0"/>
          </a:p>
        </p:txBody>
      </p:sp>
      <p:sp>
        <p:nvSpPr>
          <p:cNvPr id="25" name="Text 23"/>
          <p:cNvSpPr txBox="1"/>
          <p:nvPr/>
        </p:nvSpPr>
        <p:spPr>
          <a:xfrm>
            <a:off x="8668512" y="2103120"/>
            <a:ext cx="640080" cy="274320"/>
          </a:xfrm>
          <a:prstGeom prst="rect">
            <a:avLst/>
          </a:prstGeom>
          <a:noFill/>
          <a:ln/>
        </p:spPr>
        <p:txBody>
          <a:bodyPr wrap="square" lIns="0" tIns="0" rIns="0" bIns="0" rtlCol="0" anchor="ctr"/>
          <a:lstStyle/>
          <a:p>
            <a:pPr indent="0" marL="0">
              <a:buNone/>
            </a:pPr>
            <a:r>
              <a:rPr lang="en-US" sz="1150" b="1" dirty="0">
                <a:solidFill>
                  <a:schemeClr val="accent6"/>
                </a:solidFill>
              </a:rPr>
              <a:t>O6</a:t>
            </a:r>
            <a:endParaRPr lang="en-US" sz="1150" dirty="0"/>
          </a:p>
        </p:txBody>
      </p:sp>
      <p:sp>
        <p:nvSpPr>
          <p:cNvPr id="26" name="Text 24"/>
          <p:cNvSpPr txBox="1"/>
          <p:nvPr/>
        </p:nvSpPr>
        <p:spPr>
          <a:xfrm>
            <a:off x="8668512" y="2340864"/>
            <a:ext cx="2761488" cy="347472"/>
          </a:xfrm>
          <a:prstGeom prst="rect">
            <a:avLst/>
          </a:prstGeom>
          <a:noFill/>
          <a:ln/>
        </p:spPr>
        <p:txBody>
          <a:bodyPr wrap="square" lIns="0" tIns="0" rIns="0" bIns="0" rtlCol="0" anchor="ctr"/>
          <a:lstStyle/>
          <a:p>
            <a:pPr indent="0" marL="0">
              <a:buNone/>
            </a:pPr>
            <a:r>
              <a:rPr lang="en-US" sz="1250" b="1" dirty="0">
                <a:solidFill>
                  <a:schemeClr val="tx2"/>
                </a:solidFill>
              </a:rPr>
              <a:t>Paid content access control</a:t>
            </a:r>
            <a:endParaRPr lang="en-US" sz="1250" dirty="0"/>
          </a:p>
        </p:txBody>
      </p:sp>
      <p:sp>
        <p:nvSpPr>
          <p:cNvPr id="27" name="res-6"/>
          <p:cNvSpPr/>
          <p:nvPr/>
        </p:nvSpPr>
        <p:spPr>
          <a:xfrm>
            <a:off x="566928" y="2871216"/>
            <a:ext cx="3602736" cy="713232"/>
          </a:xfrm>
          <a:prstGeom prst="roundRect">
            <a:avLst>
              <a:gd name="adj" fmla="val 8974"/>
            </a:avLst>
          </a:prstGeom>
          <a:solidFill>
            <a:srgbClr val="EAF3F0"/>
          </a:solidFill>
          <a:ln w="12700">
            <a:solidFill>
              <a:srgbClr val="B8D8CE"/>
            </a:solidFill>
            <a:prstDash val="solid"/>
          </a:ln>
        </p:spPr>
      </p:sp>
      <p:sp>
        <p:nvSpPr>
          <p:cNvPr id="28" name="Text 26"/>
          <p:cNvSpPr txBox="1"/>
          <p:nvPr/>
        </p:nvSpPr>
        <p:spPr>
          <a:xfrm>
            <a:off x="768096" y="3026664"/>
            <a:ext cx="365760" cy="402336"/>
          </a:xfrm>
          <a:prstGeom prst="rect">
            <a:avLst/>
          </a:prstGeom>
          <a:noFill/>
          <a:ln/>
        </p:spPr>
        <p:txBody>
          <a:bodyPr wrap="square" lIns="0" tIns="0" rIns="0" bIns="0" rtlCol="0" anchor="ctr"/>
          <a:lstStyle/>
          <a:p>
            <a:pPr algn="ctr" indent="0" marL="0">
              <a:buNone/>
            </a:pPr>
            <a:r>
              <a:rPr lang="en-US" sz="1900" b="1" dirty="0">
                <a:solidFill>
                  <a:srgbClr val="2E7D62"/>
                </a:solidFill>
              </a:rPr>
              <a:t>✓</a:t>
            </a:r>
            <a:endParaRPr lang="en-US" sz="1900" dirty="0"/>
          </a:p>
        </p:txBody>
      </p:sp>
      <p:sp>
        <p:nvSpPr>
          <p:cNvPr id="29" name="Text 27"/>
          <p:cNvSpPr txBox="1"/>
          <p:nvPr/>
        </p:nvSpPr>
        <p:spPr>
          <a:xfrm>
            <a:off x="1170432" y="2944368"/>
            <a:ext cx="640080" cy="274320"/>
          </a:xfrm>
          <a:prstGeom prst="rect">
            <a:avLst/>
          </a:prstGeom>
          <a:noFill/>
          <a:ln/>
        </p:spPr>
        <p:txBody>
          <a:bodyPr wrap="square" lIns="0" tIns="0" rIns="0" bIns="0" rtlCol="0" anchor="ctr"/>
          <a:lstStyle/>
          <a:p>
            <a:pPr indent="0" marL="0">
              <a:buNone/>
            </a:pPr>
            <a:r>
              <a:rPr lang="en-US" sz="1150" b="1" dirty="0">
                <a:solidFill>
                  <a:schemeClr val="accent6"/>
                </a:solidFill>
              </a:rPr>
              <a:t>O7</a:t>
            </a:r>
            <a:endParaRPr lang="en-US" sz="1150" dirty="0"/>
          </a:p>
        </p:txBody>
      </p:sp>
      <p:sp>
        <p:nvSpPr>
          <p:cNvPr id="30" name="Text 28"/>
          <p:cNvSpPr txBox="1"/>
          <p:nvPr/>
        </p:nvSpPr>
        <p:spPr>
          <a:xfrm>
            <a:off x="1170432" y="3182112"/>
            <a:ext cx="2761488" cy="347472"/>
          </a:xfrm>
          <a:prstGeom prst="rect">
            <a:avLst/>
          </a:prstGeom>
          <a:noFill/>
          <a:ln/>
        </p:spPr>
        <p:txBody>
          <a:bodyPr wrap="square" lIns="0" tIns="0" rIns="0" bIns="0" rtlCol="0" anchor="ctr"/>
          <a:lstStyle/>
          <a:p>
            <a:pPr indent="0" marL="0">
              <a:buNone/>
            </a:pPr>
            <a:r>
              <a:rPr lang="en-US" sz="1250" b="1" dirty="0">
                <a:solidFill>
                  <a:schemeClr val="tx2"/>
                </a:solidFill>
              </a:rPr>
              <a:t>Constrained-network usability</a:t>
            </a:r>
            <a:endParaRPr lang="en-US" sz="1250" dirty="0"/>
          </a:p>
        </p:txBody>
      </p:sp>
      <p:sp>
        <p:nvSpPr>
          <p:cNvPr id="31" name="res-7"/>
          <p:cNvSpPr/>
          <p:nvPr/>
        </p:nvSpPr>
        <p:spPr>
          <a:xfrm>
            <a:off x="4315968" y="2871216"/>
            <a:ext cx="3602736" cy="713232"/>
          </a:xfrm>
          <a:prstGeom prst="roundRect">
            <a:avLst>
              <a:gd name="adj" fmla="val 8974"/>
            </a:avLst>
          </a:prstGeom>
          <a:solidFill>
            <a:srgbClr val="EAF3F0"/>
          </a:solidFill>
          <a:ln w="12700">
            <a:solidFill>
              <a:srgbClr val="B8D8CE"/>
            </a:solidFill>
            <a:prstDash val="solid"/>
          </a:ln>
        </p:spPr>
      </p:sp>
      <p:sp>
        <p:nvSpPr>
          <p:cNvPr id="32" name="Text 30"/>
          <p:cNvSpPr txBox="1"/>
          <p:nvPr/>
        </p:nvSpPr>
        <p:spPr>
          <a:xfrm>
            <a:off x="4517136" y="3026664"/>
            <a:ext cx="365760" cy="402336"/>
          </a:xfrm>
          <a:prstGeom prst="rect">
            <a:avLst/>
          </a:prstGeom>
          <a:noFill/>
          <a:ln/>
        </p:spPr>
        <p:txBody>
          <a:bodyPr wrap="square" lIns="0" tIns="0" rIns="0" bIns="0" rtlCol="0" anchor="ctr"/>
          <a:lstStyle/>
          <a:p>
            <a:pPr algn="ctr" indent="0" marL="0">
              <a:buNone/>
            </a:pPr>
            <a:r>
              <a:rPr lang="en-US" sz="1900" b="1" dirty="0">
                <a:solidFill>
                  <a:srgbClr val="2E7D62"/>
                </a:solidFill>
              </a:rPr>
              <a:t>✓</a:t>
            </a:r>
            <a:endParaRPr lang="en-US" sz="1900" dirty="0"/>
          </a:p>
        </p:txBody>
      </p:sp>
      <p:sp>
        <p:nvSpPr>
          <p:cNvPr id="33" name="Text 31"/>
          <p:cNvSpPr txBox="1"/>
          <p:nvPr/>
        </p:nvSpPr>
        <p:spPr>
          <a:xfrm>
            <a:off x="4919472" y="2944368"/>
            <a:ext cx="640080" cy="274320"/>
          </a:xfrm>
          <a:prstGeom prst="rect">
            <a:avLst/>
          </a:prstGeom>
          <a:noFill/>
          <a:ln/>
        </p:spPr>
        <p:txBody>
          <a:bodyPr wrap="square" lIns="0" tIns="0" rIns="0" bIns="0" rtlCol="0" anchor="ctr"/>
          <a:lstStyle/>
          <a:p>
            <a:pPr indent="0" marL="0">
              <a:buNone/>
            </a:pPr>
            <a:r>
              <a:rPr lang="en-US" sz="1150" b="1" dirty="0">
                <a:solidFill>
                  <a:schemeClr val="accent6"/>
                </a:solidFill>
              </a:rPr>
              <a:t>O8</a:t>
            </a:r>
            <a:endParaRPr lang="en-US" sz="1150" dirty="0"/>
          </a:p>
        </p:txBody>
      </p:sp>
      <p:sp>
        <p:nvSpPr>
          <p:cNvPr id="34" name="Text 32"/>
          <p:cNvSpPr txBox="1"/>
          <p:nvPr/>
        </p:nvSpPr>
        <p:spPr>
          <a:xfrm>
            <a:off x="4919472" y="3182112"/>
            <a:ext cx="2761488" cy="347472"/>
          </a:xfrm>
          <a:prstGeom prst="rect">
            <a:avLst/>
          </a:prstGeom>
          <a:noFill/>
          <a:ln/>
        </p:spPr>
        <p:txBody>
          <a:bodyPr wrap="square" lIns="0" tIns="0" rIns="0" bIns="0" rtlCol="0" anchor="ctr"/>
          <a:lstStyle/>
          <a:p>
            <a:pPr indent="0" marL="0">
              <a:buNone/>
            </a:pPr>
            <a:r>
              <a:rPr lang="en-US" sz="1250" b="1" dirty="0">
                <a:solidFill>
                  <a:schemeClr val="tx2"/>
                </a:solidFill>
              </a:rPr>
              <a:t>English and French</a:t>
            </a:r>
            <a:endParaRPr lang="en-US" sz="1250" dirty="0"/>
          </a:p>
        </p:txBody>
      </p:sp>
      <p:sp>
        <p:nvSpPr>
          <p:cNvPr id="35" name="res-8"/>
          <p:cNvSpPr/>
          <p:nvPr/>
        </p:nvSpPr>
        <p:spPr>
          <a:xfrm>
            <a:off x="8065008" y="2871216"/>
            <a:ext cx="3602736" cy="713232"/>
          </a:xfrm>
          <a:prstGeom prst="roundRect">
            <a:avLst>
              <a:gd name="adj" fmla="val 8974"/>
            </a:avLst>
          </a:prstGeom>
          <a:solidFill>
            <a:srgbClr val="FDF3E8"/>
          </a:solidFill>
          <a:ln w="12700">
            <a:solidFill>
              <a:srgbClr val="E8C9A0"/>
            </a:solidFill>
            <a:prstDash val="solid"/>
          </a:ln>
        </p:spPr>
      </p:sp>
      <p:sp>
        <p:nvSpPr>
          <p:cNvPr id="36" name="Text 34"/>
          <p:cNvSpPr txBox="1"/>
          <p:nvPr/>
        </p:nvSpPr>
        <p:spPr>
          <a:xfrm>
            <a:off x="8266176" y="3026664"/>
            <a:ext cx="365760" cy="402336"/>
          </a:xfrm>
          <a:prstGeom prst="rect">
            <a:avLst/>
          </a:prstGeom>
          <a:noFill/>
          <a:ln/>
        </p:spPr>
        <p:txBody>
          <a:bodyPr wrap="square" lIns="0" tIns="0" rIns="0" bIns="0" rtlCol="0" anchor="ctr"/>
          <a:lstStyle/>
          <a:p>
            <a:pPr algn="ctr" indent="0" marL="0">
              <a:buNone/>
            </a:pPr>
            <a:r>
              <a:rPr lang="en-US" sz="1900" b="1" dirty="0">
                <a:solidFill>
                  <a:srgbClr val="C77C1E"/>
                </a:solidFill>
              </a:rPr>
              <a:t>•</a:t>
            </a:r>
            <a:endParaRPr lang="en-US" sz="1900" dirty="0"/>
          </a:p>
        </p:txBody>
      </p:sp>
      <p:sp>
        <p:nvSpPr>
          <p:cNvPr id="37" name="Text 35"/>
          <p:cNvSpPr txBox="1"/>
          <p:nvPr/>
        </p:nvSpPr>
        <p:spPr>
          <a:xfrm>
            <a:off x="8668512" y="2944368"/>
            <a:ext cx="640080" cy="274320"/>
          </a:xfrm>
          <a:prstGeom prst="rect">
            <a:avLst/>
          </a:prstGeom>
          <a:noFill/>
          <a:ln/>
        </p:spPr>
        <p:txBody>
          <a:bodyPr wrap="square" lIns="0" tIns="0" rIns="0" bIns="0" rtlCol="0" anchor="ctr"/>
          <a:lstStyle/>
          <a:p>
            <a:pPr indent="0" marL="0">
              <a:buNone/>
            </a:pPr>
            <a:r>
              <a:rPr lang="en-US" sz="1150" b="1" dirty="0">
                <a:solidFill>
                  <a:schemeClr val="accent6"/>
                </a:solidFill>
              </a:rPr>
              <a:t>O9</a:t>
            </a:r>
            <a:endParaRPr lang="en-US" sz="1150" dirty="0"/>
          </a:p>
        </p:txBody>
      </p:sp>
      <p:sp>
        <p:nvSpPr>
          <p:cNvPr id="38" name="Text 36"/>
          <p:cNvSpPr txBox="1"/>
          <p:nvPr/>
        </p:nvSpPr>
        <p:spPr>
          <a:xfrm>
            <a:off x="8668512" y="3182112"/>
            <a:ext cx="2761488" cy="347472"/>
          </a:xfrm>
          <a:prstGeom prst="rect">
            <a:avLst/>
          </a:prstGeom>
          <a:noFill/>
          <a:ln/>
        </p:spPr>
        <p:txBody>
          <a:bodyPr wrap="square" lIns="0" tIns="0" rIns="0" bIns="0" rtlCol="0" anchor="ctr"/>
          <a:lstStyle/>
          <a:p>
            <a:pPr indent="0" marL="0">
              <a:buNone/>
            </a:pPr>
            <a:r>
              <a:rPr lang="en-US" sz="1250" b="1" dirty="0">
                <a:solidFill>
                  <a:schemeClr val="tx2"/>
                </a:solidFill>
              </a:rPr>
              <a:t>Deploy and validate</a:t>
            </a:r>
            <a:endParaRPr lang="en-US" sz="1250" dirty="0"/>
          </a:p>
        </p:txBody>
      </p:sp>
      <p:sp>
        <p:nvSpPr>
          <p:cNvPr id="39" name="Text 37"/>
          <p:cNvSpPr txBox="1"/>
          <p:nvPr/>
        </p:nvSpPr>
        <p:spPr>
          <a:xfrm>
            <a:off x="566928" y="3749040"/>
            <a:ext cx="11027664" cy="502920"/>
          </a:xfrm>
          <a:prstGeom prst="rect">
            <a:avLst/>
          </a:prstGeom>
          <a:noFill/>
          <a:ln/>
        </p:spPr>
        <p:txBody>
          <a:bodyPr wrap="square" rtlCol="0" anchor="ctr"/>
          <a:lstStyle/>
          <a:p>
            <a:pPr indent="0" marL="0">
              <a:lnSpc>
                <a:spcPts val="1700"/>
              </a:lnSpc>
              <a:buNone/>
            </a:pPr>
            <a:r>
              <a:rPr lang="en-US" sz="1250" i="1" dirty="0">
                <a:solidFill>
                  <a:schemeClr val="accent3"/>
                </a:solidFill>
              </a:rPr>
              <a:t>O9 is claimed only in part: the system is publicly deployed and validated against the stated requirements by structured manual testing, but validation did not include a formal user evaluation. That is a shortfall in evidence, not in the deployment.</a:t>
            </a:r>
            <a:endParaRPr lang="en-US" sz="1250" dirty="0"/>
          </a:p>
        </p:txBody>
      </p:sp>
      <p:sp>
        <p:nvSpPr>
          <p:cNvPr id="40" name="Text 38"/>
          <p:cNvSpPr txBox="1"/>
          <p:nvPr/>
        </p:nvSpPr>
        <p:spPr>
          <a:xfrm>
            <a:off x="566928" y="4389120"/>
            <a:ext cx="11027664" cy="320040"/>
          </a:xfrm>
          <a:prstGeom prst="rect">
            <a:avLst/>
          </a:prstGeom>
          <a:noFill/>
          <a:ln/>
        </p:spPr>
        <p:txBody>
          <a:bodyPr wrap="square" rtlCol="0" anchor="ctr"/>
          <a:lstStyle/>
          <a:p>
            <a:pPr indent="0" marL="0">
              <a:buNone/>
            </a:pPr>
            <a:r>
              <a:rPr lang="en-US" sz="1400" b="1" dirty="0">
                <a:solidFill>
                  <a:schemeClr val="tx2"/>
                </a:solidFill>
              </a:rPr>
              <a:t>Measured, not estimated</a:t>
            </a:r>
            <a:endParaRPr lang="en-US" sz="1400" dirty="0"/>
          </a:p>
        </p:txBody>
      </p:sp>
      <p:sp>
        <p:nvSpPr>
          <p:cNvPr id="41" name="Text 39"/>
          <p:cNvSpPr txBox="1"/>
          <p:nvPr/>
        </p:nvSpPr>
        <p:spPr>
          <a:xfrm>
            <a:off x="566928" y="4800600"/>
            <a:ext cx="1746504" cy="713232"/>
          </a:xfrm>
          <a:prstGeom prst="rect">
            <a:avLst/>
          </a:prstGeom>
          <a:noFill/>
          <a:ln/>
        </p:spPr>
        <p:txBody>
          <a:bodyPr wrap="square" lIns="0" tIns="0" rIns="0" bIns="0" rtlCol="0" anchor="ctr"/>
          <a:lstStyle/>
          <a:p>
            <a:pPr algn="ctr" indent="0" marL="0">
              <a:buNone/>
            </a:pPr>
            <a:r>
              <a:rPr lang="en-US" sz="4000" b="1" dirty="0">
                <a:solidFill>
                  <a:schemeClr val="accent1"/>
                </a:solidFill>
              </a:rPr>
              <a:t>20,700</a:t>
            </a:r>
            <a:endParaRPr lang="en-US" sz="4000" dirty="0"/>
          </a:p>
        </p:txBody>
      </p:sp>
      <p:sp>
        <p:nvSpPr>
          <p:cNvPr id="42" name="Text 40"/>
          <p:cNvSpPr txBox="1"/>
          <p:nvPr/>
        </p:nvSpPr>
        <p:spPr>
          <a:xfrm>
            <a:off x="566928" y="5495544"/>
            <a:ext cx="1746504" cy="457200"/>
          </a:xfrm>
          <a:prstGeom prst="rect">
            <a:avLst/>
          </a:prstGeom>
          <a:noFill/>
          <a:ln/>
        </p:spPr>
        <p:txBody>
          <a:bodyPr wrap="square" lIns="0" tIns="0" rIns="0" bIns="0" rtlCol="0" anchor="ctr"/>
          <a:lstStyle/>
          <a:p>
            <a:pPr algn="ctr" indent="0" marL="0">
              <a:buNone/>
            </a:pPr>
            <a:r>
              <a:rPr lang="en-US" sz="1100" dirty="0">
                <a:solidFill>
                  <a:schemeClr val="accent6"/>
                </a:solidFill>
              </a:rPr>
              <a:t>lines of source</a:t>
            </a:r>
            <a:endParaRPr lang="en-US" sz="1100" dirty="0"/>
          </a:p>
        </p:txBody>
      </p:sp>
      <p:sp>
        <p:nvSpPr>
          <p:cNvPr id="43" name="Text 41"/>
          <p:cNvSpPr txBox="1"/>
          <p:nvPr/>
        </p:nvSpPr>
        <p:spPr>
          <a:xfrm>
            <a:off x="2404872" y="4800600"/>
            <a:ext cx="1746504" cy="713232"/>
          </a:xfrm>
          <a:prstGeom prst="rect">
            <a:avLst/>
          </a:prstGeom>
          <a:noFill/>
          <a:ln/>
        </p:spPr>
        <p:txBody>
          <a:bodyPr wrap="square" lIns="0" tIns="0" rIns="0" bIns="0" rtlCol="0" anchor="ctr"/>
          <a:lstStyle/>
          <a:p>
            <a:pPr algn="ctr" indent="0" marL="0">
              <a:buNone/>
            </a:pPr>
            <a:r>
              <a:rPr lang="en-US" sz="4000" b="1" dirty="0">
                <a:solidFill>
                  <a:schemeClr val="accent1"/>
                </a:solidFill>
              </a:rPr>
              <a:t>88</a:t>
            </a:r>
            <a:endParaRPr lang="en-US" sz="4000" dirty="0"/>
          </a:p>
        </p:txBody>
      </p:sp>
      <p:sp>
        <p:nvSpPr>
          <p:cNvPr id="44" name="Text 42"/>
          <p:cNvSpPr txBox="1"/>
          <p:nvPr/>
        </p:nvSpPr>
        <p:spPr>
          <a:xfrm>
            <a:off x="2404872" y="5495544"/>
            <a:ext cx="1746504" cy="457200"/>
          </a:xfrm>
          <a:prstGeom prst="rect">
            <a:avLst/>
          </a:prstGeom>
          <a:noFill/>
          <a:ln/>
        </p:spPr>
        <p:txBody>
          <a:bodyPr wrap="square" lIns="0" tIns="0" rIns="0" bIns="0" rtlCol="0" anchor="ctr"/>
          <a:lstStyle/>
          <a:p>
            <a:pPr algn="ctr" indent="0" marL="0">
              <a:buNone/>
            </a:pPr>
            <a:r>
              <a:rPr lang="en-US" sz="1100" dirty="0">
                <a:solidFill>
                  <a:schemeClr val="accent6"/>
                </a:solidFill>
              </a:rPr>
              <a:t>REST endpoints</a:t>
            </a:r>
            <a:endParaRPr lang="en-US" sz="1100" dirty="0"/>
          </a:p>
        </p:txBody>
      </p:sp>
      <p:sp>
        <p:nvSpPr>
          <p:cNvPr id="45" name="Text 43"/>
          <p:cNvSpPr txBox="1"/>
          <p:nvPr/>
        </p:nvSpPr>
        <p:spPr>
          <a:xfrm>
            <a:off x="4242816" y="4800600"/>
            <a:ext cx="1746504" cy="713232"/>
          </a:xfrm>
          <a:prstGeom prst="rect">
            <a:avLst/>
          </a:prstGeom>
          <a:noFill/>
          <a:ln/>
        </p:spPr>
        <p:txBody>
          <a:bodyPr wrap="square" lIns="0" tIns="0" rIns="0" bIns="0" rtlCol="0" anchor="ctr"/>
          <a:lstStyle/>
          <a:p>
            <a:pPr algn="ctr" indent="0" marL="0">
              <a:buNone/>
            </a:pPr>
            <a:r>
              <a:rPr lang="en-US" sz="4000" b="1" dirty="0">
                <a:solidFill>
                  <a:schemeClr val="accent1"/>
                </a:solidFill>
              </a:rPr>
              <a:t>25</a:t>
            </a:r>
            <a:endParaRPr lang="en-US" sz="4000" dirty="0"/>
          </a:p>
        </p:txBody>
      </p:sp>
      <p:sp>
        <p:nvSpPr>
          <p:cNvPr id="46" name="Text 44"/>
          <p:cNvSpPr txBox="1"/>
          <p:nvPr/>
        </p:nvSpPr>
        <p:spPr>
          <a:xfrm>
            <a:off x="4242816" y="5495544"/>
            <a:ext cx="1746504" cy="457200"/>
          </a:xfrm>
          <a:prstGeom prst="rect">
            <a:avLst/>
          </a:prstGeom>
          <a:noFill/>
          <a:ln/>
        </p:spPr>
        <p:txBody>
          <a:bodyPr wrap="square" lIns="0" tIns="0" rIns="0" bIns="0" rtlCol="0" anchor="ctr"/>
          <a:lstStyle/>
          <a:p>
            <a:pPr algn="ctr" indent="0" marL="0">
              <a:buNone/>
            </a:pPr>
            <a:r>
              <a:rPr lang="en-US" sz="1100" dirty="0">
                <a:solidFill>
                  <a:schemeClr val="accent6"/>
                </a:solidFill>
              </a:rPr>
              <a:t>database tables</a:t>
            </a:r>
            <a:endParaRPr lang="en-US" sz="1100" dirty="0"/>
          </a:p>
        </p:txBody>
      </p:sp>
      <p:sp>
        <p:nvSpPr>
          <p:cNvPr id="47" name="Text 45"/>
          <p:cNvSpPr txBox="1"/>
          <p:nvPr/>
        </p:nvSpPr>
        <p:spPr>
          <a:xfrm>
            <a:off x="6080760" y="4800600"/>
            <a:ext cx="1746504" cy="713232"/>
          </a:xfrm>
          <a:prstGeom prst="rect">
            <a:avLst/>
          </a:prstGeom>
          <a:noFill/>
          <a:ln/>
        </p:spPr>
        <p:txBody>
          <a:bodyPr wrap="square" lIns="0" tIns="0" rIns="0" bIns="0" rtlCol="0" anchor="ctr"/>
          <a:lstStyle/>
          <a:p>
            <a:pPr algn="ctr" indent="0" marL="0">
              <a:buNone/>
            </a:pPr>
            <a:r>
              <a:rPr lang="en-US" sz="4000" b="1" dirty="0">
                <a:solidFill>
                  <a:schemeClr val="accent1"/>
                </a:solidFill>
              </a:rPr>
              <a:t>1,228</a:t>
            </a:r>
            <a:endParaRPr lang="en-US" sz="4000" dirty="0"/>
          </a:p>
        </p:txBody>
      </p:sp>
      <p:sp>
        <p:nvSpPr>
          <p:cNvPr id="48" name="Text 46"/>
          <p:cNvSpPr txBox="1"/>
          <p:nvPr/>
        </p:nvSpPr>
        <p:spPr>
          <a:xfrm>
            <a:off x="6080760" y="5495544"/>
            <a:ext cx="1746504" cy="457200"/>
          </a:xfrm>
          <a:prstGeom prst="rect">
            <a:avLst/>
          </a:prstGeom>
          <a:noFill/>
          <a:ln/>
        </p:spPr>
        <p:txBody>
          <a:bodyPr wrap="square" lIns="0" tIns="0" rIns="0" bIns="0" rtlCol="0" anchor="ctr"/>
          <a:lstStyle/>
          <a:p>
            <a:pPr algn="ctr" indent="0" marL="0">
              <a:buNone/>
            </a:pPr>
            <a:r>
              <a:rPr lang="en-US" sz="1100" dirty="0">
                <a:solidFill>
                  <a:schemeClr val="accent6"/>
                </a:solidFill>
              </a:rPr>
              <a:t>keys per language</a:t>
            </a:r>
            <a:endParaRPr lang="en-US" sz="1100" dirty="0"/>
          </a:p>
        </p:txBody>
      </p:sp>
      <p:sp>
        <p:nvSpPr>
          <p:cNvPr id="49" name="Text 47"/>
          <p:cNvSpPr txBox="1"/>
          <p:nvPr/>
        </p:nvSpPr>
        <p:spPr>
          <a:xfrm>
            <a:off x="7918704" y="4800600"/>
            <a:ext cx="1746504" cy="713232"/>
          </a:xfrm>
          <a:prstGeom prst="rect">
            <a:avLst/>
          </a:prstGeom>
          <a:noFill/>
          <a:ln/>
        </p:spPr>
        <p:txBody>
          <a:bodyPr wrap="square" lIns="0" tIns="0" rIns="0" bIns="0" rtlCol="0" anchor="ctr"/>
          <a:lstStyle/>
          <a:p>
            <a:pPr algn="ctr" indent="0" marL="0">
              <a:buNone/>
            </a:pPr>
            <a:r>
              <a:rPr lang="en-US" sz="4000" b="1" dirty="0">
                <a:solidFill>
                  <a:schemeClr val="accent1"/>
                </a:solidFill>
              </a:rPr>
              <a:t>65</a:t>
            </a:r>
            <a:endParaRPr lang="en-US" sz="4000" dirty="0"/>
          </a:p>
        </p:txBody>
      </p:sp>
      <p:sp>
        <p:nvSpPr>
          <p:cNvPr id="50" name="Text 48"/>
          <p:cNvSpPr txBox="1"/>
          <p:nvPr/>
        </p:nvSpPr>
        <p:spPr>
          <a:xfrm>
            <a:off x="7918704" y="5495544"/>
            <a:ext cx="1746504" cy="457200"/>
          </a:xfrm>
          <a:prstGeom prst="rect">
            <a:avLst/>
          </a:prstGeom>
          <a:noFill/>
          <a:ln/>
        </p:spPr>
        <p:txBody>
          <a:bodyPr wrap="square" lIns="0" tIns="0" rIns="0" bIns="0" rtlCol="0" anchor="ctr"/>
          <a:lstStyle/>
          <a:p>
            <a:pPr algn="ctr" indent="0" marL="0">
              <a:buNone/>
            </a:pPr>
            <a:r>
              <a:rPr lang="en-US" sz="1100" dirty="0">
                <a:solidFill>
                  <a:schemeClr val="accent6"/>
                </a:solidFill>
              </a:rPr>
              <a:t>commits</a:t>
            </a:r>
            <a:endParaRPr lang="en-US" sz="1100" dirty="0"/>
          </a:p>
        </p:txBody>
      </p:sp>
      <p:sp>
        <p:nvSpPr>
          <p:cNvPr id="51" name="Text 49"/>
          <p:cNvSpPr txBox="1"/>
          <p:nvPr/>
        </p:nvSpPr>
        <p:spPr>
          <a:xfrm>
            <a:off x="9756648" y="4800600"/>
            <a:ext cx="1746504" cy="713232"/>
          </a:xfrm>
          <a:prstGeom prst="rect">
            <a:avLst/>
          </a:prstGeom>
          <a:noFill/>
          <a:ln/>
        </p:spPr>
        <p:txBody>
          <a:bodyPr wrap="square" lIns="0" tIns="0" rIns="0" bIns="0" rtlCol="0" anchor="ctr"/>
          <a:lstStyle/>
          <a:p>
            <a:pPr algn="ctr" indent="0" marL="0">
              <a:buNone/>
            </a:pPr>
            <a:r>
              <a:rPr lang="en-US" sz="4000" b="1" dirty="0">
                <a:solidFill>
                  <a:schemeClr val="accent1"/>
                </a:solidFill>
              </a:rPr>
              <a:t>6</a:t>
            </a:r>
            <a:endParaRPr lang="en-US" sz="4000" dirty="0"/>
          </a:p>
        </p:txBody>
      </p:sp>
      <p:sp>
        <p:nvSpPr>
          <p:cNvPr id="52" name="Text 50"/>
          <p:cNvSpPr txBox="1"/>
          <p:nvPr/>
        </p:nvSpPr>
        <p:spPr>
          <a:xfrm>
            <a:off x="9756648" y="5495544"/>
            <a:ext cx="1746504" cy="457200"/>
          </a:xfrm>
          <a:prstGeom prst="rect">
            <a:avLst/>
          </a:prstGeom>
          <a:noFill/>
          <a:ln/>
        </p:spPr>
        <p:txBody>
          <a:bodyPr wrap="square" lIns="0" tIns="0" rIns="0" bIns="0" rtlCol="0" anchor="ctr"/>
          <a:lstStyle/>
          <a:p>
            <a:pPr algn="ctr" indent="0" marL="0">
              <a:buNone/>
            </a:pPr>
            <a:r>
              <a:rPr lang="en-US" sz="1100" dirty="0">
                <a:solidFill>
                  <a:schemeClr val="accent6"/>
                </a:solidFill>
              </a:rPr>
              <a:t>migrations</a:t>
            </a:r>
            <a:endParaRPr lang="en-US" sz="1100" dirty="0"/>
          </a:p>
        </p:txBody>
      </p:sp>
      <p:sp>
        <p:nvSpPr>
          <p:cNvPr id="53" name="Text 51"/>
          <p:cNvSpPr txBox="1"/>
          <p:nvPr/>
        </p:nvSpPr>
        <p:spPr>
          <a:xfrm>
            <a:off x="566928" y="5943600"/>
            <a:ext cx="11027664" cy="320040"/>
          </a:xfrm>
          <a:prstGeom prst="rect">
            <a:avLst/>
          </a:prstGeom>
          <a:noFill/>
          <a:ln/>
        </p:spPr>
        <p:txBody>
          <a:bodyPr wrap="square" rtlCol="0" anchor="ctr"/>
          <a:lstStyle/>
          <a:p>
            <a:pPr indent="0" marL="0">
              <a:buNone/>
            </a:pPr>
            <a:r>
              <a:rPr lang="en-US" sz="1150" i="1" dirty="0">
                <a:solidFill>
                  <a:schemeClr val="accent6"/>
                </a:solidFill>
              </a:rPr>
              <a:t>Every figure counted from the repository at the final commit. The only performance measurement quoted anywhere is the download result on the previous slide.</a:t>
            </a:r>
            <a:endParaRPr lang="en-US" sz="1150" dirty="0"/>
          </a:p>
        </p:txBody>
      </p:sp>
      <p:sp>
        <p:nvSpPr>
          <p:cNvPr id="25" name="Slide Number Placeholder 0"/>
          <p:cNvSpPr>
            <a:spLocks noGrp="1"/>
          </p:cNvSpPr>
          <p:nvPr>
            <p:ph type="sldNum" sz="quarter" idx="4294967295"/>
          </p:nvPr>
        </p:nvSpPr>
        <p:spPr>
          <a:xfrm>
            <a:off x="11430000" y="6327648"/>
            <a:ext cx="45720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64748B"/>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66928" y="384048"/>
            <a:ext cx="11027664" cy="713232"/>
          </a:xfrm>
          <a:prstGeom prst="rect">
            <a:avLst/>
          </a:prstGeom>
          <a:noFill/>
          <a:ln/>
        </p:spPr>
        <p:txBody>
          <a:bodyPr wrap="square" rtlCol="0"/>
          <a:lstStyle/>
          <a:p>
            <a:pPr indent="0" marL="0">
              <a:buNone/>
            </a:pPr>
            <a:r>
              <a:rPr lang="en-US" sz="3200" b="1" dirty="0">
                <a:solidFill>
                  <a:srgbClr val="0F3057"/>
                </a:solidFill>
              </a:rPr>
              <a:t>What this project does not demonstrate</a:t>
            </a:r>
            <a:endParaRPr lang="en-US" sz="3200" dirty="0"/>
          </a:p>
        </p:txBody>
      </p:sp>
      <p:sp>
        <p:nvSpPr>
          <p:cNvPr id="3" name="lim-0"/>
          <p:cNvSpPr/>
          <p:nvPr/>
        </p:nvSpPr>
        <p:spPr>
          <a:xfrm>
            <a:off x="566928" y="1188720"/>
            <a:ext cx="3584448" cy="3931920"/>
          </a:xfrm>
          <a:prstGeom prst="roundRect">
            <a:avLst>
              <a:gd name="adj" fmla="val 1786"/>
            </a:avLst>
          </a:prstGeom>
          <a:solidFill>
            <a:srgbClr val="FFFFFF"/>
          </a:solidFill>
          <a:ln w="12700">
            <a:solidFill>
              <a:srgbClr val="DCE5EF"/>
            </a:solidFill>
            <a:prstDash val="solid"/>
          </a:ln>
          <a:effectLst>
            <a:outerShdw sx="100000" sy="100000" kx="0" ky="0" algn="bl" rotWithShape="0" blurRad="127000" dist="25400" dir="5400000">
              <a:srgbClr val="0F3057">
                <a:alpha val="10000"/>
              </a:srgbClr>
            </a:outerShdw>
          </a:effectLst>
        </p:spPr>
      </p:sp>
      <p:sp>
        <p:nvSpPr>
          <p:cNvPr id="4" name="limmark-0"/>
          <p:cNvSpPr/>
          <p:nvPr/>
        </p:nvSpPr>
        <p:spPr>
          <a:xfrm>
            <a:off x="841248" y="1417320"/>
            <a:ext cx="384048" cy="41148"/>
          </a:xfrm>
          <a:prstGeom prst="rect">
            <a:avLst/>
          </a:prstGeom>
          <a:solidFill>
            <a:schemeClr val="accent5"/>
          </a:solidFill>
          <a:ln w="12700">
            <a:solidFill>
              <a:srgbClr val="333333"/>
            </a:solidFill>
            <a:prstDash val="solid"/>
          </a:ln>
        </p:spPr>
      </p:sp>
      <p:sp>
        <p:nvSpPr>
          <p:cNvPr id="5" name="Text 3"/>
          <p:cNvSpPr txBox="1"/>
          <p:nvPr/>
        </p:nvSpPr>
        <p:spPr>
          <a:xfrm>
            <a:off x="841248" y="1536192"/>
            <a:ext cx="3035808" cy="365760"/>
          </a:xfrm>
          <a:prstGeom prst="rect">
            <a:avLst/>
          </a:prstGeom>
          <a:noFill/>
          <a:ln/>
        </p:spPr>
        <p:txBody>
          <a:bodyPr wrap="square" lIns="0" tIns="0" rIns="0" bIns="0" rtlCol="0" anchor="ctr"/>
          <a:lstStyle/>
          <a:p>
            <a:pPr indent="0" marL="0">
              <a:buNone/>
            </a:pPr>
            <a:r>
              <a:rPr lang="en-US" sz="1600" b="1" dirty="0">
                <a:solidFill>
                  <a:schemeClr val="accent5"/>
                </a:solidFill>
              </a:rPr>
              <a:t>Methodological</a:t>
            </a:r>
            <a:endParaRPr lang="en-US" sz="1600" dirty="0"/>
          </a:p>
        </p:txBody>
      </p:sp>
      <p:sp>
        <p:nvSpPr>
          <p:cNvPr id="6" name="Text 4"/>
          <p:cNvSpPr txBox="1"/>
          <p:nvPr/>
        </p:nvSpPr>
        <p:spPr>
          <a:xfrm>
            <a:off x="841248" y="1993392"/>
            <a:ext cx="3035808" cy="530352"/>
          </a:xfrm>
          <a:prstGeom prst="rect">
            <a:avLst/>
          </a:prstGeom>
          <a:noFill/>
          <a:ln/>
        </p:spPr>
        <p:txBody>
          <a:bodyPr wrap="square" lIns="0" tIns="0" rIns="0" bIns="0" rtlCol="0" anchor="ctr"/>
          <a:lstStyle/>
          <a:p>
            <a:pPr marL="342900" indent="-342900">
              <a:lnSpc>
                <a:spcPts val="1500"/>
              </a:lnSpc>
              <a:buSzPct val="100000"/>
              <a:buChar char="•"/>
            </a:pPr>
            <a:r>
              <a:rPr lang="en-US" sz="1150" dirty="0">
                <a:solidFill>
                  <a:schemeClr val="tx1"/>
                </a:solidFill>
              </a:rPr>
              <a:t>Requirements reasoned, not surveyed — no questionnaire or interview programme</a:t>
            </a:r>
            <a:endParaRPr lang="en-US" sz="1150" dirty="0"/>
          </a:p>
        </p:txBody>
      </p:sp>
      <p:sp>
        <p:nvSpPr>
          <p:cNvPr id="7" name="Text 5"/>
          <p:cNvSpPr txBox="1"/>
          <p:nvPr/>
        </p:nvSpPr>
        <p:spPr>
          <a:xfrm>
            <a:off x="841248" y="2560320"/>
            <a:ext cx="3035808" cy="530352"/>
          </a:xfrm>
          <a:prstGeom prst="rect">
            <a:avLst/>
          </a:prstGeom>
          <a:noFill/>
          <a:ln/>
        </p:spPr>
        <p:txBody>
          <a:bodyPr wrap="square" lIns="0" tIns="0" rIns="0" bIns="0" rtlCol="0" anchor="ctr"/>
          <a:lstStyle/>
          <a:p>
            <a:pPr marL="342900" indent="-342900">
              <a:lnSpc>
                <a:spcPts val="1500"/>
              </a:lnSpc>
              <a:buSzPct val="100000"/>
              <a:buChar char="•"/>
            </a:pPr>
            <a:r>
              <a:rPr lang="en-US" sz="1150" dirty="0">
                <a:solidFill>
                  <a:schemeClr val="tx1"/>
                </a:solidFill>
              </a:rPr>
              <a:t>No user evaluation; no claim of measured usability</a:t>
            </a:r>
            <a:endParaRPr lang="en-US" sz="1150" dirty="0"/>
          </a:p>
        </p:txBody>
      </p:sp>
      <p:sp>
        <p:nvSpPr>
          <p:cNvPr id="8" name="Text 6"/>
          <p:cNvSpPr txBox="1"/>
          <p:nvPr/>
        </p:nvSpPr>
        <p:spPr>
          <a:xfrm>
            <a:off x="841248" y="3127248"/>
            <a:ext cx="3035808" cy="530352"/>
          </a:xfrm>
          <a:prstGeom prst="rect">
            <a:avLst/>
          </a:prstGeom>
          <a:noFill/>
          <a:ln/>
        </p:spPr>
        <p:txBody>
          <a:bodyPr wrap="square" lIns="0" tIns="0" rIns="0" bIns="0" rtlCol="0" anchor="ctr"/>
          <a:lstStyle/>
          <a:p>
            <a:pPr marL="342900" indent="-342900">
              <a:lnSpc>
                <a:spcPts val="1500"/>
              </a:lnSpc>
              <a:buSzPct val="100000"/>
              <a:buChar char="•"/>
            </a:pPr>
            <a:r>
              <a:rPr lang="en-US" sz="1150" dirty="0">
                <a:solidFill>
                  <a:schemeClr val="tx1"/>
                </a:solidFill>
              </a:rPr>
              <a:t>All testing by the developer, who knows the intended paths</a:t>
            </a:r>
            <a:endParaRPr lang="en-US" sz="1150" dirty="0"/>
          </a:p>
        </p:txBody>
      </p:sp>
      <p:sp>
        <p:nvSpPr>
          <p:cNvPr id="9" name="lim-1"/>
          <p:cNvSpPr/>
          <p:nvPr/>
        </p:nvSpPr>
        <p:spPr>
          <a:xfrm>
            <a:off x="4334256" y="1188720"/>
            <a:ext cx="3584448" cy="3931920"/>
          </a:xfrm>
          <a:prstGeom prst="roundRect">
            <a:avLst>
              <a:gd name="adj" fmla="val 1786"/>
            </a:avLst>
          </a:prstGeom>
          <a:solidFill>
            <a:srgbClr val="FFFFFF"/>
          </a:solidFill>
          <a:ln w="12700">
            <a:solidFill>
              <a:srgbClr val="DCE5EF"/>
            </a:solidFill>
            <a:prstDash val="solid"/>
          </a:ln>
          <a:effectLst>
            <a:outerShdw sx="100000" sy="100000" kx="0" ky="0" algn="bl" rotWithShape="0" blurRad="127000" dist="25400" dir="5400000">
              <a:srgbClr val="0F3057">
                <a:alpha val="10000"/>
              </a:srgbClr>
            </a:outerShdw>
          </a:effectLst>
        </p:spPr>
      </p:sp>
      <p:sp>
        <p:nvSpPr>
          <p:cNvPr id="10" name="limmark-1"/>
          <p:cNvSpPr/>
          <p:nvPr/>
        </p:nvSpPr>
        <p:spPr>
          <a:xfrm>
            <a:off x="4608576" y="1417320"/>
            <a:ext cx="384048" cy="41148"/>
          </a:xfrm>
          <a:prstGeom prst="rect">
            <a:avLst/>
          </a:prstGeom>
          <a:solidFill>
            <a:schemeClr val="accent3"/>
          </a:solidFill>
          <a:ln w="12700">
            <a:solidFill>
              <a:srgbClr val="333333"/>
            </a:solidFill>
            <a:prstDash val="solid"/>
          </a:ln>
        </p:spPr>
      </p:sp>
      <p:sp>
        <p:nvSpPr>
          <p:cNvPr id="11" name="Text 9"/>
          <p:cNvSpPr txBox="1"/>
          <p:nvPr/>
        </p:nvSpPr>
        <p:spPr>
          <a:xfrm>
            <a:off x="4608576" y="1536192"/>
            <a:ext cx="3035808" cy="365760"/>
          </a:xfrm>
          <a:prstGeom prst="rect">
            <a:avLst/>
          </a:prstGeom>
          <a:noFill/>
          <a:ln/>
        </p:spPr>
        <p:txBody>
          <a:bodyPr wrap="square" lIns="0" tIns="0" rIns="0" bIns="0" rtlCol="0" anchor="ctr"/>
          <a:lstStyle/>
          <a:p>
            <a:pPr indent="0" marL="0">
              <a:buNone/>
            </a:pPr>
            <a:r>
              <a:rPr lang="en-US" sz="1600" b="1" dirty="0">
                <a:solidFill>
                  <a:schemeClr val="accent3"/>
                </a:solidFill>
              </a:rPr>
              <a:t>Technical</a:t>
            </a:r>
            <a:endParaRPr lang="en-US" sz="1600" dirty="0"/>
          </a:p>
        </p:txBody>
      </p:sp>
      <p:sp>
        <p:nvSpPr>
          <p:cNvPr id="12" name="Text 10"/>
          <p:cNvSpPr txBox="1"/>
          <p:nvPr/>
        </p:nvSpPr>
        <p:spPr>
          <a:xfrm>
            <a:off x="4608576" y="1993392"/>
            <a:ext cx="3035808" cy="530352"/>
          </a:xfrm>
          <a:prstGeom prst="rect">
            <a:avLst/>
          </a:prstGeom>
          <a:noFill/>
          <a:ln/>
        </p:spPr>
        <p:txBody>
          <a:bodyPr wrap="square" lIns="0" tIns="0" rIns="0" bIns="0" rtlCol="0" anchor="ctr"/>
          <a:lstStyle/>
          <a:p>
            <a:pPr marL="342900" indent="-342900">
              <a:lnSpc>
                <a:spcPts val="1500"/>
              </a:lnSpc>
              <a:buSzPct val="100000"/>
              <a:buChar char="•"/>
            </a:pPr>
            <a:r>
              <a:rPr lang="en-US" sz="1150" dirty="0">
                <a:solidFill>
                  <a:schemeClr val="tx1"/>
                </a:solidFill>
              </a:rPr>
              <a:t>No automated regression suite</a:t>
            </a:r>
            <a:endParaRPr lang="en-US" sz="1150" dirty="0"/>
          </a:p>
        </p:txBody>
      </p:sp>
      <p:sp>
        <p:nvSpPr>
          <p:cNvPr id="13" name="Text 11"/>
          <p:cNvSpPr txBox="1"/>
          <p:nvPr/>
        </p:nvSpPr>
        <p:spPr>
          <a:xfrm>
            <a:off x="4608576" y="2560320"/>
            <a:ext cx="3035808" cy="530352"/>
          </a:xfrm>
          <a:prstGeom prst="rect">
            <a:avLst/>
          </a:prstGeom>
          <a:noFill/>
          <a:ln/>
        </p:spPr>
        <p:txBody>
          <a:bodyPr wrap="square" lIns="0" tIns="0" rIns="0" bIns="0" rtlCol="0" anchor="ctr"/>
          <a:lstStyle/>
          <a:p>
            <a:pPr marL="342900" indent="-342900">
              <a:lnSpc>
                <a:spcPts val="1500"/>
              </a:lnSpc>
              <a:buSzPct val="100000"/>
              <a:buChar char="•"/>
            </a:pPr>
            <a:r>
              <a:rPr lang="en-US" sz="1150" dirty="0">
                <a:solidFill>
                  <a:schemeClr val="tx1"/>
                </a:solidFill>
              </a:rPr>
              <a:t>Stateless tokens — valid until expiry even after sign-out or suspension</a:t>
            </a:r>
            <a:endParaRPr lang="en-US" sz="1150" dirty="0"/>
          </a:p>
        </p:txBody>
      </p:sp>
      <p:sp>
        <p:nvSpPr>
          <p:cNvPr id="14" name="Text 12"/>
          <p:cNvSpPr txBox="1"/>
          <p:nvPr/>
        </p:nvSpPr>
        <p:spPr>
          <a:xfrm>
            <a:off x="4608576" y="3127248"/>
            <a:ext cx="3035808" cy="530352"/>
          </a:xfrm>
          <a:prstGeom prst="rect">
            <a:avLst/>
          </a:prstGeom>
          <a:noFill/>
          <a:ln/>
        </p:spPr>
        <p:txBody>
          <a:bodyPr wrap="square" lIns="0" tIns="0" rIns="0" bIns="0" rtlCol="0" anchor="ctr"/>
          <a:lstStyle/>
          <a:p>
            <a:pPr marL="342900" indent="-342900">
              <a:lnSpc>
                <a:spcPts val="1500"/>
              </a:lnSpc>
              <a:buSzPct val="100000"/>
              <a:buChar char="•"/>
            </a:pPr>
            <a:r>
              <a:rPr lang="en-US" sz="1150" dirty="0">
                <a:solidFill>
                  <a:schemeClr val="tx1"/>
                </a:solidFill>
              </a:rPr>
              <a:t>No load testing; scalability claims are architectural, not measured</a:t>
            </a:r>
            <a:endParaRPr lang="en-US" sz="1150" dirty="0"/>
          </a:p>
        </p:txBody>
      </p:sp>
      <p:sp>
        <p:nvSpPr>
          <p:cNvPr id="15" name="Text 13"/>
          <p:cNvSpPr txBox="1"/>
          <p:nvPr/>
        </p:nvSpPr>
        <p:spPr>
          <a:xfrm>
            <a:off x="4608576" y="3694176"/>
            <a:ext cx="3035808" cy="530352"/>
          </a:xfrm>
          <a:prstGeom prst="rect">
            <a:avLst/>
          </a:prstGeom>
          <a:noFill/>
          <a:ln/>
        </p:spPr>
        <p:txBody>
          <a:bodyPr wrap="square" lIns="0" tIns="0" rIns="0" bIns="0" rtlCol="0" anchor="ctr"/>
          <a:lstStyle/>
          <a:p>
            <a:pPr marL="342900" indent="-342900">
              <a:lnSpc>
                <a:spcPts val="1500"/>
              </a:lnSpc>
              <a:buSzPct val="100000"/>
              <a:buChar char="•"/>
            </a:pPr>
            <a:r>
              <a:rPr lang="en-US" sz="1150" dirty="0">
                <a:solidFill>
                  <a:schemeClr val="tx1"/>
                </a:solidFill>
              </a:rPr>
              <a:t>Orange Money verified by construction, not by live execution</a:t>
            </a:r>
            <a:endParaRPr lang="en-US" sz="1150" dirty="0"/>
          </a:p>
        </p:txBody>
      </p:sp>
      <p:sp>
        <p:nvSpPr>
          <p:cNvPr id="16" name="lim-2"/>
          <p:cNvSpPr/>
          <p:nvPr/>
        </p:nvSpPr>
        <p:spPr>
          <a:xfrm>
            <a:off x="8101584" y="1188720"/>
            <a:ext cx="3584448" cy="3931920"/>
          </a:xfrm>
          <a:prstGeom prst="roundRect">
            <a:avLst>
              <a:gd name="adj" fmla="val 1786"/>
            </a:avLst>
          </a:prstGeom>
          <a:solidFill>
            <a:srgbClr val="FFFFFF"/>
          </a:solidFill>
          <a:ln w="12700">
            <a:solidFill>
              <a:srgbClr val="DCE5EF"/>
            </a:solidFill>
            <a:prstDash val="solid"/>
          </a:ln>
          <a:effectLst>
            <a:outerShdw sx="100000" sy="100000" kx="0" ky="0" algn="bl" rotWithShape="0" blurRad="127000" dist="25400" dir="5400000">
              <a:srgbClr val="0F3057">
                <a:alpha val="10000"/>
              </a:srgbClr>
            </a:outerShdw>
          </a:effectLst>
        </p:spPr>
      </p:sp>
      <p:sp>
        <p:nvSpPr>
          <p:cNvPr id="17" name="limmark-2"/>
          <p:cNvSpPr/>
          <p:nvPr/>
        </p:nvSpPr>
        <p:spPr>
          <a:xfrm>
            <a:off x="8375904" y="1417320"/>
            <a:ext cx="384048" cy="41148"/>
          </a:xfrm>
          <a:prstGeom prst="rect">
            <a:avLst/>
          </a:prstGeom>
          <a:solidFill>
            <a:schemeClr val="accent6"/>
          </a:solidFill>
          <a:ln w="12700">
            <a:solidFill>
              <a:srgbClr val="333333"/>
            </a:solidFill>
            <a:prstDash val="solid"/>
          </a:ln>
        </p:spPr>
      </p:sp>
      <p:sp>
        <p:nvSpPr>
          <p:cNvPr id="18" name="Text 16"/>
          <p:cNvSpPr txBox="1"/>
          <p:nvPr/>
        </p:nvSpPr>
        <p:spPr>
          <a:xfrm>
            <a:off x="8375904" y="1536192"/>
            <a:ext cx="3035808" cy="365760"/>
          </a:xfrm>
          <a:prstGeom prst="rect">
            <a:avLst/>
          </a:prstGeom>
          <a:noFill/>
          <a:ln/>
        </p:spPr>
        <p:txBody>
          <a:bodyPr wrap="square" lIns="0" tIns="0" rIns="0" bIns="0" rtlCol="0" anchor="ctr"/>
          <a:lstStyle/>
          <a:p>
            <a:pPr indent="0" marL="0">
              <a:buNone/>
            </a:pPr>
            <a:r>
              <a:rPr lang="en-US" sz="1600" b="1" dirty="0">
                <a:solidFill>
                  <a:schemeClr val="accent6"/>
                </a:solidFill>
              </a:rPr>
              <a:t>Functional</a:t>
            </a:r>
            <a:endParaRPr lang="en-US" sz="1600" dirty="0"/>
          </a:p>
        </p:txBody>
      </p:sp>
      <p:sp>
        <p:nvSpPr>
          <p:cNvPr id="19" name="Text 17"/>
          <p:cNvSpPr txBox="1"/>
          <p:nvPr/>
        </p:nvSpPr>
        <p:spPr>
          <a:xfrm>
            <a:off x="8375904" y="1993392"/>
            <a:ext cx="3035808" cy="530352"/>
          </a:xfrm>
          <a:prstGeom prst="rect">
            <a:avLst/>
          </a:prstGeom>
          <a:noFill/>
          <a:ln/>
        </p:spPr>
        <p:txBody>
          <a:bodyPr wrap="square" lIns="0" tIns="0" rIns="0" bIns="0" rtlCol="0" anchor="ctr"/>
          <a:lstStyle/>
          <a:p>
            <a:pPr marL="342900" indent="-342900">
              <a:lnSpc>
                <a:spcPts val="1500"/>
              </a:lnSpc>
              <a:buSzPct val="100000"/>
              <a:buChar char="•"/>
            </a:pPr>
            <a:r>
              <a:rPr lang="en-US" sz="1150" dirty="0">
                <a:solidFill>
                  <a:schemeClr val="tx1"/>
                </a:solidFill>
              </a:rPr>
              <a:t>Tutor messaging writes to browser storage only — nothing is sent</a:t>
            </a:r>
            <a:endParaRPr lang="en-US" sz="1150" dirty="0"/>
          </a:p>
        </p:txBody>
      </p:sp>
      <p:sp>
        <p:nvSpPr>
          <p:cNvPr id="20" name="Text 18"/>
          <p:cNvSpPr txBox="1"/>
          <p:nvPr/>
        </p:nvSpPr>
        <p:spPr>
          <a:xfrm>
            <a:off x="8375904" y="2560320"/>
            <a:ext cx="3035808" cy="530352"/>
          </a:xfrm>
          <a:prstGeom prst="rect">
            <a:avLst/>
          </a:prstGeom>
          <a:noFill/>
          <a:ln/>
        </p:spPr>
        <p:txBody>
          <a:bodyPr wrap="square" lIns="0" tIns="0" rIns="0" bIns="0" rtlCol="0" anchor="ctr"/>
          <a:lstStyle/>
          <a:p>
            <a:pPr marL="342900" indent="-342900">
              <a:lnSpc>
                <a:spcPts val="1500"/>
              </a:lnSpc>
              <a:buSzPct val="100000"/>
              <a:buChar char="•"/>
            </a:pPr>
            <a:r>
              <a:rPr lang="en-US" sz="1150" dirty="0">
                <a:solidFill>
                  <a:schemeClr val="tx1"/>
                </a:solidFill>
              </a:rPr>
              <a:t>Session resource downloads are simulated</a:t>
            </a:r>
            <a:endParaRPr lang="en-US" sz="1150" dirty="0"/>
          </a:p>
        </p:txBody>
      </p:sp>
      <p:sp>
        <p:nvSpPr>
          <p:cNvPr id="21" name="Text 19"/>
          <p:cNvSpPr txBox="1"/>
          <p:nvPr/>
        </p:nvSpPr>
        <p:spPr>
          <a:xfrm>
            <a:off x="8375904" y="3127248"/>
            <a:ext cx="3035808" cy="530352"/>
          </a:xfrm>
          <a:prstGeom prst="rect">
            <a:avLst/>
          </a:prstGeom>
          <a:noFill/>
          <a:ln/>
        </p:spPr>
        <p:txBody>
          <a:bodyPr wrap="square" lIns="0" tIns="0" rIns="0" bIns="0" rtlCol="0" anchor="ctr"/>
          <a:lstStyle/>
          <a:p>
            <a:pPr marL="342900" indent="-342900">
              <a:lnSpc>
                <a:spcPts val="1500"/>
              </a:lnSpc>
              <a:buSzPct val="100000"/>
              <a:buChar char="•"/>
            </a:pPr>
            <a:r>
              <a:rPr lang="en-US" sz="1150" dirty="0">
                <a:solidFill>
                  <a:schemeClr val="tx1"/>
                </a:solidFill>
              </a:rPr>
              <a:t>Notification preferences are not persisted</a:t>
            </a:r>
            <a:endParaRPr lang="en-US" sz="1150" dirty="0"/>
          </a:p>
        </p:txBody>
      </p:sp>
      <p:sp>
        <p:nvSpPr>
          <p:cNvPr id="22" name="Text 20"/>
          <p:cNvSpPr txBox="1"/>
          <p:nvPr/>
        </p:nvSpPr>
        <p:spPr>
          <a:xfrm>
            <a:off x="8375904" y="3694176"/>
            <a:ext cx="3035808" cy="530352"/>
          </a:xfrm>
          <a:prstGeom prst="rect">
            <a:avLst/>
          </a:prstGeom>
          <a:noFill/>
          <a:ln/>
        </p:spPr>
        <p:txBody>
          <a:bodyPr wrap="square" lIns="0" tIns="0" rIns="0" bIns="0" rtlCol="0" anchor="ctr"/>
          <a:lstStyle/>
          <a:p>
            <a:pPr marL="342900" indent="-342900">
              <a:lnSpc>
                <a:spcPts val="1500"/>
              </a:lnSpc>
              <a:buSzPct val="100000"/>
              <a:buChar char="•"/>
            </a:pPr>
            <a:r>
              <a:rPr lang="en-US" sz="1150" dirty="0">
                <a:solidFill>
                  <a:schemeClr val="tx1"/>
                </a:solidFill>
              </a:rPr>
              <a:t>Server-composed text is still English-only</a:t>
            </a:r>
            <a:endParaRPr lang="en-US" sz="1150" dirty="0"/>
          </a:p>
        </p:txBody>
      </p:sp>
      <p:sp>
        <p:nvSpPr>
          <p:cNvPr id="23" name="Text 21"/>
          <p:cNvSpPr txBox="1"/>
          <p:nvPr/>
        </p:nvSpPr>
        <p:spPr>
          <a:xfrm>
            <a:off x="8375904" y="4261104"/>
            <a:ext cx="3035808" cy="530352"/>
          </a:xfrm>
          <a:prstGeom prst="rect">
            <a:avLst/>
          </a:prstGeom>
          <a:noFill/>
          <a:ln/>
        </p:spPr>
        <p:txBody>
          <a:bodyPr wrap="square" lIns="0" tIns="0" rIns="0" bIns="0" rtlCol="0" anchor="ctr"/>
          <a:lstStyle/>
          <a:p>
            <a:pPr marL="342900" indent="-342900">
              <a:lnSpc>
                <a:spcPts val="1500"/>
              </a:lnSpc>
              <a:buSzPct val="100000"/>
              <a:buChar char="•"/>
            </a:pPr>
            <a:r>
              <a:rPr lang="en-US" sz="1150" dirty="0">
                <a:solidFill>
                  <a:schemeClr val="tx1"/>
                </a:solidFill>
              </a:rPr>
              <a:t>Two landing-page figures are placeholders, not measured statistics</a:t>
            </a:r>
            <a:endParaRPr lang="en-US" sz="1150" dirty="0"/>
          </a:p>
        </p:txBody>
      </p:sp>
      <p:sp>
        <p:nvSpPr>
          <p:cNvPr id="24" name="Text 22"/>
          <p:cNvSpPr txBox="1"/>
          <p:nvPr/>
        </p:nvSpPr>
        <p:spPr>
          <a:xfrm>
            <a:off x="566928" y="5303520"/>
            <a:ext cx="11027664" cy="365760"/>
          </a:xfrm>
          <a:prstGeom prst="rect">
            <a:avLst/>
          </a:prstGeom>
          <a:noFill/>
          <a:ln/>
        </p:spPr>
        <p:txBody>
          <a:bodyPr wrap="square" rtlCol="0" anchor="ctr"/>
          <a:lstStyle/>
          <a:p>
            <a:pPr indent="0" marL="0">
              <a:buNone/>
            </a:pPr>
            <a:r>
              <a:rPr lang="en-US" sz="1300" i="1" dirty="0">
                <a:solidFill>
                  <a:schemeClr val="accent6"/>
                </a:solidFill>
              </a:rPr>
              <a:t>Stated so the results are not read as claiming more than was demonstrated. Each of these appears in the report; none was discovered by an examiner.</a:t>
            </a:r>
            <a:endParaRPr lang="en-US" sz="1300" dirty="0"/>
          </a:p>
        </p:txBody>
      </p:sp>
      <p:sp>
        <p:nvSpPr>
          <p:cNvPr id="25" name="Slide Number Placeholder 0"/>
          <p:cNvSpPr>
            <a:spLocks noGrp="1"/>
          </p:cNvSpPr>
          <p:nvPr>
            <p:ph type="sldNum" sz="quarter" idx="4294967295"/>
          </p:nvPr>
        </p:nvSpPr>
        <p:spPr>
          <a:xfrm>
            <a:off x="11430000" y="6327648"/>
            <a:ext cx="45720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64748B"/>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566928" y="384048"/>
            <a:ext cx="11027664" cy="713232"/>
          </a:xfrm>
          <a:prstGeom prst="rect">
            <a:avLst/>
          </a:prstGeom>
          <a:noFill/>
          <a:ln/>
        </p:spPr>
        <p:txBody>
          <a:bodyPr wrap="square" rtlCol="0"/>
          <a:lstStyle/>
          <a:p>
            <a:pPr indent="0" marL="0">
              <a:buNone/>
            </a:pPr>
            <a:r>
              <a:rPr lang="en-US" sz="3200" b="1" dirty="0">
                <a:solidFill>
                  <a:srgbClr val="0F3057"/>
                </a:solidFill>
              </a:rPr>
              <a:t>Where this goes next, in priority order</a:t>
            </a:r>
            <a:endParaRPr lang="en-US" sz="3200" dirty="0"/>
          </a:p>
        </p:txBody>
      </p:sp>
      <p:sp>
        <p:nvSpPr>
          <p:cNvPr id="3" name="fw-0"/>
          <p:cNvSpPr/>
          <p:nvPr/>
        </p:nvSpPr>
        <p:spPr>
          <a:xfrm>
            <a:off x="566928" y="1234440"/>
            <a:ext cx="5404104" cy="1325880"/>
          </a:xfrm>
          <a:prstGeom prst="roundRect">
            <a:avLst>
              <a:gd name="adj" fmla="val 4828"/>
            </a:avLst>
          </a:prstGeom>
          <a:solidFill>
            <a:schemeClr val="bg2"/>
          </a:solidFill>
          <a:ln w="12700">
            <a:solidFill>
              <a:srgbClr val="DCE5EF"/>
            </a:solidFill>
            <a:prstDash val="solid"/>
          </a:ln>
        </p:spPr>
      </p:sp>
      <p:sp>
        <p:nvSpPr>
          <p:cNvPr id="4" name="disc-1"/>
          <p:cNvSpPr/>
          <p:nvPr/>
        </p:nvSpPr>
        <p:spPr>
          <a:xfrm>
            <a:off x="841248" y="1545336"/>
            <a:ext cx="457200" cy="457200"/>
          </a:xfrm>
          <a:prstGeom prst="ellipse">
            <a:avLst/>
          </a:prstGeom>
          <a:solidFill>
            <a:schemeClr val="accent5"/>
          </a:solidFill>
          <a:ln w="12700">
            <a:solidFill>
              <a:schemeClr val="accent5"/>
            </a:solidFill>
            <a:prstDash val="solid"/>
          </a:ln>
        </p:spPr>
      </p:sp>
      <p:sp>
        <p:nvSpPr>
          <p:cNvPr id="5" name="Text 3"/>
          <p:cNvSpPr txBox="1"/>
          <p:nvPr/>
        </p:nvSpPr>
        <p:spPr>
          <a:xfrm>
            <a:off x="841248" y="154533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6" name="Text 4"/>
          <p:cNvSpPr txBox="1"/>
          <p:nvPr/>
        </p:nvSpPr>
        <p:spPr>
          <a:xfrm>
            <a:off x="1481328" y="1472184"/>
            <a:ext cx="4279392" cy="347472"/>
          </a:xfrm>
          <a:prstGeom prst="rect">
            <a:avLst/>
          </a:prstGeom>
          <a:noFill/>
          <a:ln/>
        </p:spPr>
        <p:txBody>
          <a:bodyPr wrap="square" lIns="0" tIns="0" rIns="0" bIns="0" rtlCol="0" anchor="ctr"/>
          <a:lstStyle/>
          <a:p>
            <a:pPr indent="0" marL="0">
              <a:buNone/>
            </a:pPr>
            <a:r>
              <a:rPr lang="en-US" sz="1550" b="1" dirty="0">
                <a:solidFill>
                  <a:schemeClr val="tx2"/>
                </a:solidFill>
              </a:rPr>
              <a:t>Automated test suite</a:t>
            </a:r>
            <a:endParaRPr lang="en-US" sz="1550" dirty="0"/>
          </a:p>
        </p:txBody>
      </p:sp>
      <p:sp>
        <p:nvSpPr>
          <p:cNvPr id="7" name="Text 5"/>
          <p:cNvSpPr txBox="1"/>
          <p:nvPr/>
        </p:nvSpPr>
        <p:spPr>
          <a:xfrm>
            <a:off x="1481328" y="1837944"/>
            <a:ext cx="4279392" cy="603504"/>
          </a:xfrm>
          <a:prstGeom prst="rect">
            <a:avLst/>
          </a:prstGeom>
          <a:noFill/>
          <a:ln/>
        </p:spPr>
        <p:txBody>
          <a:bodyPr wrap="square" lIns="0" tIns="0" rIns="0" bIns="0" rtlCol="0" anchor="ctr"/>
          <a:lstStyle/>
          <a:p>
            <a:pPr indent="0" marL="0">
              <a:lnSpc>
                <a:spcPts val="1500"/>
              </a:lnSpc>
              <a:buNone/>
            </a:pPr>
            <a:r>
              <a:rPr lang="en-US" sz="1150" dirty="0">
                <a:solidFill>
                  <a:schemeClr val="accent6"/>
                </a:solidFill>
              </a:rPr>
              <a:t>Ordered by risk: entitlement granting and reconciliation first, then authorisation, then interface regression.</a:t>
            </a:r>
            <a:endParaRPr lang="en-US" sz="1150" dirty="0"/>
          </a:p>
        </p:txBody>
      </p:sp>
      <p:sp>
        <p:nvSpPr>
          <p:cNvPr id="8" name="fw-1"/>
          <p:cNvSpPr/>
          <p:nvPr/>
        </p:nvSpPr>
        <p:spPr>
          <a:xfrm>
            <a:off x="6190488" y="1234440"/>
            <a:ext cx="5404104" cy="1325880"/>
          </a:xfrm>
          <a:prstGeom prst="roundRect">
            <a:avLst>
              <a:gd name="adj" fmla="val 4828"/>
            </a:avLst>
          </a:prstGeom>
          <a:solidFill>
            <a:schemeClr val="bg2"/>
          </a:solidFill>
          <a:ln w="12700">
            <a:solidFill>
              <a:srgbClr val="DCE5EF"/>
            </a:solidFill>
            <a:prstDash val="solid"/>
          </a:ln>
        </p:spPr>
      </p:sp>
      <p:sp>
        <p:nvSpPr>
          <p:cNvPr id="9" name="disc-2"/>
          <p:cNvSpPr/>
          <p:nvPr/>
        </p:nvSpPr>
        <p:spPr>
          <a:xfrm>
            <a:off x="6464808" y="1545336"/>
            <a:ext cx="457200" cy="457200"/>
          </a:xfrm>
          <a:prstGeom prst="ellipse">
            <a:avLst/>
          </a:prstGeom>
          <a:solidFill>
            <a:schemeClr val="accent5"/>
          </a:solidFill>
          <a:ln w="12700">
            <a:solidFill>
              <a:schemeClr val="accent5"/>
            </a:solidFill>
            <a:prstDash val="solid"/>
          </a:ln>
        </p:spPr>
      </p:sp>
      <p:sp>
        <p:nvSpPr>
          <p:cNvPr id="10" name="Text 8"/>
          <p:cNvSpPr txBox="1"/>
          <p:nvPr/>
        </p:nvSpPr>
        <p:spPr>
          <a:xfrm>
            <a:off x="6464808" y="154533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9"/>
          <p:cNvSpPr txBox="1"/>
          <p:nvPr/>
        </p:nvSpPr>
        <p:spPr>
          <a:xfrm>
            <a:off x="7104888" y="1472184"/>
            <a:ext cx="4279392" cy="347472"/>
          </a:xfrm>
          <a:prstGeom prst="rect">
            <a:avLst/>
          </a:prstGeom>
          <a:noFill/>
          <a:ln/>
        </p:spPr>
        <p:txBody>
          <a:bodyPr wrap="square" lIns="0" tIns="0" rIns="0" bIns="0" rtlCol="0" anchor="ctr"/>
          <a:lstStyle/>
          <a:p>
            <a:pPr indent="0" marL="0">
              <a:buNone/>
            </a:pPr>
            <a:r>
              <a:rPr lang="en-US" sz="1550" b="1" dirty="0">
                <a:solidFill>
                  <a:schemeClr val="tx2"/>
                </a:solidFill>
              </a:rPr>
              <a:t>Formal user evaluation</a:t>
            </a:r>
            <a:endParaRPr lang="en-US" sz="1550" dirty="0"/>
          </a:p>
        </p:txBody>
      </p:sp>
      <p:sp>
        <p:nvSpPr>
          <p:cNvPr id="12" name="Text 10"/>
          <p:cNvSpPr txBox="1"/>
          <p:nvPr/>
        </p:nvSpPr>
        <p:spPr>
          <a:xfrm>
            <a:off x="7104888" y="1837944"/>
            <a:ext cx="4279392" cy="603504"/>
          </a:xfrm>
          <a:prstGeom prst="rect">
            <a:avLst/>
          </a:prstGeom>
          <a:noFill/>
          <a:ln/>
        </p:spPr>
        <p:txBody>
          <a:bodyPr wrap="square" lIns="0" tIns="0" rIns="0" bIns="0" rtlCol="0" anchor="ctr"/>
          <a:lstStyle/>
          <a:p>
            <a:pPr indent="0" marL="0">
              <a:lnSpc>
                <a:spcPts val="1500"/>
              </a:lnSpc>
              <a:buNone/>
            </a:pPr>
            <a:r>
              <a:rPr lang="en-US" sz="1150" dirty="0">
                <a:solidFill>
                  <a:schemeClr val="accent6"/>
                </a:solidFill>
              </a:rPr>
              <a:t>Converts reasoned usability claims into measured ones, and would surface requirements observation alone did not.</a:t>
            </a:r>
            <a:endParaRPr lang="en-US" sz="1150" dirty="0"/>
          </a:p>
        </p:txBody>
      </p:sp>
      <p:sp>
        <p:nvSpPr>
          <p:cNvPr id="13" name="fw-2"/>
          <p:cNvSpPr/>
          <p:nvPr/>
        </p:nvSpPr>
        <p:spPr>
          <a:xfrm>
            <a:off x="566928" y="2770632"/>
            <a:ext cx="5404104" cy="1325880"/>
          </a:xfrm>
          <a:prstGeom prst="roundRect">
            <a:avLst>
              <a:gd name="adj" fmla="val 4828"/>
            </a:avLst>
          </a:prstGeom>
          <a:solidFill>
            <a:schemeClr val="bg2"/>
          </a:solidFill>
          <a:ln w="12700">
            <a:solidFill>
              <a:srgbClr val="DCE5EF"/>
            </a:solidFill>
            <a:prstDash val="solid"/>
          </a:ln>
        </p:spPr>
      </p:sp>
      <p:sp>
        <p:nvSpPr>
          <p:cNvPr id="14" name="disc-3"/>
          <p:cNvSpPr/>
          <p:nvPr/>
        </p:nvSpPr>
        <p:spPr>
          <a:xfrm>
            <a:off x="841248" y="3081528"/>
            <a:ext cx="457200" cy="457200"/>
          </a:xfrm>
          <a:prstGeom prst="ellipse">
            <a:avLst/>
          </a:prstGeom>
          <a:solidFill>
            <a:schemeClr val="accent3"/>
          </a:solidFill>
          <a:ln w="12700">
            <a:solidFill>
              <a:schemeClr val="accent3"/>
            </a:solidFill>
            <a:prstDash val="solid"/>
          </a:ln>
        </p:spPr>
      </p:sp>
      <p:sp>
        <p:nvSpPr>
          <p:cNvPr id="15" name="Text 13"/>
          <p:cNvSpPr txBox="1"/>
          <p:nvPr/>
        </p:nvSpPr>
        <p:spPr>
          <a:xfrm>
            <a:off x="841248" y="30815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6" name="Text 14"/>
          <p:cNvSpPr txBox="1"/>
          <p:nvPr/>
        </p:nvSpPr>
        <p:spPr>
          <a:xfrm>
            <a:off x="1481328" y="3008376"/>
            <a:ext cx="4279392" cy="347472"/>
          </a:xfrm>
          <a:prstGeom prst="rect">
            <a:avLst/>
          </a:prstGeom>
          <a:noFill/>
          <a:ln/>
        </p:spPr>
        <p:txBody>
          <a:bodyPr wrap="square" lIns="0" tIns="0" rIns="0" bIns="0" rtlCol="0" anchor="ctr"/>
          <a:lstStyle/>
          <a:p>
            <a:pPr indent="0" marL="0">
              <a:buNone/>
            </a:pPr>
            <a:r>
              <a:rPr lang="en-US" sz="1550" b="1" dirty="0">
                <a:solidFill>
                  <a:schemeClr val="tx2"/>
                </a:solidFill>
              </a:rPr>
              <a:t>Complete server-side translation</a:t>
            </a:r>
            <a:endParaRPr lang="en-US" sz="1550" dirty="0"/>
          </a:p>
        </p:txBody>
      </p:sp>
      <p:sp>
        <p:nvSpPr>
          <p:cNvPr id="17" name="Text 15"/>
          <p:cNvSpPr txBox="1"/>
          <p:nvPr/>
        </p:nvSpPr>
        <p:spPr>
          <a:xfrm>
            <a:off x="1481328" y="3374136"/>
            <a:ext cx="4279392" cy="603504"/>
          </a:xfrm>
          <a:prstGeom prst="rect">
            <a:avLst/>
          </a:prstGeom>
          <a:noFill/>
          <a:ln/>
        </p:spPr>
        <p:txBody>
          <a:bodyPr wrap="square" lIns="0" tIns="0" rIns="0" bIns="0" rtlCol="0" anchor="ctr"/>
          <a:lstStyle/>
          <a:p>
            <a:pPr indent="0" marL="0">
              <a:lnSpc>
                <a:spcPts val="1500"/>
              </a:lnSpc>
              <a:buNone/>
            </a:pPr>
            <a:r>
              <a:rPr lang="en-US" sz="1150" dirty="0">
                <a:solidFill>
                  <a:schemeClr val="accent6"/>
                </a:solidFill>
              </a:rPr>
              <a:t>Notification and receipt text is the remaining English-only surface, and it reaches users who chose French.</a:t>
            </a:r>
            <a:endParaRPr lang="en-US" sz="1150" dirty="0"/>
          </a:p>
        </p:txBody>
      </p:sp>
      <p:sp>
        <p:nvSpPr>
          <p:cNvPr id="18" name="fw-3"/>
          <p:cNvSpPr/>
          <p:nvPr/>
        </p:nvSpPr>
        <p:spPr>
          <a:xfrm>
            <a:off x="6190488" y="2770632"/>
            <a:ext cx="5404104" cy="1325880"/>
          </a:xfrm>
          <a:prstGeom prst="roundRect">
            <a:avLst>
              <a:gd name="adj" fmla="val 4828"/>
            </a:avLst>
          </a:prstGeom>
          <a:solidFill>
            <a:schemeClr val="bg2"/>
          </a:solidFill>
          <a:ln w="12700">
            <a:solidFill>
              <a:srgbClr val="DCE5EF"/>
            </a:solidFill>
            <a:prstDash val="solid"/>
          </a:ln>
        </p:spPr>
      </p:sp>
      <p:sp>
        <p:nvSpPr>
          <p:cNvPr id="19" name="disc-4"/>
          <p:cNvSpPr/>
          <p:nvPr/>
        </p:nvSpPr>
        <p:spPr>
          <a:xfrm>
            <a:off x="6464808" y="3081528"/>
            <a:ext cx="457200" cy="457200"/>
          </a:xfrm>
          <a:prstGeom prst="ellipse">
            <a:avLst/>
          </a:prstGeom>
          <a:solidFill>
            <a:schemeClr val="accent3"/>
          </a:solidFill>
          <a:ln w="12700">
            <a:solidFill>
              <a:schemeClr val="accent3"/>
            </a:solidFill>
            <a:prstDash val="solid"/>
          </a:ln>
        </p:spPr>
      </p:sp>
      <p:sp>
        <p:nvSpPr>
          <p:cNvPr id="20" name="Text 18"/>
          <p:cNvSpPr txBox="1"/>
          <p:nvPr/>
        </p:nvSpPr>
        <p:spPr>
          <a:xfrm>
            <a:off x="6464808" y="3081528"/>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21" name="Text 19"/>
          <p:cNvSpPr txBox="1"/>
          <p:nvPr/>
        </p:nvSpPr>
        <p:spPr>
          <a:xfrm>
            <a:off x="7104888" y="3008376"/>
            <a:ext cx="4279392" cy="347472"/>
          </a:xfrm>
          <a:prstGeom prst="rect">
            <a:avLst/>
          </a:prstGeom>
          <a:noFill/>
          <a:ln/>
        </p:spPr>
        <p:txBody>
          <a:bodyPr wrap="square" lIns="0" tIns="0" rIns="0" bIns="0" rtlCol="0" anchor="ctr"/>
          <a:lstStyle/>
          <a:p>
            <a:pPr indent="0" marL="0">
              <a:buNone/>
            </a:pPr>
            <a:r>
              <a:rPr lang="en-US" sz="1550" b="1" dirty="0">
                <a:solidFill>
                  <a:schemeClr val="tx2"/>
                </a:solidFill>
              </a:rPr>
              <a:t>Implement tutor messaging properly</a:t>
            </a:r>
            <a:endParaRPr lang="en-US" sz="1550" dirty="0"/>
          </a:p>
        </p:txBody>
      </p:sp>
      <p:sp>
        <p:nvSpPr>
          <p:cNvPr id="22" name="Text 20"/>
          <p:cNvSpPr txBox="1"/>
          <p:nvPr/>
        </p:nvSpPr>
        <p:spPr>
          <a:xfrm>
            <a:off x="7104888" y="3374136"/>
            <a:ext cx="4279392" cy="603504"/>
          </a:xfrm>
          <a:prstGeom prst="rect">
            <a:avLst/>
          </a:prstGeom>
          <a:noFill/>
          <a:ln/>
        </p:spPr>
        <p:txBody>
          <a:bodyPr wrap="square" lIns="0" tIns="0" rIns="0" bIns="0" rtlCol="0" anchor="ctr"/>
          <a:lstStyle/>
          <a:p>
            <a:pPr indent="0" marL="0">
              <a:lnSpc>
                <a:spcPts val="1500"/>
              </a:lnSpc>
              <a:buNone/>
            </a:pPr>
            <a:r>
              <a:rPr lang="en-US" sz="1150" dirty="0">
                <a:solidFill>
                  <a:schemeClr val="accent6"/>
                </a:solidFill>
              </a:rPr>
              <a:t>The capability is advertised and does not function — worse for trust than its absence.</a:t>
            </a:r>
            <a:endParaRPr lang="en-US" sz="1150" dirty="0"/>
          </a:p>
        </p:txBody>
      </p:sp>
      <p:sp>
        <p:nvSpPr>
          <p:cNvPr id="23" name="fw-4"/>
          <p:cNvSpPr/>
          <p:nvPr/>
        </p:nvSpPr>
        <p:spPr>
          <a:xfrm>
            <a:off x="566928" y="4306824"/>
            <a:ext cx="5404104" cy="1325880"/>
          </a:xfrm>
          <a:prstGeom prst="roundRect">
            <a:avLst>
              <a:gd name="adj" fmla="val 4828"/>
            </a:avLst>
          </a:prstGeom>
          <a:solidFill>
            <a:schemeClr val="bg2"/>
          </a:solidFill>
          <a:ln w="12700">
            <a:solidFill>
              <a:srgbClr val="DCE5EF"/>
            </a:solidFill>
            <a:prstDash val="solid"/>
          </a:ln>
        </p:spPr>
      </p:sp>
      <p:sp>
        <p:nvSpPr>
          <p:cNvPr id="24" name="disc-5"/>
          <p:cNvSpPr/>
          <p:nvPr/>
        </p:nvSpPr>
        <p:spPr>
          <a:xfrm>
            <a:off x="841248" y="4617720"/>
            <a:ext cx="457200" cy="457200"/>
          </a:xfrm>
          <a:prstGeom prst="ellipse">
            <a:avLst/>
          </a:prstGeom>
          <a:solidFill>
            <a:schemeClr val="accent1"/>
          </a:solidFill>
          <a:ln w="12700">
            <a:solidFill>
              <a:schemeClr val="accent1"/>
            </a:solidFill>
            <a:prstDash val="solid"/>
          </a:ln>
        </p:spPr>
      </p:sp>
      <p:sp>
        <p:nvSpPr>
          <p:cNvPr id="25" name="Text 23"/>
          <p:cNvSpPr txBox="1"/>
          <p:nvPr/>
        </p:nvSpPr>
        <p:spPr>
          <a:xfrm>
            <a:off x="841248" y="461772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6" name="Text 24"/>
          <p:cNvSpPr txBox="1"/>
          <p:nvPr/>
        </p:nvSpPr>
        <p:spPr>
          <a:xfrm>
            <a:off x="1481328" y="4544568"/>
            <a:ext cx="4279392" cy="347472"/>
          </a:xfrm>
          <a:prstGeom prst="rect">
            <a:avLst/>
          </a:prstGeom>
          <a:noFill/>
          <a:ln/>
        </p:spPr>
        <p:txBody>
          <a:bodyPr wrap="square" lIns="0" tIns="0" rIns="0" bIns="0" rtlCol="0" anchor="ctr"/>
          <a:lstStyle/>
          <a:p>
            <a:pPr indent="0" marL="0">
              <a:buNone/>
            </a:pPr>
            <a:r>
              <a:rPr lang="en-US" sz="1550" b="1" dirty="0">
                <a:solidFill>
                  <a:schemeClr val="tx2"/>
                </a:solidFill>
              </a:rPr>
              <a:t>Token revocation</a:t>
            </a:r>
            <a:endParaRPr lang="en-US" sz="1550" dirty="0"/>
          </a:p>
        </p:txBody>
      </p:sp>
      <p:sp>
        <p:nvSpPr>
          <p:cNvPr id="27" name="Text 25"/>
          <p:cNvSpPr txBox="1"/>
          <p:nvPr/>
        </p:nvSpPr>
        <p:spPr>
          <a:xfrm>
            <a:off x="1481328" y="4910328"/>
            <a:ext cx="4279392" cy="603504"/>
          </a:xfrm>
          <a:prstGeom prst="rect">
            <a:avLst/>
          </a:prstGeom>
          <a:noFill/>
          <a:ln/>
        </p:spPr>
        <p:txBody>
          <a:bodyPr wrap="square" lIns="0" tIns="0" rIns="0" bIns="0" rtlCol="0" anchor="ctr"/>
          <a:lstStyle/>
          <a:p>
            <a:pPr indent="0" marL="0">
              <a:lnSpc>
                <a:spcPts val="1500"/>
              </a:lnSpc>
              <a:buNone/>
            </a:pPr>
            <a:r>
              <a:rPr lang="en-US" sz="1150" dirty="0">
                <a:solidFill>
                  <a:schemeClr val="accent6"/>
                </a:solidFill>
              </a:rPr>
              <a:t>A refresh mechanism or deny-list closes the window in which a suspended account retains access.</a:t>
            </a:r>
            <a:endParaRPr lang="en-US" sz="1150" dirty="0"/>
          </a:p>
        </p:txBody>
      </p:sp>
      <p:sp>
        <p:nvSpPr>
          <p:cNvPr id="28" name="fw-5"/>
          <p:cNvSpPr/>
          <p:nvPr/>
        </p:nvSpPr>
        <p:spPr>
          <a:xfrm>
            <a:off x="6190488" y="4306824"/>
            <a:ext cx="5404104" cy="1325880"/>
          </a:xfrm>
          <a:prstGeom prst="roundRect">
            <a:avLst>
              <a:gd name="adj" fmla="val 4828"/>
            </a:avLst>
          </a:prstGeom>
          <a:solidFill>
            <a:schemeClr val="bg2"/>
          </a:solidFill>
          <a:ln w="12700">
            <a:solidFill>
              <a:srgbClr val="DCE5EF"/>
            </a:solidFill>
            <a:prstDash val="solid"/>
          </a:ln>
        </p:spPr>
      </p:sp>
      <p:sp>
        <p:nvSpPr>
          <p:cNvPr id="29" name="disc-6"/>
          <p:cNvSpPr/>
          <p:nvPr/>
        </p:nvSpPr>
        <p:spPr>
          <a:xfrm>
            <a:off x="6464808" y="4617720"/>
            <a:ext cx="457200" cy="457200"/>
          </a:xfrm>
          <a:prstGeom prst="ellipse">
            <a:avLst/>
          </a:prstGeom>
          <a:solidFill>
            <a:schemeClr val="accent1"/>
          </a:solidFill>
          <a:ln w="12700">
            <a:solidFill>
              <a:schemeClr val="accent1"/>
            </a:solidFill>
            <a:prstDash val="solid"/>
          </a:ln>
        </p:spPr>
      </p:sp>
      <p:sp>
        <p:nvSpPr>
          <p:cNvPr id="30" name="Text 28"/>
          <p:cNvSpPr txBox="1"/>
          <p:nvPr/>
        </p:nvSpPr>
        <p:spPr>
          <a:xfrm>
            <a:off x="6464808" y="4617720"/>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31" name="Text 29"/>
          <p:cNvSpPr txBox="1"/>
          <p:nvPr/>
        </p:nvSpPr>
        <p:spPr>
          <a:xfrm>
            <a:off x="7104888" y="4544568"/>
            <a:ext cx="4279392" cy="347472"/>
          </a:xfrm>
          <a:prstGeom prst="rect">
            <a:avLst/>
          </a:prstGeom>
          <a:noFill/>
          <a:ln/>
        </p:spPr>
        <p:txBody>
          <a:bodyPr wrap="square" lIns="0" tIns="0" rIns="0" bIns="0" rtlCol="0" anchor="ctr"/>
          <a:lstStyle/>
          <a:p>
            <a:pPr indent="0" marL="0">
              <a:buNone/>
            </a:pPr>
            <a:r>
              <a:rPr lang="en-US" sz="1550" b="1" dirty="0">
                <a:solidFill>
                  <a:schemeClr val="tx2"/>
                </a:solidFill>
              </a:rPr>
              <a:t>Load testing</a:t>
            </a:r>
            <a:endParaRPr lang="en-US" sz="1550" dirty="0"/>
          </a:p>
        </p:txBody>
      </p:sp>
      <p:sp>
        <p:nvSpPr>
          <p:cNvPr id="32" name="Text 30"/>
          <p:cNvSpPr txBox="1"/>
          <p:nvPr/>
        </p:nvSpPr>
        <p:spPr>
          <a:xfrm>
            <a:off x="7104888" y="4910328"/>
            <a:ext cx="4279392" cy="603504"/>
          </a:xfrm>
          <a:prstGeom prst="rect">
            <a:avLst/>
          </a:prstGeom>
          <a:noFill/>
          <a:ln/>
        </p:spPr>
        <p:txBody>
          <a:bodyPr wrap="square" lIns="0" tIns="0" rIns="0" bIns="0" rtlCol="0" anchor="ctr"/>
          <a:lstStyle/>
          <a:p>
            <a:pPr indent="0" marL="0">
              <a:lnSpc>
                <a:spcPts val="1500"/>
              </a:lnSpc>
              <a:buNone/>
            </a:pPr>
            <a:r>
              <a:rPr lang="en-US" sz="1150" dirty="0">
                <a:solidFill>
                  <a:schemeClr val="accent6"/>
                </a:solidFill>
              </a:rPr>
              <a:t>Required before any claim about concurrent capacity, and before paying for infrastructure on the basis of need.</a:t>
            </a:r>
            <a:endParaRPr lang="en-US" sz="1150" dirty="0"/>
          </a:p>
        </p:txBody>
      </p:sp>
      <p:sp>
        <p:nvSpPr>
          <p:cNvPr id="25" name="Slide Number Placeholder 0"/>
          <p:cNvSpPr>
            <a:spLocks noGrp="1"/>
          </p:cNvSpPr>
          <p:nvPr>
            <p:ph type="sldNum" sz="quarter" idx="4294967295"/>
          </p:nvPr>
        </p:nvSpPr>
        <p:spPr>
          <a:xfrm>
            <a:off x="11430000" y="6327648"/>
            <a:ext cx="45720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64748B"/>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body" hasCustomPrompt="1"/>
          </p:nvPr>
        </p:nvSpPr>
        <p:spPr>
          <a:xfrm>
            <a:off x="566928" y="1874520"/>
            <a:ext cx="11027664" cy="365760"/>
          </a:xfrm>
          <a:prstGeom prst="rect">
            <a:avLst/>
          </a:prstGeom>
          <a:noFill/>
          <a:ln/>
        </p:spPr>
        <p:txBody>
          <a:bodyPr wrap="square" rtlCol="0"/>
          <a:lstStyle/>
          <a:p>
            <a:pPr indent="0" marL="0">
              <a:buNone/>
            </a:pPr>
            <a:r>
              <a:rPr lang="en-US" sz="1300" b="1" spc="300" kern="0" dirty="0">
                <a:solidFill>
                  <a:srgbClr val="C77C1E"/>
                </a:solidFill>
              </a:rPr>
              <a:t>In conclusion</a:t>
            </a:r>
            <a:endParaRPr lang="en-US" sz="1300" dirty="0"/>
          </a:p>
        </p:txBody>
      </p:sp>
      <p:sp>
        <p:nvSpPr>
          <p:cNvPr id="3" name="Text 0"/>
          <p:cNvSpPr/>
          <p:nvPr>
            <p:ph idx="101" type="body" hasCustomPrompt="1"/>
          </p:nvPr>
        </p:nvSpPr>
        <p:spPr>
          <a:xfrm>
            <a:off x="566928" y="2286000"/>
            <a:ext cx="11027664" cy="1188720"/>
          </a:xfrm>
          <a:prstGeom prst="rect">
            <a:avLst/>
          </a:prstGeom>
          <a:noFill/>
          <a:ln/>
        </p:spPr>
        <p:txBody>
          <a:bodyPr wrap="square" rtlCol="0"/>
          <a:lstStyle/>
          <a:p>
            <a:pPr indent="0" marL="0">
              <a:buNone/>
            </a:pPr>
            <a:r>
              <a:rPr lang="en-US" sz="4800" b="1" dirty="0">
                <a:solidFill>
                  <a:srgbClr val="FFFFFF"/>
                </a:solidFill>
              </a:rPr>
              <a:t>Built, deployed, and honestly bounded</a:t>
            </a:r>
            <a:endParaRPr lang="en-US" sz="4800" dirty="0"/>
          </a:p>
        </p:txBody>
      </p:sp>
      <p:sp>
        <p:nvSpPr>
          <p:cNvPr id="4" name="Text 0"/>
          <p:cNvSpPr/>
          <p:nvPr>
            <p:ph idx="102" type="body" hasCustomPrompt="1"/>
          </p:nvPr>
        </p:nvSpPr>
        <p:spPr>
          <a:xfrm>
            <a:off x="566928" y="3520440"/>
            <a:ext cx="9509760" cy="914400"/>
          </a:xfrm>
          <a:prstGeom prst="rect">
            <a:avLst/>
          </a:prstGeom>
          <a:noFill/>
          <a:ln/>
        </p:spPr>
        <p:txBody>
          <a:bodyPr wrap="square" rtlCol="0"/>
          <a:lstStyle/>
          <a:p>
            <a:pPr indent="0" marL="0">
              <a:buNone/>
            </a:pPr>
            <a:r>
              <a:rPr lang="en-US" sz="1900" i="1" dirty="0">
                <a:solidFill>
                  <a:srgbClr val="C2D4E8"/>
                </a:solidFill>
              </a:rPr>
              <a:t>A functioning platform that integrates four capabilities elsewhere available only separately, settled through the payment instruments its users actually hold.</a:t>
            </a:r>
            <a:endParaRPr lang="en-US" sz="1900" dirty="0"/>
          </a:p>
        </p:txBody>
      </p:sp>
      <p:sp>
        <p:nvSpPr>
          <p:cNvPr id="5" name="conc-0"/>
          <p:cNvSpPr/>
          <p:nvPr/>
        </p:nvSpPr>
        <p:spPr>
          <a:xfrm>
            <a:off x="566928" y="4892040"/>
            <a:ext cx="3584448" cy="1325880"/>
          </a:xfrm>
          <a:prstGeom prst="roundRect">
            <a:avLst>
              <a:gd name="adj" fmla="val 4828"/>
            </a:avLst>
          </a:prstGeom>
          <a:solidFill>
            <a:srgbClr val="17406E"/>
          </a:solidFill>
          <a:ln w="12700">
            <a:solidFill>
              <a:srgbClr val="2A5A8F"/>
            </a:solidFill>
            <a:prstDash val="solid"/>
          </a:ln>
        </p:spPr>
      </p:sp>
      <p:sp>
        <p:nvSpPr>
          <p:cNvPr id="6" name="Text 4"/>
          <p:cNvSpPr txBox="1"/>
          <p:nvPr/>
        </p:nvSpPr>
        <p:spPr>
          <a:xfrm>
            <a:off x="822960" y="5029200"/>
            <a:ext cx="3072384" cy="292608"/>
          </a:xfrm>
          <a:prstGeom prst="rect">
            <a:avLst/>
          </a:prstGeom>
          <a:noFill/>
          <a:ln/>
        </p:spPr>
        <p:txBody>
          <a:bodyPr wrap="square" lIns="0" tIns="0" rIns="0" bIns="0" rtlCol="0" anchor="ctr"/>
          <a:lstStyle/>
          <a:p>
            <a:pPr indent="0" marL="0">
              <a:buNone/>
            </a:pPr>
            <a:r>
              <a:rPr lang="en-US" sz="1300" b="1" dirty="0">
                <a:solidFill>
                  <a:srgbClr val="C77C1E"/>
                </a:solidFill>
              </a:rPr>
              <a:t>Delivered</a:t>
            </a:r>
            <a:endParaRPr lang="en-US" sz="1300" dirty="0"/>
          </a:p>
        </p:txBody>
      </p:sp>
      <p:sp>
        <p:nvSpPr>
          <p:cNvPr id="7" name="Text 5"/>
          <p:cNvSpPr txBox="1"/>
          <p:nvPr/>
        </p:nvSpPr>
        <p:spPr>
          <a:xfrm>
            <a:off x="822960" y="5340096"/>
            <a:ext cx="3072384" cy="777240"/>
          </a:xfrm>
          <a:prstGeom prst="rect">
            <a:avLst/>
          </a:prstGeom>
          <a:noFill/>
          <a:ln/>
        </p:spPr>
        <p:txBody>
          <a:bodyPr wrap="square" lIns="0" tIns="0" rIns="0" bIns="0" rtlCol="0" anchor="ctr"/>
          <a:lstStyle/>
          <a:p>
            <a:pPr indent="0" marL="0">
              <a:lnSpc>
                <a:spcPts val="1500"/>
              </a:lnSpc>
              <a:buNone/>
            </a:pPr>
            <a:r>
              <a:rPr lang="en-US" sz="1150" dirty="0">
                <a:solidFill>
                  <a:srgbClr val="D5E2F0"/>
                </a:solidFill>
              </a:rPr>
              <a:t>A live platform: groups, notes, Q&amp;A, tutoring and mobile money payment, bilingual, on free-tier infrastructure.</a:t>
            </a:r>
            <a:endParaRPr lang="en-US" sz="1150" dirty="0"/>
          </a:p>
        </p:txBody>
      </p:sp>
      <p:sp>
        <p:nvSpPr>
          <p:cNvPr id="8" name="conc-1"/>
          <p:cNvSpPr/>
          <p:nvPr/>
        </p:nvSpPr>
        <p:spPr>
          <a:xfrm>
            <a:off x="4334256" y="4892040"/>
            <a:ext cx="3584448" cy="1325880"/>
          </a:xfrm>
          <a:prstGeom prst="roundRect">
            <a:avLst>
              <a:gd name="adj" fmla="val 4828"/>
            </a:avLst>
          </a:prstGeom>
          <a:solidFill>
            <a:srgbClr val="17406E"/>
          </a:solidFill>
          <a:ln w="12700">
            <a:solidFill>
              <a:srgbClr val="2A5A8F"/>
            </a:solidFill>
            <a:prstDash val="solid"/>
          </a:ln>
        </p:spPr>
      </p:sp>
      <p:sp>
        <p:nvSpPr>
          <p:cNvPr id="9" name="Text 7"/>
          <p:cNvSpPr txBox="1"/>
          <p:nvPr/>
        </p:nvSpPr>
        <p:spPr>
          <a:xfrm>
            <a:off x="4590288" y="5029200"/>
            <a:ext cx="3072384" cy="292608"/>
          </a:xfrm>
          <a:prstGeom prst="rect">
            <a:avLst/>
          </a:prstGeom>
          <a:noFill/>
          <a:ln/>
        </p:spPr>
        <p:txBody>
          <a:bodyPr wrap="square" lIns="0" tIns="0" rIns="0" bIns="0" rtlCol="0" anchor="ctr"/>
          <a:lstStyle/>
          <a:p>
            <a:pPr indent="0" marL="0">
              <a:buNone/>
            </a:pPr>
            <a:r>
              <a:rPr lang="en-US" sz="1300" b="1" dirty="0">
                <a:solidFill>
                  <a:srgbClr val="C77C1E"/>
                </a:solidFill>
              </a:rPr>
              <a:t>Contributed</a:t>
            </a:r>
            <a:endParaRPr lang="en-US" sz="1300" dirty="0"/>
          </a:p>
        </p:txBody>
      </p:sp>
      <p:sp>
        <p:nvSpPr>
          <p:cNvPr id="10" name="Text 8"/>
          <p:cNvSpPr txBox="1"/>
          <p:nvPr/>
        </p:nvSpPr>
        <p:spPr>
          <a:xfrm>
            <a:off x="4590288" y="5340096"/>
            <a:ext cx="3072384" cy="777240"/>
          </a:xfrm>
          <a:prstGeom prst="rect">
            <a:avLst/>
          </a:prstGeom>
          <a:noFill/>
          <a:ln/>
        </p:spPr>
        <p:txBody>
          <a:bodyPr wrap="square" lIns="0" tIns="0" rIns="0" bIns="0" rtlCol="0" anchor="ctr"/>
          <a:lstStyle/>
          <a:p>
            <a:pPr indent="0" marL="0">
              <a:lnSpc>
                <a:spcPts val="1500"/>
              </a:lnSpc>
              <a:buNone/>
            </a:pPr>
            <a:r>
              <a:rPr lang="en-US" sz="1150" dirty="0">
                <a:solidFill>
                  <a:srgbClr val="D5E2F0"/>
                </a:solidFill>
              </a:rPr>
              <a:t>A documented treatment of reliable entitlement granting over an unreliable settlement rail, and of serving protected content from constrained infrastructure.</a:t>
            </a:r>
            <a:endParaRPr lang="en-US" sz="1150" dirty="0"/>
          </a:p>
        </p:txBody>
      </p:sp>
      <p:sp>
        <p:nvSpPr>
          <p:cNvPr id="11" name="conc-2"/>
          <p:cNvSpPr/>
          <p:nvPr/>
        </p:nvSpPr>
        <p:spPr>
          <a:xfrm>
            <a:off x="8101584" y="4892040"/>
            <a:ext cx="3584448" cy="1325880"/>
          </a:xfrm>
          <a:prstGeom prst="roundRect">
            <a:avLst>
              <a:gd name="adj" fmla="val 4828"/>
            </a:avLst>
          </a:prstGeom>
          <a:solidFill>
            <a:srgbClr val="17406E"/>
          </a:solidFill>
          <a:ln w="12700">
            <a:solidFill>
              <a:srgbClr val="2A5A8F"/>
            </a:solidFill>
            <a:prstDash val="solid"/>
          </a:ln>
        </p:spPr>
      </p:sp>
      <p:sp>
        <p:nvSpPr>
          <p:cNvPr id="12" name="Text 10"/>
          <p:cNvSpPr txBox="1"/>
          <p:nvPr/>
        </p:nvSpPr>
        <p:spPr>
          <a:xfrm>
            <a:off x="8357616" y="5029200"/>
            <a:ext cx="3072384" cy="292608"/>
          </a:xfrm>
          <a:prstGeom prst="rect">
            <a:avLst/>
          </a:prstGeom>
          <a:noFill/>
          <a:ln/>
        </p:spPr>
        <p:txBody>
          <a:bodyPr wrap="square" lIns="0" tIns="0" rIns="0" bIns="0" rtlCol="0" anchor="ctr"/>
          <a:lstStyle/>
          <a:p>
            <a:pPr indent="0" marL="0">
              <a:buNone/>
            </a:pPr>
            <a:r>
              <a:rPr lang="en-US" sz="1300" b="1" dirty="0">
                <a:solidFill>
                  <a:srgbClr val="C77C1E"/>
                </a:solidFill>
              </a:rPr>
              <a:t>Learned</a:t>
            </a:r>
            <a:endParaRPr lang="en-US" sz="1300" dirty="0"/>
          </a:p>
        </p:txBody>
      </p:sp>
      <p:sp>
        <p:nvSpPr>
          <p:cNvPr id="13" name="Text 11"/>
          <p:cNvSpPr txBox="1"/>
          <p:nvPr/>
        </p:nvSpPr>
        <p:spPr>
          <a:xfrm>
            <a:off x="8357616" y="5340096"/>
            <a:ext cx="3072384" cy="777240"/>
          </a:xfrm>
          <a:prstGeom prst="rect">
            <a:avLst/>
          </a:prstGeom>
          <a:noFill/>
          <a:ln/>
        </p:spPr>
        <p:txBody>
          <a:bodyPr wrap="square" lIns="0" tIns="0" rIns="0" bIns="0" rtlCol="0" anchor="ctr"/>
          <a:lstStyle/>
          <a:p>
            <a:pPr indent="0" marL="0">
              <a:lnSpc>
                <a:spcPts val="1500"/>
              </a:lnSpc>
              <a:buNone/>
            </a:pPr>
            <a:r>
              <a:rPr lang="en-US" sz="1150" dirty="0">
                <a:solidFill>
                  <a:srgbClr val="D5E2F0"/>
                </a:solidFill>
              </a:rPr>
              <a:t>Every defect that reached a visible state was in an area with no mechanical check. That is the argument for the test suite I did not write.</a:t>
            </a:r>
            <a:endParaRPr lang="en-US" sz="1150" dirty="0"/>
          </a:p>
        </p:txBody>
      </p:sp>
      <p:sp>
        <p:nvSpPr>
          <p:cNvPr id="15" name="Text 0"/>
          <p:cNvSpPr/>
          <p:nvPr>
            <p:ph idx="103" type="body" hasCustomPrompt="1"/>
          </p:nvPr>
        </p:nvSpPr>
        <p:spPr>
          <a:xfrm>
            <a:off x="566928" y="5029200"/>
            <a:ext cx="11027664" cy="1097280"/>
          </a:xfrm>
          <a:prstGeom prst="rect">
            <a:avLst/>
          </a:prstGeom>
          <a:noFill/>
          <a:ln/>
        </p:spPr>
        <p:txBody>
          <a:bodyPr wrap="square" rtlCol="0"/>
          <a:lstStyle/>
          <a:p>
            <a:pPr indent="0" marL="0">
              <a:buNone/>
            </a:pP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66928" y="1874520"/>
            <a:ext cx="11027664" cy="365760"/>
          </a:xfrm>
          <a:prstGeom prst="rect">
            <a:avLst/>
          </a:prstGeom>
          <a:noFill/>
          <a:ln/>
        </p:spPr>
        <p:txBody>
          <a:bodyPr wrap="square" rtlCol="0"/>
          <a:lstStyle/>
          <a:p>
            <a:pPr indent="0" marL="0">
              <a:buNone/>
            </a:pPr>
            <a:r>
              <a:rPr lang="en-US" sz="1300" b="1" spc="300" kern="0" dirty="0">
                <a:solidFill>
                  <a:srgbClr val="C77C1E"/>
                </a:solidFill>
              </a:rPr>
              <a:t>Thank you</a:t>
            </a:r>
            <a:endParaRPr lang="en-US" sz="1300" dirty="0"/>
          </a:p>
        </p:txBody>
      </p:sp>
      <p:sp>
        <p:nvSpPr>
          <p:cNvPr id="3" name="Text 0"/>
          <p:cNvSpPr/>
          <p:nvPr>
            <p:ph idx="101" type="body" hasCustomPrompt="1"/>
          </p:nvPr>
        </p:nvSpPr>
        <p:spPr>
          <a:xfrm>
            <a:off x="566928" y="2286000"/>
            <a:ext cx="11027664" cy="1188720"/>
          </a:xfrm>
          <a:prstGeom prst="rect">
            <a:avLst/>
          </a:prstGeom>
          <a:noFill/>
          <a:ln/>
        </p:spPr>
        <p:txBody>
          <a:bodyPr wrap="square" rtlCol="0"/>
          <a:lstStyle/>
          <a:p>
            <a:pPr indent="0" marL="0">
              <a:buNone/>
            </a:pPr>
            <a:r>
              <a:rPr lang="en-US" sz="4800" b="1" dirty="0">
                <a:solidFill>
                  <a:srgbClr val="FFFFFF"/>
                </a:solidFill>
              </a:rPr>
              <a:t>Questions</a:t>
            </a:r>
            <a:endParaRPr lang="en-US" sz="4800" dirty="0"/>
          </a:p>
        </p:txBody>
      </p:sp>
      <p:sp>
        <p:nvSpPr>
          <p:cNvPr id="4" name="Text 0"/>
          <p:cNvSpPr/>
          <p:nvPr>
            <p:ph idx="102" type="body" hasCustomPrompt="1"/>
          </p:nvPr>
        </p:nvSpPr>
        <p:spPr>
          <a:xfrm>
            <a:off x="566928" y="3520440"/>
            <a:ext cx="9509760" cy="914400"/>
          </a:xfrm>
          <a:prstGeom prst="rect">
            <a:avLst/>
          </a:prstGeom>
          <a:noFill/>
          <a:ln/>
        </p:spPr>
        <p:txBody>
          <a:bodyPr wrap="square" rtlCol="0"/>
          <a:lstStyle/>
          <a:p>
            <a:pPr indent="0" marL="0">
              <a:buNone/>
            </a:pPr>
            <a:r>
              <a:rPr lang="en-US" sz="1900" i="1" dirty="0">
                <a:solidFill>
                  <a:srgbClr val="C2D4E8"/>
                </a:solidFill>
              </a:rPr>
              <a:t>studyhubwebapp.vercel.app  ·  github.com/Tazanu/studyhubwebapp</a:t>
            </a:r>
            <a:endParaRPr lang="en-US" sz="1900" dirty="0"/>
          </a:p>
        </p:txBody>
      </p:sp>
      <p:sp>
        <p:nvSpPr>
          <p:cNvPr id="5" name="Text 0"/>
          <p:cNvSpPr/>
          <p:nvPr>
            <p:ph idx="103" type="body" hasCustomPrompt="1"/>
          </p:nvPr>
        </p:nvSpPr>
        <p:spPr>
          <a:xfrm>
            <a:off x="566928" y="5029200"/>
            <a:ext cx="11027664" cy="1097280"/>
          </a:xfrm>
          <a:prstGeom prst="rect">
            <a:avLst/>
          </a:prstGeom>
          <a:noFill/>
          <a:ln/>
        </p:spPr>
        <p:txBody>
          <a:bodyPr wrap="square" rtlCol="0"/>
          <a:lstStyle/>
          <a:p>
            <a:pPr indent="0" marL="0">
              <a:buNone/>
            </a:pPr>
            <a:r>
              <a:rPr lang="en-US" sz="1300" dirty="0">
                <a:solidFill>
                  <a:srgbClr val="A8BDD6"/>
                </a:solidFill>
              </a:rPr>
              <a:t>Backup slides follow: anticipated questions with prepared answers.</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body" hasCustomPrompt="1"/>
          </p:nvPr>
        </p:nvSpPr>
        <p:spPr>
          <a:xfrm>
            <a:off x="566928" y="2377440"/>
            <a:ext cx="1828800" cy="822960"/>
          </a:xfrm>
          <a:prstGeom prst="rect">
            <a:avLst/>
          </a:prstGeom>
          <a:noFill/>
          <a:ln/>
        </p:spPr>
        <p:txBody>
          <a:bodyPr wrap="square" rtlCol="0"/>
          <a:lstStyle/>
          <a:p>
            <a:pPr indent="0" marL="0">
              <a:buNone/>
            </a:pPr>
            <a:r>
              <a:rPr lang="en-US" sz="5800" b="1" dirty="0">
                <a:solidFill>
                  <a:srgbClr val="C77C1E"/>
                </a:solidFill>
              </a:rPr>
              <a:t>—</a:t>
            </a:r>
            <a:endParaRPr lang="en-US" sz="5800" dirty="0"/>
          </a:p>
        </p:txBody>
      </p:sp>
      <p:sp>
        <p:nvSpPr>
          <p:cNvPr id="3" name="Text 0"/>
          <p:cNvSpPr/>
          <p:nvPr>
            <p:ph idx="101" type="body" hasCustomPrompt="1"/>
          </p:nvPr>
        </p:nvSpPr>
        <p:spPr>
          <a:xfrm>
            <a:off x="566928" y="3200400"/>
            <a:ext cx="11027664" cy="868680"/>
          </a:xfrm>
          <a:prstGeom prst="rect">
            <a:avLst/>
          </a:prstGeom>
          <a:noFill/>
          <a:ln/>
        </p:spPr>
        <p:txBody>
          <a:bodyPr wrap="square" rtlCol="0"/>
          <a:lstStyle/>
          <a:p>
            <a:pPr indent="0" marL="0">
              <a:buNone/>
            </a:pPr>
            <a:r>
              <a:rPr lang="en-US" sz="3800" b="1" dirty="0">
                <a:solidFill>
                  <a:srgbClr val="FFFFFF"/>
                </a:solidFill>
              </a:rPr>
              <a:t>Backup slides</a:t>
            </a:r>
            <a:endParaRPr lang="en-US" sz="3800" dirty="0"/>
          </a:p>
        </p:txBody>
      </p:sp>
      <p:sp>
        <p:nvSpPr>
          <p:cNvPr id="4" name="Text 0"/>
          <p:cNvSpPr/>
          <p:nvPr>
            <p:ph idx="102" type="body" hasCustomPrompt="1"/>
          </p:nvPr>
        </p:nvSpPr>
        <p:spPr>
          <a:xfrm>
            <a:off x="566928" y="4069080"/>
            <a:ext cx="8686800" cy="731520"/>
          </a:xfrm>
          <a:prstGeom prst="rect">
            <a:avLst/>
          </a:prstGeom>
          <a:noFill/>
          <a:ln/>
        </p:spPr>
        <p:txBody>
          <a:bodyPr wrap="square" rtlCol="0"/>
          <a:lstStyle/>
          <a:p>
            <a:pPr indent="0" marL="0">
              <a:buNone/>
            </a:pPr>
            <a:r>
              <a:rPr lang="en-US" sz="1500" dirty="0">
                <a:solidFill>
                  <a:srgbClr val="B9CCE4"/>
                </a:solidFill>
              </a:rPr>
              <a:t>Anticipated questions, with the evidence for each answer</a:t>
            </a:r>
            <a:endParaRPr lang="en-US" sz="15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body" hasCustomPrompt="1"/>
          </p:nvPr>
        </p:nvSpPr>
        <p:spPr>
          <a:xfrm>
            <a:off x="566928" y="384048"/>
            <a:ext cx="11027664" cy="713232"/>
          </a:xfrm>
          <a:prstGeom prst="rect">
            <a:avLst/>
          </a:prstGeom>
          <a:noFill/>
          <a:ln/>
        </p:spPr>
        <p:txBody>
          <a:bodyPr wrap="square" rtlCol="0"/>
          <a:lstStyle/>
          <a:p>
            <a:pPr indent="0" marL="0">
              <a:buNone/>
            </a:pPr>
            <a:r>
              <a:rPr lang="en-US" sz="3200" b="1" dirty="0">
                <a:solidFill>
                  <a:srgbClr val="0F3057"/>
                </a:solidFill>
              </a:rPr>
              <a:t>Anticipated questions — scope and alternatives</a:t>
            </a:r>
            <a:endParaRPr lang="en-US" sz="3200" dirty="0"/>
          </a:p>
        </p:txBody>
      </p:sp>
      <p:sp>
        <p:nvSpPr>
          <p:cNvPr id="3" name="qa-0"/>
          <p:cNvSpPr/>
          <p:nvPr/>
        </p:nvSpPr>
        <p:spPr>
          <a:xfrm>
            <a:off x="566928" y="1188720"/>
            <a:ext cx="11027664" cy="1417320"/>
          </a:xfrm>
          <a:prstGeom prst="roundRect">
            <a:avLst>
              <a:gd name="adj" fmla="val 4516"/>
            </a:avLst>
          </a:prstGeom>
          <a:solidFill>
            <a:srgbClr val="F2F6FA"/>
          </a:solidFill>
          <a:ln w="12700">
            <a:solidFill>
              <a:srgbClr val="DCE5EF"/>
            </a:solidFill>
            <a:prstDash val="solid"/>
          </a:ln>
        </p:spPr>
      </p:sp>
      <p:sp>
        <p:nvSpPr>
          <p:cNvPr id="4" name="Text 2"/>
          <p:cNvSpPr txBox="1"/>
          <p:nvPr/>
        </p:nvSpPr>
        <p:spPr>
          <a:xfrm>
            <a:off x="822960" y="1353312"/>
            <a:ext cx="310896" cy="310896"/>
          </a:xfrm>
          <a:prstGeom prst="rect">
            <a:avLst/>
          </a:prstGeom>
          <a:solidFill>
            <a:srgbClr val="C77C1E"/>
          </a:solidFill>
          <a:ln/>
        </p:spPr>
        <p:txBody>
          <a:bodyPr wrap="square" lIns="0" tIns="0" rIns="0" bIns="0" rtlCol="0" anchor="ctr"/>
          <a:lstStyle/>
          <a:p>
            <a:pPr algn="ctr" indent="0" marL="0">
              <a:buNone/>
            </a:pPr>
            <a:r>
              <a:rPr lang="en-US" sz="1300" b="1" dirty="0">
                <a:solidFill>
                  <a:srgbClr val="FFFFFF"/>
                </a:solidFill>
              </a:rPr>
              <a:t>Q</a:t>
            </a:r>
            <a:endParaRPr lang="en-US" sz="1300" dirty="0"/>
          </a:p>
        </p:txBody>
      </p:sp>
      <p:sp>
        <p:nvSpPr>
          <p:cNvPr id="5" name="Text 3"/>
          <p:cNvSpPr txBox="1"/>
          <p:nvPr/>
        </p:nvSpPr>
        <p:spPr>
          <a:xfrm>
            <a:off x="1252728" y="1335024"/>
            <a:ext cx="10021824" cy="347472"/>
          </a:xfrm>
          <a:prstGeom prst="rect">
            <a:avLst/>
          </a:prstGeom>
          <a:noFill/>
          <a:ln/>
        </p:spPr>
        <p:txBody>
          <a:bodyPr wrap="square" lIns="0" tIns="0" rIns="0" bIns="0" rtlCol="0" anchor="ctr"/>
          <a:lstStyle/>
          <a:p>
            <a:pPr indent="0" marL="0">
              <a:buNone/>
            </a:pPr>
            <a:r>
              <a:rPr lang="en-US" sz="1450" b="1" dirty="0">
                <a:solidFill>
                  <a:schemeClr val="tx2"/>
                </a:solidFill>
              </a:rPr>
              <a:t>Why not simply use an existing platform?</a:t>
            </a:r>
            <a:endParaRPr lang="en-US" sz="1450" dirty="0"/>
          </a:p>
        </p:txBody>
      </p:sp>
      <p:sp>
        <p:nvSpPr>
          <p:cNvPr id="6" name="Text 4"/>
          <p:cNvSpPr txBox="1"/>
          <p:nvPr/>
        </p:nvSpPr>
        <p:spPr>
          <a:xfrm>
            <a:off x="1252728" y="1737360"/>
            <a:ext cx="10021824" cy="731520"/>
          </a:xfrm>
          <a:prstGeom prst="rect">
            <a:avLst/>
          </a:prstGeom>
          <a:noFill/>
          <a:ln/>
        </p:spPr>
        <p:txBody>
          <a:bodyPr wrap="square" lIns="0" tIns="0" rIns="0" bIns="0" rtlCol="0" anchor="ctr"/>
          <a:lstStyle/>
          <a:p>
            <a:pPr indent="0" marL="0">
              <a:lnSpc>
                <a:spcPts val="1700"/>
              </a:lnSpc>
              <a:buNone/>
            </a:pPr>
            <a:r>
              <a:rPr lang="en-US" sz="1250" dirty="0">
                <a:solidFill>
                  <a:schemeClr val="tx1"/>
                </a:solidFill>
              </a:rPr>
              <a:t>Payment settles it before anything else. Course Hero, Studocu, Preply and Wyzant all price in foreign currency and settle by card, which excludes the target population outright. Beyond that: learning management systems carry no peer-to-peer channel, and Stack Exchange excludes coursework questions by topicality rule and holds nothing specific to a Cameroonian curriculum.</a:t>
            </a:r>
            <a:endParaRPr lang="en-US" sz="1250" dirty="0"/>
          </a:p>
        </p:txBody>
      </p:sp>
      <p:sp>
        <p:nvSpPr>
          <p:cNvPr id="7" name="qa-1"/>
          <p:cNvSpPr/>
          <p:nvPr/>
        </p:nvSpPr>
        <p:spPr>
          <a:xfrm>
            <a:off x="566928" y="2752344"/>
            <a:ext cx="11027664" cy="1417320"/>
          </a:xfrm>
          <a:prstGeom prst="roundRect">
            <a:avLst>
              <a:gd name="adj" fmla="val 4516"/>
            </a:avLst>
          </a:prstGeom>
          <a:solidFill>
            <a:srgbClr val="FFFFFF"/>
          </a:solidFill>
          <a:ln w="12700">
            <a:solidFill>
              <a:srgbClr val="DCE5EF"/>
            </a:solidFill>
            <a:prstDash val="solid"/>
          </a:ln>
        </p:spPr>
      </p:sp>
      <p:sp>
        <p:nvSpPr>
          <p:cNvPr id="8" name="Text 6"/>
          <p:cNvSpPr txBox="1"/>
          <p:nvPr/>
        </p:nvSpPr>
        <p:spPr>
          <a:xfrm>
            <a:off x="822960" y="2916936"/>
            <a:ext cx="310896" cy="310896"/>
          </a:xfrm>
          <a:prstGeom prst="rect">
            <a:avLst/>
          </a:prstGeom>
          <a:solidFill>
            <a:srgbClr val="C77C1E"/>
          </a:solidFill>
          <a:ln/>
        </p:spPr>
        <p:txBody>
          <a:bodyPr wrap="square" lIns="0" tIns="0" rIns="0" bIns="0" rtlCol="0" anchor="ctr"/>
          <a:lstStyle/>
          <a:p>
            <a:pPr algn="ctr" indent="0" marL="0">
              <a:buNone/>
            </a:pPr>
            <a:r>
              <a:rPr lang="en-US" sz="1300" b="1" dirty="0">
                <a:solidFill>
                  <a:srgbClr val="FFFFFF"/>
                </a:solidFill>
              </a:rPr>
              <a:t>Q</a:t>
            </a:r>
            <a:endParaRPr lang="en-US" sz="1300" dirty="0"/>
          </a:p>
        </p:txBody>
      </p:sp>
      <p:sp>
        <p:nvSpPr>
          <p:cNvPr id="9" name="Text 7"/>
          <p:cNvSpPr txBox="1"/>
          <p:nvPr/>
        </p:nvSpPr>
        <p:spPr>
          <a:xfrm>
            <a:off x="1252728" y="2898648"/>
            <a:ext cx="10021824" cy="347472"/>
          </a:xfrm>
          <a:prstGeom prst="rect">
            <a:avLst/>
          </a:prstGeom>
          <a:noFill/>
          <a:ln/>
        </p:spPr>
        <p:txBody>
          <a:bodyPr wrap="square" lIns="0" tIns="0" rIns="0" bIns="0" rtlCol="0" anchor="ctr"/>
          <a:lstStyle/>
          <a:p>
            <a:pPr indent="0" marL="0">
              <a:buNone/>
            </a:pPr>
            <a:r>
              <a:rPr lang="en-US" sz="1450" b="1" dirty="0">
                <a:solidFill>
                  <a:schemeClr val="tx2"/>
                </a:solidFill>
              </a:rPr>
              <a:t>Is WhatsApp really the competitor?</a:t>
            </a:r>
            <a:endParaRPr lang="en-US" sz="1450" dirty="0"/>
          </a:p>
        </p:txBody>
      </p:sp>
      <p:sp>
        <p:nvSpPr>
          <p:cNvPr id="10" name="Text 8"/>
          <p:cNvSpPr txBox="1"/>
          <p:nvPr/>
        </p:nvSpPr>
        <p:spPr>
          <a:xfrm>
            <a:off x="1252728" y="3300984"/>
            <a:ext cx="10021824" cy="731520"/>
          </a:xfrm>
          <a:prstGeom prst="rect">
            <a:avLst/>
          </a:prstGeom>
          <a:noFill/>
          <a:ln/>
        </p:spPr>
        <p:txBody>
          <a:bodyPr wrap="square" lIns="0" tIns="0" rIns="0" bIns="0" rtlCol="0" anchor="ctr"/>
          <a:lstStyle/>
          <a:p>
            <a:pPr indent="0" marL="0">
              <a:lnSpc>
                <a:spcPts val="1700"/>
              </a:lnSpc>
              <a:buNone/>
            </a:pPr>
            <a:r>
              <a:rPr lang="en-US" sz="1250" dirty="0">
                <a:solidFill>
                  <a:schemeClr val="tx1"/>
                </a:solidFill>
              </a:rPr>
              <a:t>Yes, and it is a strong one — free, universally installed, zero onboarding. It is the baseline adoption must beat, and acknowledging that drove three decisions: the app is installable, it tolerates a failed connection, and chat is genuinely real-time. A slower-than-WhatsApp chat would not be adopted regardless of the other features.</a:t>
            </a:r>
            <a:endParaRPr lang="en-US" sz="1250" dirty="0"/>
          </a:p>
        </p:txBody>
      </p:sp>
      <p:sp>
        <p:nvSpPr>
          <p:cNvPr id="11" name="qa-2"/>
          <p:cNvSpPr/>
          <p:nvPr/>
        </p:nvSpPr>
        <p:spPr>
          <a:xfrm>
            <a:off x="566928" y="4315968"/>
            <a:ext cx="11027664" cy="1417320"/>
          </a:xfrm>
          <a:prstGeom prst="roundRect">
            <a:avLst>
              <a:gd name="adj" fmla="val 4516"/>
            </a:avLst>
          </a:prstGeom>
          <a:solidFill>
            <a:srgbClr val="F2F6FA"/>
          </a:solidFill>
          <a:ln w="12700">
            <a:solidFill>
              <a:srgbClr val="DCE5EF"/>
            </a:solidFill>
            <a:prstDash val="solid"/>
          </a:ln>
        </p:spPr>
      </p:sp>
      <p:sp>
        <p:nvSpPr>
          <p:cNvPr id="12" name="Text 10"/>
          <p:cNvSpPr txBox="1"/>
          <p:nvPr/>
        </p:nvSpPr>
        <p:spPr>
          <a:xfrm>
            <a:off x="822960" y="4480560"/>
            <a:ext cx="310896" cy="310896"/>
          </a:xfrm>
          <a:prstGeom prst="rect">
            <a:avLst/>
          </a:prstGeom>
          <a:solidFill>
            <a:srgbClr val="C77C1E"/>
          </a:solidFill>
          <a:ln/>
        </p:spPr>
        <p:txBody>
          <a:bodyPr wrap="square" lIns="0" tIns="0" rIns="0" bIns="0" rtlCol="0" anchor="ctr"/>
          <a:lstStyle/>
          <a:p>
            <a:pPr algn="ctr" indent="0" marL="0">
              <a:buNone/>
            </a:pPr>
            <a:r>
              <a:rPr lang="en-US" sz="1300" b="1" dirty="0">
                <a:solidFill>
                  <a:srgbClr val="FFFFFF"/>
                </a:solidFill>
              </a:rPr>
              <a:t>Q</a:t>
            </a:r>
            <a:endParaRPr lang="en-US" sz="1300" dirty="0"/>
          </a:p>
        </p:txBody>
      </p:sp>
      <p:sp>
        <p:nvSpPr>
          <p:cNvPr id="13" name="Text 11"/>
          <p:cNvSpPr txBox="1"/>
          <p:nvPr/>
        </p:nvSpPr>
        <p:spPr>
          <a:xfrm>
            <a:off x="1252728" y="4462272"/>
            <a:ext cx="10021824" cy="347472"/>
          </a:xfrm>
          <a:prstGeom prst="rect">
            <a:avLst/>
          </a:prstGeom>
          <a:noFill/>
          <a:ln/>
        </p:spPr>
        <p:txBody>
          <a:bodyPr wrap="square" lIns="0" tIns="0" rIns="0" bIns="0" rtlCol="0" anchor="ctr"/>
          <a:lstStyle/>
          <a:p>
            <a:pPr indent="0" marL="0">
              <a:buNone/>
            </a:pPr>
            <a:r>
              <a:rPr lang="en-US" sz="1450" b="1" dirty="0">
                <a:solidFill>
                  <a:schemeClr val="tx2"/>
                </a:solidFill>
              </a:rPr>
              <a:t>What is actually novel here?</a:t>
            </a:r>
            <a:endParaRPr lang="en-US" sz="1450" dirty="0"/>
          </a:p>
        </p:txBody>
      </p:sp>
      <p:sp>
        <p:nvSpPr>
          <p:cNvPr id="14" name="Text 12"/>
          <p:cNvSpPr txBox="1"/>
          <p:nvPr/>
        </p:nvSpPr>
        <p:spPr>
          <a:xfrm>
            <a:off x="1252728" y="4864608"/>
            <a:ext cx="10021824" cy="731520"/>
          </a:xfrm>
          <a:prstGeom prst="rect">
            <a:avLst/>
          </a:prstGeom>
          <a:noFill/>
          <a:ln/>
        </p:spPr>
        <p:txBody>
          <a:bodyPr wrap="square" lIns="0" tIns="0" rIns="0" bIns="0" rtlCol="0" anchor="ctr"/>
          <a:lstStyle/>
          <a:p>
            <a:pPr indent="0" marL="0">
              <a:lnSpc>
                <a:spcPts val="1700"/>
              </a:lnSpc>
              <a:buNone/>
            </a:pPr>
            <a:r>
              <a:rPr lang="en-US" sz="1250" dirty="0">
                <a:solidFill>
                  <a:schemeClr val="tx1"/>
                </a:solidFill>
              </a:rPr>
              <a:t>Not the mechanisms. Reputation with accepted answers comes from Stack Exchange; profile-schedule-book-pay comes from the tutoring marketplaces. Both are reused deliberately because they are proven. The contribution is their integration under constraints none of those systems operate under — mobile money settlement and an intermittent connection.</a:t>
            </a:r>
            <a:endParaRPr lang="en-US" sz="1250" dirty="0"/>
          </a:p>
        </p:txBody>
      </p:sp>
      <p:sp>
        <p:nvSpPr>
          <p:cNvPr id="25" name="Slide Number Placeholder 0"/>
          <p:cNvSpPr>
            <a:spLocks noGrp="1"/>
          </p:cNvSpPr>
          <p:nvPr>
            <p:ph type="sldNum" sz="quarter" idx="4294967295"/>
          </p:nvPr>
        </p:nvSpPr>
        <p:spPr>
          <a:xfrm>
            <a:off x="11430000" y="6327648"/>
            <a:ext cx="45720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64748B"/>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body" hasCustomPrompt="1"/>
          </p:nvPr>
        </p:nvSpPr>
        <p:spPr>
          <a:xfrm>
            <a:off x="566928" y="384048"/>
            <a:ext cx="11027664" cy="713232"/>
          </a:xfrm>
          <a:prstGeom prst="rect">
            <a:avLst/>
          </a:prstGeom>
          <a:noFill/>
          <a:ln/>
        </p:spPr>
        <p:txBody>
          <a:bodyPr wrap="square" rtlCol="0"/>
          <a:lstStyle/>
          <a:p>
            <a:pPr indent="0" marL="0">
              <a:buNone/>
            </a:pPr>
            <a:r>
              <a:rPr lang="en-US" sz="3200" b="1" dirty="0">
                <a:solidFill>
                  <a:srgbClr val="0F3057"/>
                </a:solidFill>
              </a:rPr>
              <a:t>Anticipated questions — payment and security</a:t>
            </a:r>
            <a:endParaRPr lang="en-US" sz="3200" dirty="0"/>
          </a:p>
        </p:txBody>
      </p:sp>
      <p:sp>
        <p:nvSpPr>
          <p:cNvPr id="3" name="qa-0"/>
          <p:cNvSpPr/>
          <p:nvPr/>
        </p:nvSpPr>
        <p:spPr>
          <a:xfrm>
            <a:off x="566928" y="1188720"/>
            <a:ext cx="11027664" cy="1417320"/>
          </a:xfrm>
          <a:prstGeom prst="roundRect">
            <a:avLst>
              <a:gd name="adj" fmla="val 4516"/>
            </a:avLst>
          </a:prstGeom>
          <a:solidFill>
            <a:srgbClr val="F2F6FA"/>
          </a:solidFill>
          <a:ln w="12700">
            <a:solidFill>
              <a:srgbClr val="DCE5EF"/>
            </a:solidFill>
            <a:prstDash val="solid"/>
          </a:ln>
        </p:spPr>
      </p:sp>
      <p:sp>
        <p:nvSpPr>
          <p:cNvPr id="4" name="Text 2"/>
          <p:cNvSpPr txBox="1"/>
          <p:nvPr/>
        </p:nvSpPr>
        <p:spPr>
          <a:xfrm>
            <a:off x="822960" y="1353312"/>
            <a:ext cx="310896" cy="310896"/>
          </a:xfrm>
          <a:prstGeom prst="rect">
            <a:avLst/>
          </a:prstGeom>
          <a:solidFill>
            <a:srgbClr val="C77C1E"/>
          </a:solidFill>
          <a:ln/>
        </p:spPr>
        <p:txBody>
          <a:bodyPr wrap="square" lIns="0" tIns="0" rIns="0" bIns="0" rtlCol="0" anchor="ctr"/>
          <a:lstStyle/>
          <a:p>
            <a:pPr algn="ctr" indent="0" marL="0">
              <a:buNone/>
            </a:pPr>
            <a:r>
              <a:rPr lang="en-US" sz="1300" b="1" dirty="0">
                <a:solidFill>
                  <a:srgbClr val="FFFFFF"/>
                </a:solidFill>
              </a:rPr>
              <a:t>Q</a:t>
            </a:r>
            <a:endParaRPr lang="en-US" sz="1300" dirty="0"/>
          </a:p>
        </p:txBody>
      </p:sp>
      <p:sp>
        <p:nvSpPr>
          <p:cNvPr id="5" name="Text 3"/>
          <p:cNvSpPr txBox="1"/>
          <p:nvPr/>
        </p:nvSpPr>
        <p:spPr>
          <a:xfrm>
            <a:off x="1252728" y="1335024"/>
            <a:ext cx="10021824" cy="347472"/>
          </a:xfrm>
          <a:prstGeom prst="rect">
            <a:avLst/>
          </a:prstGeom>
          <a:noFill/>
          <a:ln/>
        </p:spPr>
        <p:txBody>
          <a:bodyPr wrap="square" lIns="0" tIns="0" rIns="0" bIns="0" rtlCol="0" anchor="ctr"/>
          <a:lstStyle/>
          <a:p>
            <a:pPr indent="0" marL="0">
              <a:buNone/>
            </a:pPr>
            <a:r>
              <a:rPr lang="en-US" sz="1450" b="1" dirty="0">
                <a:solidFill>
                  <a:schemeClr val="tx2"/>
                </a:solidFill>
              </a:rPr>
              <a:t>How do you know a user cannot alter the price?</a:t>
            </a:r>
            <a:endParaRPr lang="en-US" sz="1450" dirty="0"/>
          </a:p>
        </p:txBody>
      </p:sp>
      <p:sp>
        <p:nvSpPr>
          <p:cNvPr id="6" name="Text 4"/>
          <p:cNvSpPr txBox="1"/>
          <p:nvPr/>
        </p:nvSpPr>
        <p:spPr>
          <a:xfrm>
            <a:off x="1252728" y="1737360"/>
            <a:ext cx="10021824" cy="731520"/>
          </a:xfrm>
          <a:prstGeom prst="rect">
            <a:avLst/>
          </a:prstGeom>
          <a:noFill/>
          <a:ln/>
        </p:spPr>
        <p:txBody>
          <a:bodyPr wrap="square" lIns="0" tIns="0" rIns="0" bIns="0" rtlCol="0" anchor="ctr"/>
          <a:lstStyle/>
          <a:p>
            <a:pPr indent="0" marL="0">
              <a:lnSpc>
                <a:spcPts val="1700"/>
              </a:lnSpc>
              <a:buNone/>
            </a:pPr>
            <a:r>
              <a:rPr lang="en-US" sz="1250" dirty="0">
                <a:solidFill>
                  <a:schemeClr val="tx1"/>
                </a:solidFill>
              </a:rPr>
              <a:t>The client never transmits an amount. When a transaction is created the server reads the price from the database and uses that. A modified request changes nothing, because the field it would modify is not consulted. Test T-12 exercises exactly this.</a:t>
            </a:r>
            <a:endParaRPr lang="en-US" sz="1250" dirty="0"/>
          </a:p>
        </p:txBody>
      </p:sp>
      <p:sp>
        <p:nvSpPr>
          <p:cNvPr id="7" name="qa-1"/>
          <p:cNvSpPr/>
          <p:nvPr/>
        </p:nvSpPr>
        <p:spPr>
          <a:xfrm>
            <a:off x="566928" y="2752344"/>
            <a:ext cx="11027664" cy="1417320"/>
          </a:xfrm>
          <a:prstGeom prst="roundRect">
            <a:avLst>
              <a:gd name="adj" fmla="val 4516"/>
            </a:avLst>
          </a:prstGeom>
          <a:solidFill>
            <a:srgbClr val="FFFFFF"/>
          </a:solidFill>
          <a:ln w="12700">
            <a:solidFill>
              <a:srgbClr val="DCE5EF"/>
            </a:solidFill>
            <a:prstDash val="solid"/>
          </a:ln>
        </p:spPr>
      </p:sp>
      <p:sp>
        <p:nvSpPr>
          <p:cNvPr id="8" name="Text 6"/>
          <p:cNvSpPr txBox="1"/>
          <p:nvPr/>
        </p:nvSpPr>
        <p:spPr>
          <a:xfrm>
            <a:off x="822960" y="2916936"/>
            <a:ext cx="310896" cy="310896"/>
          </a:xfrm>
          <a:prstGeom prst="rect">
            <a:avLst/>
          </a:prstGeom>
          <a:solidFill>
            <a:srgbClr val="C77C1E"/>
          </a:solidFill>
          <a:ln/>
        </p:spPr>
        <p:txBody>
          <a:bodyPr wrap="square" lIns="0" tIns="0" rIns="0" bIns="0" rtlCol="0" anchor="ctr"/>
          <a:lstStyle/>
          <a:p>
            <a:pPr algn="ctr" indent="0" marL="0">
              <a:buNone/>
            </a:pPr>
            <a:r>
              <a:rPr lang="en-US" sz="1300" b="1" dirty="0">
                <a:solidFill>
                  <a:srgbClr val="FFFFFF"/>
                </a:solidFill>
              </a:rPr>
              <a:t>Q</a:t>
            </a:r>
            <a:endParaRPr lang="en-US" sz="1300" dirty="0"/>
          </a:p>
        </p:txBody>
      </p:sp>
      <p:sp>
        <p:nvSpPr>
          <p:cNvPr id="9" name="Text 7"/>
          <p:cNvSpPr txBox="1"/>
          <p:nvPr/>
        </p:nvSpPr>
        <p:spPr>
          <a:xfrm>
            <a:off x="1252728" y="2898648"/>
            <a:ext cx="10021824" cy="347472"/>
          </a:xfrm>
          <a:prstGeom prst="rect">
            <a:avLst/>
          </a:prstGeom>
          <a:noFill/>
          <a:ln/>
        </p:spPr>
        <p:txBody>
          <a:bodyPr wrap="square" lIns="0" tIns="0" rIns="0" bIns="0" rtlCol="0" anchor="ctr"/>
          <a:lstStyle/>
          <a:p>
            <a:pPr indent="0" marL="0">
              <a:buNone/>
            </a:pPr>
            <a:r>
              <a:rPr lang="en-US" sz="1450" b="1" dirty="0">
                <a:solidFill>
                  <a:schemeClr val="tx2"/>
                </a:solidFill>
              </a:rPr>
              <a:t>What if the same payment is confirmed twice?</a:t>
            </a:r>
            <a:endParaRPr lang="en-US" sz="1450" dirty="0"/>
          </a:p>
        </p:txBody>
      </p:sp>
      <p:sp>
        <p:nvSpPr>
          <p:cNvPr id="10" name="Text 8"/>
          <p:cNvSpPr txBox="1"/>
          <p:nvPr/>
        </p:nvSpPr>
        <p:spPr>
          <a:xfrm>
            <a:off x="1252728" y="3300984"/>
            <a:ext cx="10021824" cy="731520"/>
          </a:xfrm>
          <a:prstGeom prst="rect">
            <a:avLst/>
          </a:prstGeom>
          <a:noFill/>
          <a:ln/>
        </p:spPr>
        <p:txBody>
          <a:bodyPr wrap="square" lIns="0" tIns="0" rIns="0" bIns="0" rtlCol="0" anchor="ctr"/>
          <a:lstStyle/>
          <a:p>
            <a:pPr indent="0" marL="0">
              <a:lnSpc>
                <a:spcPts val="1700"/>
              </a:lnSpc>
              <a:buNone/>
            </a:pPr>
            <a:r>
              <a:rPr lang="en-US" sz="1250" dirty="0">
                <a:solidFill>
                  <a:schemeClr val="tx1"/>
                </a:solidFill>
              </a:rPr>
              <a:t>Granting is idempotent. The browser poll and the background reconciler may both observe success, so the grant is performed through a conditional status update — exactly one caller wins the race and the other observes that the grant has already happened. There is no path that grants twice.</a:t>
            </a:r>
            <a:endParaRPr lang="en-US" sz="1250" dirty="0"/>
          </a:p>
        </p:txBody>
      </p:sp>
      <p:sp>
        <p:nvSpPr>
          <p:cNvPr id="11" name="qa-2"/>
          <p:cNvSpPr/>
          <p:nvPr/>
        </p:nvSpPr>
        <p:spPr>
          <a:xfrm>
            <a:off x="566928" y="4315968"/>
            <a:ext cx="11027664" cy="1417320"/>
          </a:xfrm>
          <a:prstGeom prst="roundRect">
            <a:avLst>
              <a:gd name="adj" fmla="val 4516"/>
            </a:avLst>
          </a:prstGeom>
          <a:solidFill>
            <a:srgbClr val="F2F6FA"/>
          </a:solidFill>
          <a:ln w="12700">
            <a:solidFill>
              <a:srgbClr val="DCE5EF"/>
            </a:solidFill>
            <a:prstDash val="solid"/>
          </a:ln>
        </p:spPr>
      </p:sp>
      <p:sp>
        <p:nvSpPr>
          <p:cNvPr id="12" name="Text 10"/>
          <p:cNvSpPr txBox="1"/>
          <p:nvPr/>
        </p:nvSpPr>
        <p:spPr>
          <a:xfrm>
            <a:off x="822960" y="4480560"/>
            <a:ext cx="310896" cy="310896"/>
          </a:xfrm>
          <a:prstGeom prst="rect">
            <a:avLst/>
          </a:prstGeom>
          <a:solidFill>
            <a:srgbClr val="C77C1E"/>
          </a:solidFill>
          <a:ln/>
        </p:spPr>
        <p:txBody>
          <a:bodyPr wrap="square" lIns="0" tIns="0" rIns="0" bIns="0" rtlCol="0" anchor="ctr"/>
          <a:lstStyle/>
          <a:p>
            <a:pPr algn="ctr" indent="0" marL="0">
              <a:buNone/>
            </a:pPr>
            <a:r>
              <a:rPr lang="en-US" sz="1300" b="1" dirty="0">
                <a:solidFill>
                  <a:srgbClr val="FFFFFF"/>
                </a:solidFill>
              </a:rPr>
              <a:t>Q</a:t>
            </a:r>
            <a:endParaRPr lang="en-US" sz="1300" dirty="0"/>
          </a:p>
        </p:txBody>
      </p:sp>
      <p:sp>
        <p:nvSpPr>
          <p:cNvPr id="13" name="Text 11"/>
          <p:cNvSpPr txBox="1"/>
          <p:nvPr/>
        </p:nvSpPr>
        <p:spPr>
          <a:xfrm>
            <a:off x="1252728" y="4462272"/>
            <a:ext cx="10021824" cy="347472"/>
          </a:xfrm>
          <a:prstGeom prst="rect">
            <a:avLst/>
          </a:prstGeom>
          <a:noFill/>
          <a:ln/>
        </p:spPr>
        <p:txBody>
          <a:bodyPr wrap="square" lIns="0" tIns="0" rIns="0" bIns="0" rtlCol="0" anchor="ctr"/>
          <a:lstStyle/>
          <a:p>
            <a:pPr indent="0" marL="0">
              <a:buNone/>
            </a:pPr>
            <a:r>
              <a:rPr lang="en-US" sz="1450" b="1" dirty="0">
                <a:solidFill>
                  <a:schemeClr val="tx2"/>
                </a:solidFill>
              </a:rPr>
              <a:t>What stops a buyer sharing a paid note?</a:t>
            </a:r>
            <a:endParaRPr lang="en-US" sz="1450" dirty="0"/>
          </a:p>
        </p:txBody>
      </p:sp>
      <p:sp>
        <p:nvSpPr>
          <p:cNvPr id="14" name="Text 12"/>
          <p:cNvSpPr txBox="1"/>
          <p:nvPr/>
        </p:nvSpPr>
        <p:spPr>
          <a:xfrm>
            <a:off x="1252728" y="4864608"/>
            <a:ext cx="10021824" cy="731520"/>
          </a:xfrm>
          <a:prstGeom prst="rect">
            <a:avLst/>
          </a:prstGeom>
          <a:noFill/>
          <a:ln/>
        </p:spPr>
        <p:txBody>
          <a:bodyPr wrap="square" lIns="0" tIns="0" rIns="0" bIns="0" rtlCol="0" anchor="ctr"/>
          <a:lstStyle/>
          <a:p>
            <a:pPr indent="0" marL="0">
              <a:lnSpc>
                <a:spcPts val="1700"/>
              </a:lnSpc>
              <a:buNone/>
            </a:pPr>
            <a:r>
              <a:rPr lang="en-US" sz="1250" dirty="0">
                <a:solidFill>
                  <a:schemeClr val="tx1"/>
                </a:solidFill>
              </a:rPr>
              <a:t>Nothing stops a determined buyer redistributing a file they legitimately bought — that is true of any digital good. What is prevented is access without purchase: the file is stored under authenticated delivery, unreachable from a plain URL, and the signed URL is issued per request after an entitlement check and expires shortly after.</a:t>
            </a:r>
            <a:endParaRPr lang="en-US" sz="1250" dirty="0"/>
          </a:p>
        </p:txBody>
      </p:sp>
      <p:sp>
        <p:nvSpPr>
          <p:cNvPr id="25" name="Slide Number Placeholder 0"/>
          <p:cNvSpPr>
            <a:spLocks noGrp="1"/>
          </p:cNvSpPr>
          <p:nvPr>
            <p:ph type="sldNum" sz="quarter" idx="4294967295"/>
          </p:nvPr>
        </p:nvSpPr>
        <p:spPr>
          <a:xfrm>
            <a:off x="11430000" y="6327648"/>
            <a:ext cx="45720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64748B"/>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66928" y="384048"/>
            <a:ext cx="11027664" cy="713232"/>
          </a:xfrm>
          <a:prstGeom prst="rect">
            <a:avLst/>
          </a:prstGeom>
          <a:noFill/>
          <a:ln/>
        </p:spPr>
        <p:txBody>
          <a:bodyPr wrap="square" rtlCol="0"/>
          <a:lstStyle/>
          <a:p>
            <a:pPr indent="0" marL="0">
              <a:buNone/>
            </a:pPr>
            <a:r>
              <a:rPr lang="en-US" sz="3200" b="1" dirty="0">
                <a:solidFill>
                  <a:srgbClr val="0F3057"/>
                </a:solidFill>
              </a:rPr>
              <a:t>Anticipated questions — engineering and scale</a:t>
            </a:r>
            <a:endParaRPr lang="en-US" sz="3200" dirty="0"/>
          </a:p>
        </p:txBody>
      </p:sp>
      <p:sp>
        <p:nvSpPr>
          <p:cNvPr id="3" name="qa-0"/>
          <p:cNvSpPr/>
          <p:nvPr/>
        </p:nvSpPr>
        <p:spPr>
          <a:xfrm>
            <a:off x="566928" y="1188720"/>
            <a:ext cx="11027664" cy="1417320"/>
          </a:xfrm>
          <a:prstGeom prst="roundRect">
            <a:avLst>
              <a:gd name="adj" fmla="val 4516"/>
            </a:avLst>
          </a:prstGeom>
          <a:solidFill>
            <a:srgbClr val="F2F6FA"/>
          </a:solidFill>
          <a:ln w="12700">
            <a:solidFill>
              <a:srgbClr val="DCE5EF"/>
            </a:solidFill>
            <a:prstDash val="solid"/>
          </a:ln>
        </p:spPr>
      </p:sp>
      <p:sp>
        <p:nvSpPr>
          <p:cNvPr id="4" name="Text 2"/>
          <p:cNvSpPr txBox="1"/>
          <p:nvPr/>
        </p:nvSpPr>
        <p:spPr>
          <a:xfrm>
            <a:off x="822960" y="1353312"/>
            <a:ext cx="310896" cy="310896"/>
          </a:xfrm>
          <a:prstGeom prst="rect">
            <a:avLst/>
          </a:prstGeom>
          <a:solidFill>
            <a:srgbClr val="C77C1E"/>
          </a:solidFill>
          <a:ln/>
        </p:spPr>
        <p:txBody>
          <a:bodyPr wrap="square" lIns="0" tIns="0" rIns="0" bIns="0" rtlCol="0" anchor="ctr"/>
          <a:lstStyle/>
          <a:p>
            <a:pPr algn="ctr" indent="0" marL="0">
              <a:buNone/>
            </a:pPr>
            <a:r>
              <a:rPr lang="en-US" sz="1300" b="1" dirty="0">
                <a:solidFill>
                  <a:srgbClr val="FFFFFF"/>
                </a:solidFill>
              </a:rPr>
              <a:t>Q</a:t>
            </a:r>
            <a:endParaRPr lang="en-US" sz="1300" dirty="0"/>
          </a:p>
        </p:txBody>
      </p:sp>
      <p:sp>
        <p:nvSpPr>
          <p:cNvPr id="5" name="Text 3"/>
          <p:cNvSpPr txBox="1"/>
          <p:nvPr/>
        </p:nvSpPr>
        <p:spPr>
          <a:xfrm>
            <a:off x="1252728" y="1335024"/>
            <a:ext cx="10021824" cy="347472"/>
          </a:xfrm>
          <a:prstGeom prst="rect">
            <a:avLst/>
          </a:prstGeom>
          <a:noFill/>
          <a:ln/>
        </p:spPr>
        <p:txBody>
          <a:bodyPr wrap="square" lIns="0" tIns="0" rIns="0" bIns="0" rtlCol="0" anchor="ctr"/>
          <a:lstStyle/>
          <a:p>
            <a:pPr indent="0" marL="0">
              <a:buNone/>
            </a:pPr>
            <a:r>
              <a:rPr lang="en-US" sz="1450" b="1" dirty="0">
                <a:solidFill>
                  <a:schemeClr val="tx2"/>
                </a:solidFill>
              </a:rPr>
              <a:t>Why no automated tests?</a:t>
            </a:r>
            <a:endParaRPr lang="en-US" sz="1450" dirty="0"/>
          </a:p>
        </p:txBody>
      </p:sp>
      <p:sp>
        <p:nvSpPr>
          <p:cNvPr id="6" name="Text 4"/>
          <p:cNvSpPr txBox="1"/>
          <p:nvPr/>
        </p:nvSpPr>
        <p:spPr>
          <a:xfrm>
            <a:off x="1252728" y="1737360"/>
            <a:ext cx="10021824" cy="731520"/>
          </a:xfrm>
          <a:prstGeom prst="rect">
            <a:avLst/>
          </a:prstGeom>
          <a:noFill/>
          <a:ln/>
        </p:spPr>
        <p:txBody>
          <a:bodyPr wrap="square" lIns="0" tIns="0" rIns="0" bIns="0" rtlCol="0" anchor="ctr"/>
          <a:lstStyle/>
          <a:p>
            <a:pPr indent="0" marL="0">
              <a:lnSpc>
                <a:spcPts val="1700"/>
              </a:lnSpc>
              <a:buNone/>
            </a:pPr>
            <a:r>
              <a:rPr lang="en-US" sz="1250" dirty="0">
                <a:solidFill>
                  <a:schemeClr val="tx1"/>
                </a:solidFill>
              </a:rPr>
              <a:t>Time was spent on breadth of functionality instead, and that was the wrong trade. I will not defend it — the defect record shows every fault that reached a visible state was in an area with no mechanical check, which is exactly the argument against the decision I made. It is my first recommendation for further work, ordered by risk: entitlement granting first.</a:t>
            </a:r>
            <a:endParaRPr lang="en-US" sz="1250" dirty="0"/>
          </a:p>
        </p:txBody>
      </p:sp>
      <p:sp>
        <p:nvSpPr>
          <p:cNvPr id="7" name="qa-1"/>
          <p:cNvSpPr/>
          <p:nvPr/>
        </p:nvSpPr>
        <p:spPr>
          <a:xfrm>
            <a:off x="566928" y="2752344"/>
            <a:ext cx="11027664" cy="1417320"/>
          </a:xfrm>
          <a:prstGeom prst="roundRect">
            <a:avLst>
              <a:gd name="adj" fmla="val 4516"/>
            </a:avLst>
          </a:prstGeom>
          <a:solidFill>
            <a:srgbClr val="FFFFFF"/>
          </a:solidFill>
          <a:ln w="12700">
            <a:solidFill>
              <a:srgbClr val="DCE5EF"/>
            </a:solidFill>
            <a:prstDash val="solid"/>
          </a:ln>
        </p:spPr>
      </p:sp>
      <p:sp>
        <p:nvSpPr>
          <p:cNvPr id="8" name="Text 6"/>
          <p:cNvSpPr txBox="1"/>
          <p:nvPr/>
        </p:nvSpPr>
        <p:spPr>
          <a:xfrm>
            <a:off x="822960" y="2916936"/>
            <a:ext cx="310896" cy="310896"/>
          </a:xfrm>
          <a:prstGeom prst="rect">
            <a:avLst/>
          </a:prstGeom>
          <a:solidFill>
            <a:srgbClr val="C77C1E"/>
          </a:solidFill>
          <a:ln/>
        </p:spPr>
        <p:txBody>
          <a:bodyPr wrap="square" lIns="0" tIns="0" rIns="0" bIns="0" rtlCol="0" anchor="ctr"/>
          <a:lstStyle/>
          <a:p>
            <a:pPr algn="ctr" indent="0" marL="0">
              <a:buNone/>
            </a:pPr>
            <a:r>
              <a:rPr lang="en-US" sz="1300" b="1" dirty="0">
                <a:solidFill>
                  <a:srgbClr val="FFFFFF"/>
                </a:solidFill>
              </a:rPr>
              <a:t>Q</a:t>
            </a:r>
            <a:endParaRPr lang="en-US" sz="1300" dirty="0"/>
          </a:p>
        </p:txBody>
      </p:sp>
      <p:sp>
        <p:nvSpPr>
          <p:cNvPr id="9" name="Text 7"/>
          <p:cNvSpPr txBox="1"/>
          <p:nvPr/>
        </p:nvSpPr>
        <p:spPr>
          <a:xfrm>
            <a:off x="1252728" y="2898648"/>
            <a:ext cx="10021824" cy="347472"/>
          </a:xfrm>
          <a:prstGeom prst="rect">
            <a:avLst/>
          </a:prstGeom>
          <a:noFill/>
          <a:ln/>
        </p:spPr>
        <p:txBody>
          <a:bodyPr wrap="square" lIns="0" tIns="0" rIns="0" bIns="0" rtlCol="0" anchor="ctr"/>
          <a:lstStyle/>
          <a:p>
            <a:pPr indent="0" marL="0">
              <a:buNone/>
            </a:pPr>
            <a:r>
              <a:rPr lang="en-US" sz="1450" b="1" dirty="0">
                <a:solidFill>
                  <a:schemeClr val="tx2"/>
                </a:solidFill>
              </a:rPr>
              <a:t>How would this scale?</a:t>
            </a:r>
            <a:endParaRPr lang="en-US" sz="1450" dirty="0"/>
          </a:p>
        </p:txBody>
      </p:sp>
      <p:sp>
        <p:nvSpPr>
          <p:cNvPr id="10" name="Text 8"/>
          <p:cNvSpPr txBox="1"/>
          <p:nvPr/>
        </p:nvSpPr>
        <p:spPr>
          <a:xfrm>
            <a:off x="1252728" y="3300984"/>
            <a:ext cx="10021824" cy="731520"/>
          </a:xfrm>
          <a:prstGeom prst="rect">
            <a:avLst/>
          </a:prstGeom>
          <a:noFill/>
          <a:ln/>
        </p:spPr>
        <p:txBody>
          <a:bodyPr wrap="square" lIns="0" tIns="0" rIns="0" bIns="0" rtlCol="0" anchor="ctr"/>
          <a:lstStyle/>
          <a:p>
            <a:pPr indent="0" marL="0">
              <a:lnSpc>
                <a:spcPts val="1700"/>
              </a:lnSpc>
              <a:buNone/>
            </a:pPr>
            <a:r>
              <a:rPr lang="en-US" sz="1250" dirty="0">
                <a:solidFill>
                  <a:schemeClr val="tx1"/>
                </a:solidFill>
              </a:rPr>
              <a:t>Architecturally the API is stateless, so it scales horizontally; the database is the first constraint and connection pooling is already in place for it. But I want to be careful: that is an architectural argument, not a measurement. The system has not been load tested, so I am not claiming a concurrent capacity figure.</a:t>
            </a:r>
            <a:endParaRPr lang="en-US" sz="1250" dirty="0"/>
          </a:p>
        </p:txBody>
      </p:sp>
      <p:sp>
        <p:nvSpPr>
          <p:cNvPr id="11" name="qa-2"/>
          <p:cNvSpPr/>
          <p:nvPr/>
        </p:nvSpPr>
        <p:spPr>
          <a:xfrm>
            <a:off x="566928" y="4315968"/>
            <a:ext cx="11027664" cy="1417320"/>
          </a:xfrm>
          <a:prstGeom prst="roundRect">
            <a:avLst>
              <a:gd name="adj" fmla="val 4516"/>
            </a:avLst>
          </a:prstGeom>
          <a:solidFill>
            <a:srgbClr val="F2F6FA"/>
          </a:solidFill>
          <a:ln w="12700">
            <a:solidFill>
              <a:srgbClr val="DCE5EF"/>
            </a:solidFill>
            <a:prstDash val="solid"/>
          </a:ln>
        </p:spPr>
      </p:sp>
      <p:sp>
        <p:nvSpPr>
          <p:cNvPr id="12" name="Text 10"/>
          <p:cNvSpPr txBox="1"/>
          <p:nvPr/>
        </p:nvSpPr>
        <p:spPr>
          <a:xfrm>
            <a:off x="822960" y="4480560"/>
            <a:ext cx="310896" cy="310896"/>
          </a:xfrm>
          <a:prstGeom prst="rect">
            <a:avLst/>
          </a:prstGeom>
          <a:solidFill>
            <a:srgbClr val="C77C1E"/>
          </a:solidFill>
          <a:ln/>
        </p:spPr>
        <p:txBody>
          <a:bodyPr wrap="square" lIns="0" tIns="0" rIns="0" bIns="0" rtlCol="0" anchor="ctr"/>
          <a:lstStyle/>
          <a:p>
            <a:pPr algn="ctr" indent="0" marL="0">
              <a:buNone/>
            </a:pPr>
            <a:r>
              <a:rPr lang="en-US" sz="1300" b="1" dirty="0">
                <a:solidFill>
                  <a:srgbClr val="FFFFFF"/>
                </a:solidFill>
              </a:rPr>
              <a:t>Q</a:t>
            </a:r>
            <a:endParaRPr lang="en-US" sz="1300" dirty="0"/>
          </a:p>
        </p:txBody>
      </p:sp>
      <p:sp>
        <p:nvSpPr>
          <p:cNvPr id="13" name="Text 11"/>
          <p:cNvSpPr txBox="1"/>
          <p:nvPr/>
        </p:nvSpPr>
        <p:spPr>
          <a:xfrm>
            <a:off x="1252728" y="4462272"/>
            <a:ext cx="10021824" cy="347472"/>
          </a:xfrm>
          <a:prstGeom prst="rect">
            <a:avLst/>
          </a:prstGeom>
          <a:noFill/>
          <a:ln/>
        </p:spPr>
        <p:txBody>
          <a:bodyPr wrap="square" lIns="0" tIns="0" rIns="0" bIns="0" rtlCol="0" anchor="ctr"/>
          <a:lstStyle/>
          <a:p>
            <a:pPr indent="0" marL="0">
              <a:buNone/>
            </a:pPr>
            <a:r>
              <a:rPr lang="en-US" sz="1450" b="1" dirty="0">
                <a:solidFill>
                  <a:schemeClr val="tx2"/>
                </a:solidFill>
              </a:rPr>
              <a:t>Why two hosting platforms rather than one?</a:t>
            </a:r>
            <a:endParaRPr lang="en-US" sz="1450" dirty="0"/>
          </a:p>
        </p:txBody>
      </p:sp>
      <p:sp>
        <p:nvSpPr>
          <p:cNvPr id="14" name="Text 12"/>
          <p:cNvSpPr txBox="1"/>
          <p:nvPr/>
        </p:nvSpPr>
        <p:spPr>
          <a:xfrm>
            <a:off x="1252728" y="4864608"/>
            <a:ext cx="10021824" cy="731520"/>
          </a:xfrm>
          <a:prstGeom prst="rect">
            <a:avLst/>
          </a:prstGeom>
          <a:noFill/>
          <a:ln/>
        </p:spPr>
        <p:txBody>
          <a:bodyPr wrap="square" lIns="0" tIns="0" rIns="0" bIns="0" rtlCol="0" anchor="ctr"/>
          <a:lstStyle/>
          <a:p>
            <a:pPr indent="0" marL="0">
              <a:lnSpc>
                <a:spcPts val="1700"/>
              </a:lnSpc>
              <a:buNone/>
            </a:pPr>
            <a:r>
              <a:rPr lang="en-US" sz="1250" dirty="0">
                <a:solidFill>
                  <a:schemeClr val="tx1"/>
                </a:solidFill>
              </a:rPr>
              <a:t>Different runtime profiles. Static assets want CDN distribution; the API must hold WebSocket connections and run a background timer. The cost is two origins, which makes cross-origin policy load-bearing — so I added a named-origin rejection log and a loud startup error when a production server boots with only localhost configured.</a:t>
            </a:r>
            <a:endParaRPr lang="en-US" sz="1250" dirty="0"/>
          </a:p>
        </p:txBody>
      </p:sp>
      <p:sp>
        <p:nvSpPr>
          <p:cNvPr id="25" name="Slide Number Placeholder 0"/>
          <p:cNvSpPr>
            <a:spLocks noGrp="1"/>
          </p:cNvSpPr>
          <p:nvPr>
            <p:ph type="sldNum" sz="quarter" idx="4294967295"/>
          </p:nvPr>
        </p:nvSpPr>
        <p:spPr>
          <a:xfrm>
            <a:off x="11430000" y="6327648"/>
            <a:ext cx="457200" cy="274320"/>
          </a:xfrm>
          <a:prstGeom prst="rect">
            <a:avLst/>
          </a:prstGeom>
          <a:extLst>
            <a:ext uri="{C572A759-6A51-4108-AA02-DFA0A04FC94B}">
              <ma14:wrappingTextBoxFlag xmlns:ma14="http://schemas.microsoft.com/office/mac/drawingml/2011/main" val="0"/>
            </a:ext>
          </a:extLst>
        </p:spPr>
        <p:txBody>
          <a:bodyPr/>
          <a:lstStyle>
            <a:lvl1pPr>
              <a:defRPr sz="950">
                <a:solidFill>
                  <a:srgbClr val="64748B"/>
                </a:solidFill>
              </a:defRPr>
            </a:lvl1pPr>
          </a:lstStyle>
          <a:p>
            <a:pPr algn="r"/>
            <a:fld id="{F7021451-1387-4CA6-816F-3879F97B5CBC}" type="slidenum">
              <a:rPr b="0" lang="en-US"/>
              <a:t>27</a:t>
            </a:fld>
            <a:endParaRPr lang="en-US"/>
          </a:p>
        </p:txBody>
      </p:sp>
    </p:spTree>
  </p:cSld>
  <p:clrMapOvr>
    <a:masterClrMapping/>
  </p:clrMapOvr>
</p:sld>
</file>

<file path=ppt/theme/theme1.xml><?xml version="1.0" encoding="utf-8"?>
<a:theme xmlns:a="http://schemas.openxmlformats.org/drawingml/2006/main" name="StudyHub Defence">
  <a:themeElements>
    <a:clrScheme name="StudyHub Defence">
      <a:dk1>
        <a:srgbClr val="10172A"/>
      </a:dk1>
      <a:lt1>
        <a:srgbClr val="FFFFFF"/>
      </a:lt1>
      <a:dk2>
        <a:srgbClr val="0F3057"/>
      </a:dk2>
      <a:lt2>
        <a:srgbClr val="F2F6FA"/>
      </a:lt2>
      <a:accent1>
        <a:srgbClr val="1C7293"/>
      </a:accent1>
      <a:accent2>
        <a:srgbClr val="0F3057"/>
      </a:accent2>
      <a:accent3>
        <a:srgbClr val="C77C1E"/>
      </a:accent3>
      <a:accent4>
        <a:srgbClr val="2E7D62"/>
      </a:accent4>
      <a:accent5>
        <a:srgbClr val="A63A3A"/>
      </a:accent5>
      <a:accent6>
        <a:srgbClr val="64748B"/>
      </a:accent6>
      <a:hlink>
        <a:srgbClr val="1C7293"/>
      </a:hlink>
      <a:folHlink>
        <a:srgbClr val="64748B"/>
      </a:folHlink>
    </a:clrScheme>
    <a:fontScheme name="StudyHub Defen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StudyHub — Final Year Project Defence</dc:title>
  <dc:subject>A Web-Based Peer-to-Peer Collaborative Learning Platform</dc:subject>
  <dc:creator>Tazanu Stanley</dc:creator>
  <cp:lastModifiedBy>Tazanu Stanley</cp:lastModifiedBy>
  <cp:revision>1</cp:revision>
  <dcterms:created xsi:type="dcterms:W3CDTF">2026-10-10T21:47:33Z</dcterms:created>
  <dcterms:modified xsi:type="dcterms:W3CDTF">2026-10-10T21:47:33Z</dcterms:modified>
</cp:coreProperties>
</file>